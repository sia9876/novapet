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100" d="100"/>
          <a:sy n="100" d="100"/>
        </p:scale>
        <p:origin x="954"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B7F895-597C-4D99-B540-22FEDE13F1CD}" type="datetimeFigureOut">
              <a:rPr lang="ko-KR" altLang="en-US" smtClean="0"/>
              <a:t>2026-09-17</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20740A-BB2D-44CC-A436-631C7CD984C9}" type="slidenum">
              <a:rPr lang="ko-KR" altLang="en-US" smtClean="0"/>
              <a:t>‹#›</a:t>
            </a:fld>
            <a:endParaRPr lang="ko-KR" altLang="en-US"/>
          </a:p>
        </p:txBody>
      </p:sp>
    </p:spTree>
    <p:extLst>
      <p:ext uri="{BB962C8B-B14F-4D97-AF65-F5344CB8AC3E}">
        <p14:creationId xmlns:p14="http://schemas.microsoft.com/office/powerpoint/2010/main" val="151917608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[예상 날카로운 질문 대응 — 발표자용]</a:t>
            </a:r>
          </a:p>
          <a:p>
            <a:endParaRPr/>
          </a:p>
          <a:p>
            <a:r>
              <a:t>Q. Failover 도중 진행 중이던 예약 데이터가 유실되지 않나요?</a:t>
            </a:r>
          </a:p>
          <a:p>
            <a:r>
              <a:t>A. Cloud SQL HA는 Primary와 Standby 간 동기(semi-synchronous) 복제를 사용하므로, Primary에 커밋된 트랜잭션은 Standby에도 반영된 상태입니다. Failover 순간 처리 중이던 매우 짧은 시간대의 요청만 재시도가 필요할 수 있어, 애플리케이션에 재시도(retry) 로직을 두는 것이 권장됩니다.</a:t>
            </a:r>
          </a:p>
          <a:p>
            <a:endParaRPr/>
          </a:p>
          <a:p>
            <a:r>
              <a:t>Q. Failover가 자동이라면서 왜 수동으로 트리거하나요?</a:t>
            </a:r>
          </a:p>
          <a:p>
            <a:r>
              <a:t>A. 실제 장애 상황에서는 GCP가 자동으로 이상을 감지해 Failover를 수행합니다. 하지만 시연 영상은 '언제 장애가 발생했는지'를 명확히 보여줘야 하므로, 콘솔의 수동 Failover 버튼으로 동일한 메커니즘을 재현성 있게 시연합니다. 동작 원리와 소요 시간은 자동 상황과 동일합니다.</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[촬영 체크리스트]</a:t>
            </a:r>
          </a:p>
          <a:p>
            <a:r>
              <a:t>이 단계는 짧게 넘겨도 됨(HA 활성화 완료 화면만 캡처). 본 촬영은 다음 슬라이드(실제 Failover)부터 집중.</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[촬영 체크리스트]</a:t>
            </a:r>
          </a:p>
          <a:p>
            <a:r>
              <a:t>'장애 조치' 버튼 클릭 시각과 '실행 가능' 상태로 복귀한 시각을 화면 시계로 각각 캡처해 전환 소요 시간을 영상에 명시. 웹사이트 새로고침 화면도 함께 녹화해 서비스 연속성을 증명.</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[촬영 체크리스트]</a:t>
            </a:r>
          </a:p>
          <a:p>
            <a:r>
              <a:t>Failback 완료 후 반드시 데이터 조회까지 화면에 담아 '장애 조치를 두 번 거쳐도 데이터가 유실되지 않았다'는 것을 시각적으로 증명할 것.</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[촬영 체크리스트]</a:t>
            </a:r>
          </a:p>
          <a:p>
            <a:r>
              <a:t>'삭제' 버튼 클릭 시각을 기록하고, 새 인스턴스가 'RUNNING' 상태가 되기까지 걸린 시간(보통 1~3분)을 영상 자막으로 표기할 것.</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[촬영 체크리스트]</a:t>
            </a:r>
          </a:p>
          <a:p>
            <a:r>
              <a:t>Cloud Monitoring 대시보드의 CPU/인스턴스 수 그래프를 화면에 함께 띄워 부하-확장-축소의 상관관계가 한눈에 보이도록 촬영.</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[촬영 체크리스트]</a:t>
            </a:r>
          </a:p>
          <a:p>
            <a:r>
              <a:t>External LB의 '백엔드 상태' 화면(Zone별 정상/비정상 인스턴스 수 표시)을 반드시 녹화에 포함시킬 것 — 이 화면이 '한 Zone이 죽어도 서비스는 유지된다'를 가장 직관적으로 보여줌.</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[촬영 체크리스트]</a:t>
            </a:r>
          </a:p>
          <a:p>
            <a:r>
              <a:t>Cloud Armor 정책 화면의 실시간 통계(허용/차단 요청 수 그래프)를 화면 절반에, 실제 요청 결과(터미널)를 나머지 절반에 배치해 동시 촬영.</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[촬영 체크리스트]</a:t>
            </a:r>
          </a:p>
          <a:p>
            <a:r>
              <a:t>'사용 중지' 클릭과 '사용 설정' 클릭 두 버튼 위치를 명확히 보여주고, 각각의 클릭 직후 웹사이트 화면이 바뀌는 것을 이어서 촬영.</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[촬영 체크리스트]</a:t>
            </a:r>
          </a:p>
          <a:p>
            <a:r>
              <a:t>디스크 확장은 실제로 다운타임이 없다는 점을 강조하기 위해, 확장 작업 중에도 웹사이트가 계속 응답하는 화면을 나란히 녹화할 것.</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[촬영 체크리스트]</a:t>
            </a:r>
          </a:p>
          <a:p>
            <a:r>
              <a:t>Rolling Update 진행률 표시줄과 각 인스턴스의 Health 상태 아이콘 변화를 클로즈업으로 촬영해 '문제 있는 배포가 자동 격리된다'는 점을 명확히 보여줄 것.</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4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686800" y="-2286000"/>
            <a:ext cx="6400800" cy="6400800"/>
          </a:xfrm>
          <a:prstGeom prst="ellipse">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0" y="640080"/>
            <a:ext cx="2240280" cy="329184"/>
          </a:xfrm>
          <a:prstGeom prst="rect">
            <a:avLst/>
          </a:prstGeom>
          <a:solidFill>
            <a:srgbClr val="1C5C52"/>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FFFFFF"/>
                </a:solidFill>
                <a:latin typeface="Malgun Gothic"/>
              </a:rPr>
              <a:t>🐾 GCP 콘솔 실전 가이드</a:t>
            </a:r>
          </a:p>
        </p:txBody>
      </p:sp>
      <p:sp>
        <p:nvSpPr>
          <p:cNvPr id="5" name="TextBox 4"/>
          <p:cNvSpPr txBox="1"/>
          <p:nvPr/>
        </p:nvSpPr>
        <p:spPr>
          <a:xfrm>
            <a:off x="594360" y="1371600"/>
            <a:ext cx="10515600" cy="1828800"/>
          </a:xfrm>
          <a:prstGeom prst="rect">
            <a:avLst/>
          </a:prstGeom>
          <a:noFill/>
        </p:spPr>
        <p:txBody>
          <a:bodyPr wrap="square">
            <a:spAutoFit/>
          </a:bodyPr>
          <a:lstStyle/>
          <a:p>
            <a:pPr algn="l">
              <a:lnSpc>
                <a:spcPct val="115000"/>
              </a:lnSpc>
            </a:pPr>
            <a:r>
              <a:rPr sz="4000" b="1">
                <a:solidFill>
                  <a:srgbClr val="FFFFFF"/>
                </a:solidFill>
                <a:latin typeface="Malgun Gothic"/>
              </a:rPr>
              <a:t>장애 대응 시연 가이드</a:t>
            </a:r>
          </a:p>
        </p:txBody>
      </p:sp>
      <p:sp>
        <p:nvSpPr>
          <p:cNvPr id="6" name="TextBox 5"/>
          <p:cNvSpPr txBox="1"/>
          <p:nvPr/>
        </p:nvSpPr>
        <p:spPr>
          <a:xfrm>
            <a:off x="621792" y="2880360"/>
            <a:ext cx="10103358" cy="632545"/>
          </a:xfrm>
          <a:prstGeom prst="rect">
            <a:avLst/>
          </a:prstGeom>
          <a:noFill/>
        </p:spPr>
        <p:txBody>
          <a:bodyPr wrap="square">
            <a:spAutoFit/>
          </a:bodyPr>
          <a:lstStyle/>
          <a:p>
            <a:pPr algn="l">
              <a:lnSpc>
                <a:spcPct val="115000"/>
              </a:lnSpc>
            </a:pPr>
            <a:r>
              <a:rPr sz="1600" b="0" dirty="0">
                <a:solidFill>
                  <a:srgbClr val="DCF3EE"/>
                </a:solidFill>
                <a:latin typeface="Malgun Gothic"/>
              </a:rPr>
              <a:t>GCP </a:t>
            </a:r>
            <a:r>
              <a:rPr sz="1600" b="0" dirty="0" err="1">
                <a:solidFill>
                  <a:srgbClr val="DCF3EE"/>
                </a:solidFill>
                <a:latin typeface="Malgun Gothic"/>
              </a:rPr>
              <a:t>콘솔에서</a:t>
            </a:r>
            <a:r>
              <a:rPr sz="1600" b="0" dirty="0">
                <a:solidFill>
                  <a:srgbClr val="DCF3EE"/>
                </a:solidFill>
                <a:latin typeface="Malgun Gothic"/>
              </a:rPr>
              <a:t> </a:t>
            </a:r>
            <a:r>
              <a:rPr sz="1600" b="0" dirty="0" err="1">
                <a:solidFill>
                  <a:srgbClr val="DCF3EE"/>
                </a:solidFill>
                <a:latin typeface="Malgun Gothic"/>
              </a:rPr>
              <a:t>실제로</a:t>
            </a:r>
            <a:r>
              <a:rPr sz="1600" b="0" dirty="0">
                <a:solidFill>
                  <a:srgbClr val="DCF3EE"/>
                </a:solidFill>
                <a:latin typeface="Malgun Gothic"/>
              </a:rPr>
              <a:t> </a:t>
            </a:r>
            <a:r>
              <a:rPr sz="1600" b="0" dirty="0" err="1">
                <a:solidFill>
                  <a:srgbClr val="DCF3EE"/>
                </a:solidFill>
                <a:latin typeface="Malgun Gothic"/>
              </a:rPr>
              <a:t>장애를</a:t>
            </a:r>
            <a:r>
              <a:rPr sz="1600" b="0" dirty="0">
                <a:solidFill>
                  <a:srgbClr val="DCF3EE"/>
                </a:solidFill>
                <a:latin typeface="Malgun Gothic"/>
              </a:rPr>
              <a:t> </a:t>
            </a:r>
            <a:r>
              <a:rPr sz="1600" b="0" dirty="0" err="1">
                <a:solidFill>
                  <a:srgbClr val="DCF3EE"/>
                </a:solidFill>
                <a:latin typeface="Malgun Gothic"/>
              </a:rPr>
              <a:t>유발</a:t>
            </a:r>
            <a:r>
              <a:rPr sz="1600" b="0" dirty="0">
                <a:solidFill>
                  <a:srgbClr val="DCF3EE"/>
                </a:solidFill>
                <a:latin typeface="Malgun Gothic"/>
              </a:rPr>
              <a:t>(Failover)</a:t>
            </a:r>
            <a:r>
              <a:rPr sz="1600" b="0" dirty="0" err="1">
                <a:solidFill>
                  <a:srgbClr val="DCF3EE"/>
                </a:solidFill>
                <a:latin typeface="Malgun Gothic"/>
              </a:rPr>
              <a:t>하고</a:t>
            </a:r>
            <a:r>
              <a:rPr sz="1600" b="0" dirty="0">
                <a:solidFill>
                  <a:srgbClr val="DCF3EE"/>
                </a:solidFill>
                <a:latin typeface="Malgun Gothic"/>
              </a:rPr>
              <a:t> </a:t>
            </a:r>
            <a:r>
              <a:rPr sz="1600" b="0" dirty="0" err="1">
                <a:solidFill>
                  <a:srgbClr val="DCF3EE"/>
                </a:solidFill>
                <a:latin typeface="Malgun Gothic"/>
              </a:rPr>
              <a:t>정상</a:t>
            </a:r>
            <a:r>
              <a:rPr sz="1600" b="0" dirty="0">
                <a:solidFill>
                  <a:srgbClr val="DCF3EE"/>
                </a:solidFill>
                <a:latin typeface="Malgun Gothic"/>
              </a:rPr>
              <a:t> </a:t>
            </a:r>
            <a:r>
              <a:rPr sz="1600" b="0" dirty="0" err="1">
                <a:solidFill>
                  <a:srgbClr val="DCF3EE"/>
                </a:solidFill>
                <a:latin typeface="Malgun Gothic"/>
              </a:rPr>
              <a:t>상태로</a:t>
            </a:r>
            <a:r>
              <a:rPr sz="1600" b="0" dirty="0">
                <a:solidFill>
                  <a:srgbClr val="DCF3EE"/>
                </a:solidFill>
                <a:latin typeface="Malgun Gothic"/>
              </a:rPr>
              <a:t> </a:t>
            </a:r>
            <a:r>
              <a:rPr sz="1600" b="0" dirty="0" err="1">
                <a:solidFill>
                  <a:srgbClr val="DCF3EE"/>
                </a:solidFill>
                <a:latin typeface="Malgun Gothic"/>
              </a:rPr>
              <a:t>복구</a:t>
            </a:r>
            <a:r>
              <a:rPr sz="1600" b="0" dirty="0">
                <a:solidFill>
                  <a:srgbClr val="DCF3EE"/>
                </a:solidFill>
                <a:latin typeface="Malgun Gothic"/>
              </a:rPr>
              <a:t>(Failback)</a:t>
            </a:r>
            <a:r>
              <a:rPr sz="1600" b="0" dirty="0" err="1">
                <a:solidFill>
                  <a:srgbClr val="DCF3EE"/>
                </a:solidFill>
                <a:latin typeface="Malgun Gothic"/>
              </a:rPr>
              <a:t>하는</a:t>
            </a:r>
            <a:r>
              <a:rPr sz="1600" b="0" dirty="0">
                <a:solidFill>
                  <a:srgbClr val="DCF3EE"/>
                </a:solidFill>
                <a:latin typeface="Malgun Gothic"/>
              </a:rPr>
              <a:t> </a:t>
            </a:r>
            <a:r>
              <a:rPr sz="1600" b="0" dirty="0" err="1">
                <a:solidFill>
                  <a:srgbClr val="DCF3EE"/>
                </a:solidFill>
                <a:latin typeface="Malgun Gothic"/>
              </a:rPr>
              <a:t>과정을</a:t>
            </a:r>
            <a:r>
              <a:rPr sz="1600" b="0" dirty="0">
                <a:solidFill>
                  <a:srgbClr val="DCF3EE"/>
                </a:solidFill>
                <a:latin typeface="Malgun Gothic"/>
              </a:rPr>
              <a:t> </a:t>
            </a:r>
            <a:r>
              <a:rPr sz="1600" b="0" dirty="0" err="1">
                <a:solidFill>
                  <a:srgbClr val="DCF3EE"/>
                </a:solidFill>
                <a:latin typeface="Malgun Gothic"/>
              </a:rPr>
              <a:t>팀원이</a:t>
            </a:r>
            <a:r>
              <a:rPr sz="1600" b="0" dirty="0">
                <a:solidFill>
                  <a:srgbClr val="DCF3EE"/>
                </a:solidFill>
                <a:latin typeface="Malgun Gothic"/>
              </a:rPr>
              <a:t> </a:t>
            </a:r>
            <a:r>
              <a:rPr sz="1600" b="0" dirty="0" err="1">
                <a:solidFill>
                  <a:srgbClr val="DCF3EE"/>
                </a:solidFill>
                <a:latin typeface="Malgun Gothic"/>
              </a:rPr>
              <a:t>화면</a:t>
            </a:r>
            <a:r>
              <a:rPr sz="1600" b="0" dirty="0">
                <a:solidFill>
                  <a:srgbClr val="DCF3EE"/>
                </a:solidFill>
                <a:latin typeface="Malgun Gothic"/>
              </a:rPr>
              <a:t> </a:t>
            </a:r>
            <a:r>
              <a:rPr sz="1600" b="0" dirty="0" err="1">
                <a:solidFill>
                  <a:srgbClr val="DCF3EE"/>
                </a:solidFill>
                <a:latin typeface="Malgun Gothic"/>
              </a:rPr>
              <a:t>녹화로</a:t>
            </a:r>
            <a:r>
              <a:rPr sz="1600" b="0" dirty="0">
                <a:solidFill>
                  <a:srgbClr val="DCF3EE"/>
                </a:solidFill>
                <a:latin typeface="Malgun Gothic"/>
              </a:rPr>
              <a:t> </a:t>
            </a:r>
            <a:r>
              <a:rPr sz="1600" b="0" dirty="0" err="1">
                <a:solidFill>
                  <a:srgbClr val="DCF3EE"/>
                </a:solidFill>
                <a:latin typeface="Malgun Gothic"/>
              </a:rPr>
              <a:t>시연하기</a:t>
            </a:r>
            <a:r>
              <a:rPr sz="1600" b="0" dirty="0">
                <a:solidFill>
                  <a:srgbClr val="DCF3EE"/>
                </a:solidFill>
                <a:latin typeface="Malgun Gothic"/>
              </a:rPr>
              <a:t> </a:t>
            </a:r>
            <a:r>
              <a:rPr sz="1600" b="0" dirty="0" err="1">
                <a:solidFill>
                  <a:srgbClr val="DCF3EE"/>
                </a:solidFill>
                <a:latin typeface="Malgun Gothic"/>
              </a:rPr>
              <a:t>위한</a:t>
            </a:r>
            <a:r>
              <a:rPr sz="1600" b="0" dirty="0">
                <a:solidFill>
                  <a:srgbClr val="DCF3EE"/>
                </a:solidFill>
                <a:latin typeface="Malgun Gothic"/>
              </a:rPr>
              <a:t> </a:t>
            </a:r>
            <a:r>
              <a:rPr sz="1600" b="0" dirty="0" err="1">
                <a:solidFill>
                  <a:srgbClr val="DCF3EE"/>
                </a:solidFill>
                <a:latin typeface="Malgun Gothic"/>
              </a:rPr>
              <a:t>테스트</a:t>
            </a:r>
            <a:r>
              <a:rPr sz="1600" b="0" dirty="0">
                <a:solidFill>
                  <a:srgbClr val="DCF3EE"/>
                </a:solidFill>
                <a:latin typeface="Malgun Gothic"/>
              </a:rPr>
              <a:t> </a:t>
            </a:r>
            <a:r>
              <a:rPr sz="1600" b="0" dirty="0" err="1">
                <a:solidFill>
                  <a:srgbClr val="DCF3EE"/>
                </a:solidFill>
                <a:latin typeface="Malgun Gothic"/>
              </a:rPr>
              <a:t>절차서입니다</a:t>
            </a:r>
            <a:r>
              <a:rPr sz="1600" b="0" dirty="0">
                <a:solidFill>
                  <a:srgbClr val="DCF3EE"/>
                </a:solidFill>
                <a:latin typeface="Malgun Gothic"/>
              </a:rPr>
              <a:t>. </a:t>
            </a:r>
            <a:r>
              <a:rPr sz="1600" b="0" dirty="0" err="1">
                <a:solidFill>
                  <a:srgbClr val="DCF3EE"/>
                </a:solidFill>
                <a:latin typeface="Malgun Gothic"/>
              </a:rPr>
              <a:t>모든</a:t>
            </a:r>
            <a:r>
              <a:rPr sz="1600" b="0" dirty="0">
                <a:solidFill>
                  <a:srgbClr val="DCF3EE"/>
                </a:solidFill>
                <a:latin typeface="Malgun Gothic"/>
              </a:rPr>
              <a:t> </a:t>
            </a:r>
            <a:r>
              <a:rPr sz="1600" b="0" dirty="0" err="1">
                <a:solidFill>
                  <a:srgbClr val="DCF3EE"/>
                </a:solidFill>
                <a:latin typeface="Malgun Gothic"/>
              </a:rPr>
              <a:t>시나리오는</a:t>
            </a:r>
            <a:r>
              <a:rPr sz="1600" b="0" dirty="0">
                <a:solidFill>
                  <a:srgbClr val="DCF3EE"/>
                </a:solidFill>
                <a:latin typeface="Malgun Gothic"/>
              </a:rPr>
              <a:t> </a:t>
            </a:r>
            <a:r>
              <a:rPr sz="1600" b="0" dirty="0" err="1">
                <a:solidFill>
                  <a:srgbClr val="DCF3EE"/>
                </a:solidFill>
                <a:latin typeface="Malgun Gothic"/>
              </a:rPr>
              <a:t>Failover와</a:t>
            </a:r>
            <a:r>
              <a:rPr sz="1600" b="0" dirty="0">
                <a:solidFill>
                  <a:srgbClr val="DCF3EE"/>
                </a:solidFill>
                <a:latin typeface="Malgun Gothic"/>
              </a:rPr>
              <a:t> </a:t>
            </a:r>
            <a:r>
              <a:rPr sz="1600" b="0" dirty="0" err="1">
                <a:solidFill>
                  <a:srgbClr val="DCF3EE"/>
                </a:solidFill>
                <a:latin typeface="Malgun Gothic"/>
              </a:rPr>
              <a:t>Failback을</a:t>
            </a:r>
            <a:r>
              <a:rPr sz="1600" b="0" dirty="0">
                <a:solidFill>
                  <a:srgbClr val="DCF3EE"/>
                </a:solidFill>
                <a:latin typeface="Malgun Gothic"/>
              </a:rPr>
              <a:t> 한 </a:t>
            </a:r>
            <a:r>
              <a:rPr sz="1600" b="0" dirty="0" err="1">
                <a:solidFill>
                  <a:srgbClr val="DCF3EE"/>
                </a:solidFill>
                <a:latin typeface="Malgun Gothic"/>
              </a:rPr>
              <a:t>쌍으로</a:t>
            </a:r>
            <a:r>
              <a:rPr sz="1600" b="0" dirty="0">
                <a:solidFill>
                  <a:srgbClr val="DCF3EE"/>
                </a:solidFill>
                <a:latin typeface="Malgun Gothic"/>
              </a:rPr>
              <a:t> </a:t>
            </a:r>
            <a:r>
              <a:rPr sz="1600" b="0" dirty="0" err="1">
                <a:solidFill>
                  <a:srgbClr val="DCF3EE"/>
                </a:solidFill>
                <a:latin typeface="Malgun Gothic"/>
              </a:rPr>
              <a:t>검증합니다</a:t>
            </a:r>
            <a:r>
              <a:rPr sz="1600" b="0" dirty="0">
                <a:solidFill>
                  <a:srgbClr val="DCF3EE"/>
                </a:solidFill>
                <a:latin typeface="Malgun Gothic"/>
              </a:rPr>
              <a:t>.</a:t>
            </a:r>
          </a:p>
        </p:txBody>
      </p:sp>
      <p:sp>
        <p:nvSpPr>
          <p:cNvPr id="7" name="TextBox 6"/>
          <p:cNvSpPr txBox="1"/>
          <p:nvPr/>
        </p:nvSpPr>
        <p:spPr>
          <a:xfrm>
            <a:off x="621792" y="4297680"/>
            <a:ext cx="2011680" cy="274320"/>
          </a:xfrm>
          <a:prstGeom prst="rect">
            <a:avLst/>
          </a:prstGeom>
          <a:noFill/>
        </p:spPr>
        <p:txBody>
          <a:bodyPr wrap="square">
            <a:spAutoFit/>
          </a:bodyPr>
          <a:lstStyle/>
          <a:p>
            <a:pPr algn="l">
              <a:lnSpc>
                <a:spcPct val="115000"/>
              </a:lnSpc>
            </a:pPr>
            <a:r>
              <a:rPr sz="1050" b="0">
                <a:solidFill>
                  <a:srgbClr val="BEE7DE"/>
                </a:solidFill>
                <a:latin typeface="Malgun Gothic"/>
              </a:rPr>
              <a:t>문서 목적</a:t>
            </a:r>
          </a:p>
        </p:txBody>
      </p:sp>
      <p:sp>
        <p:nvSpPr>
          <p:cNvPr id="8" name="TextBox 7"/>
          <p:cNvSpPr txBox="1"/>
          <p:nvPr/>
        </p:nvSpPr>
        <p:spPr>
          <a:xfrm>
            <a:off x="621792" y="4553712"/>
            <a:ext cx="5740908" cy="317331"/>
          </a:xfrm>
          <a:prstGeom prst="rect">
            <a:avLst/>
          </a:prstGeom>
          <a:noFill/>
        </p:spPr>
        <p:txBody>
          <a:bodyPr wrap="square">
            <a:spAutoFit/>
          </a:bodyPr>
          <a:lstStyle/>
          <a:p>
            <a:pPr algn="l">
              <a:lnSpc>
                <a:spcPct val="115000"/>
              </a:lnSpc>
            </a:pPr>
            <a:r>
              <a:rPr sz="1400" b="1" dirty="0" err="1">
                <a:solidFill>
                  <a:srgbClr val="FFFFFF"/>
                </a:solidFill>
                <a:latin typeface="Malgun Gothic"/>
              </a:rPr>
              <a:t>동물병원</a:t>
            </a:r>
            <a:r>
              <a:rPr sz="1400" b="1" dirty="0">
                <a:solidFill>
                  <a:srgbClr val="FFFFFF"/>
                </a:solidFill>
                <a:latin typeface="Malgun Gothic"/>
              </a:rPr>
              <a:t> </a:t>
            </a:r>
            <a:r>
              <a:rPr sz="1400" b="1" dirty="0" err="1">
                <a:solidFill>
                  <a:srgbClr val="FFFFFF"/>
                </a:solidFill>
                <a:latin typeface="Malgun Gothic"/>
              </a:rPr>
              <a:t>구축</a:t>
            </a:r>
            <a:r>
              <a:rPr sz="1400" b="1" dirty="0">
                <a:solidFill>
                  <a:srgbClr val="FFFFFF"/>
                </a:solidFill>
                <a:latin typeface="Malgun Gothic"/>
              </a:rPr>
              <a:t> </a:t>
            </a:r>
            <a:r>
              <a:rPr sz="1400" b="1" dirty="0" err="1">
                <a:solidFill>
                  <a:srgbClr val="FFFFFF"/>
                </a:solidFill>
                <a:latin typeface="Malgun Gothic"/>
              </a:rPr>
              <a:t>완료</a:t>
            </a:r>
            <a:r>
              <a:rPr sz="1400" b="1" dirty="0">
                <a:solidFill>
                  <a:srgbClr val="FFFFFF"/>
                </a:solidFill>
                <a:latin typeface="Malgun Gothic"/>
              </a:rPr>
              <a:t> </a:t>
            </a:r>
            <a:r>
              <a:rPr sz="1400" b="1" dirty="0" err="1">
                <a:solidFill>
                  <a:srgbClr val="FFFFFF"/>
                </a:solidFill>
                <a:latin typeface="Malgun Gothic"/>
              </a:rPr>
              <a:t>발표</a:t>
            </a:r>
            <a:r>
              <a:rPr sz="1400" b="1" dirty="0">
                <a:solidFill>
                  <a:srgbClr val="FFFFFF"/>
                </a:solidFill>
                <a:latin typeface="Malgun Gothic"/>
              </a:rPr>
              <a:t> 시 </a:t>
            </a:r>
            <a:r>
              <a:rPr sz="1400" b="1" dirty="0" err="1">
                <a:solidFill>
                  <a:srgbClr val="FFFFFF"/>
                </a:solidFill>
                <a:latin typeface="Malgun Gothic"/>
              </a:rPr>
              <a:t>장애</a:t>
            </a:r>
            <a:r>
              <a:rPr sz="1400" b="1" dirty="0">
                <a:solidFill>
                  <a:srgbClr val="FFFFFF"/>
                </a:solidFill>
                <a:latin typeface="Malgun Gothic"/>
              </a:rPr>
              <a:t> </a:t>
            </a:r>
            <a:r>
              <a:rPr sz="1400" b="1" dirty="0" err="1">
                <a:solidFill>
                  <a:srgbClr val="FFFFFF"/>
                </a:solidFill>
                <a:latin typeface="Malgun Gothic"/>
              </a:rPr>
              <a:t>대응</a:t>
            </a:r>
            <a:r>
              <a:rPr sz="1400" b="1" dirty="0">
                <a:solidFill>
                  <a:srgbClr val="FFFFFF"/>
                </a:solidFill>
                <a:latin typeface="Malgun Gothic"/>
              </a:rPr>
              <a:t> </a:t>
            </a:r>
            <a:r>
              <a:rPr sz="1400" b="1" dirty="0" err="1">
                <a:solidFill>
                  <a:srgbClr val="FFFFFF"/>
                </a:solidFill>
                <a:latin typeface="Malgun Gothic"/>
              </a:rPr>
              <a:t>역량</a:t>
            </a:r>
            <a:r>
              <a:rPr sz="1400" b="1" dirty="0">
                <a:solidFill>
                  <a:srgbClr val="FFFFFF"/>
                </a:solidFill>
                <a:latin typeface="Malgun Gothic"/>
              </a:rPr>
              <a:t> </a:t>
            </a:r>
            <a:r>
              <a:rPr sz="1400" b="1" dirty="0" err="1">
                <a:solidFill>
                  <a:srgbClr val="FFFFFF"/>
                </a:solidFill>
                <a:latin typeface="Malgun Gothic"/>
              </a:rPr>
              <a:t>시연용</a:t>
            </a:r>
            <a:r>
              <a:rPr sz="1400" b="1" dirty="0">
                <a:solidFill>
                  <a:srgbClr val="FFFFFF"/>
                </a:solidFill>
                <a:latin typeface="Malgun Gothic"/>
              </a:rPr>
              <a:t> </a:t>
            </a:r>
            <a:r>
              <a:rPr sz="1400" b="1" dirty="0" err="1">
                <a:solidFill>
                  <a:srgbClr val="FFFFFF"/>
                </a:solidFill>
                <a:latin typeface="Malgun Gothic"/>
              </a:rPr>
              <a:t>녹화</a:t>
            </a:r>
            <a:r>
              <a:rPr sz="1400" b="1" dirty="0">
                <a:solidFill>
                  <a:srgbClr val="FFFFFF"/>
                </a:solidFill>
                <a:latin typeface="Malgun Gothic"/>
              </a:rPr>
              <a:t> </a:t>
            </a:r>
            <a:r>
              <a:rPr sz="1400" b="1" dirty="0" err="1">
                <a:solidFill>
                  <a:srgbClr val="FFFFFF"/>
                </a:solidFill>
                <a:latin typeface="Malgun Gothic"/>
              </a:rPr>
              <a:t>자료</a:t>
            </a:r>
            <a:r>
              <a:rPr sz="1400" b="1" dirty="0">
                <a:solidFill>
                  <a:srgbClr val="FFFFFF"/>
                </a:solidFill>
                <a:latin typeface="Malgun Gothic"/>
              </a:rPr>
              <a:t> </a:t>
            </a:r>
            <a:r>
              <a:rPr sz="1400" b="1" dirty="0" err="1">
                <a:solidFill>
                  <a:srgbClr val="FFFFFF"/>
                </a:solidFill>
                <a:latin typeface="Malgun Gothic"/>
              </a:rPr>
              <a:t>제작</a:t>
            </a:r>
            <a:endParaRPr sz="1400" b="1" dirty="0">
              <a:solidFill>
                <a:srgbClr val="FFFFFF"/>
              </a:solidFill>
              <a:latin typeface="Malgun Gothic"/>
            </a:endParaRPr>
          </a:p>
        </p:txBody>
      </p:sp>
      <p:sp>
        <p:nvSpPr>
          <p:cNvPr id="9" name="TextBox 8"/>
          <p:cNvSpPr txBox="1"/>
          <p:nvPr/>
        </p:nvSpPr>
        <p:spPr>
          <a:xfrm>
            <a:off x="621792" y="4864608"/>
            <a:ext cx="2011680" cy="274320"/>
          </a:xfrm>
          <a:prstGeom prst="rect">
            <a:avLst/>
          </a:prstGeom>
          <a:noFill/>
        </p:spPr>
        <p:txBody>
          <a:bodyPr wrap="square">
            <a:spAutoFit/>
          </a:bodyPr>
          <a:lstStyle/>
          <a:p>
            <a:pPr algn="l">
              <a:lnSpc>
                <a:spcPct val="115000"/>
              </a:lnSpc>
            </a:pPr>
            <a:r>
              <a:rPr sz="1050" b="0">
                <a:solidFill>
                  <a:srgbClr val="BEE7DE"/>
                </a:solidFill>
                <a:latin typeface="Malgun Gothic"/>
              </a:rPr>
              <a:t>테스트 방식</a:t>
            </a:r>
          </a:p>
        </p:txBody>
      </p:sp>
      <p:sp>
        <p:nvSpPr>
          <p:cNvPr id="10" name="TextBox 9"/>
          <p:cNvSpPr txBox="1"/>
          <p:nvPr/>
        </p:nvSpPr>
        <p:spPr>
          <a:xfrm>
            <a:off x="621792" y="5120640"/>
            <a:ext cx="8065008" cy="317331"/>
          </a:xfrm>
          <a:prstGeom prst="rect">
            <a:avLst/>
          </a:prstGeom>
          <a:noFill/>
        </p:spPr>
        <p:txBody>
          <a:bodyPr wrap="square">
            <a:spAutoFit/>
          </a:bodyPr>
          <a:lstStyle/>
          <a:p>
            <a:pPr algn="l">
              <a:lnSpc>
                <a:spcPct val="115000"/>
              </a:lnSpc>
            </a:pPr>
            <a:r>
              <a:rPr sz="1400" b="1" dirty="0">
                <a:solidFill>
                  <a:srgbClr val="FFFFFF"/>
                </a:solidFill>
                <a:latin typeface="Malgun Gothic"/>
              </a:rPr>
              <a:t>GCP Web </a:t>
            </a:r>
            <a:r>
              <a:rPr sz="1400" b="1" dirty="0" err="1">
                <a:solidFill>
                  <a:srgbClr val="FFFFFF"/>
                </a:solidFill>
                <a:latin typeface="Malgun Gothic"/>
              </a:rPr>
              <a:t>Console에서</a:t>
            </a:r>
            <a:r>
              <a:rPr sz="1400" b="1" dirty="0">
                <a:solidFill>
                  <a:srgbClr val="FFFFFF"/>
                </a:solidFill>
                <a:latin typeface="Malgun Gothic"/>
              </a:rPr>
              <a:t> </a:t>
            </a:r>
            <a:r>
              <a:rPr sz="1400" b="1" dirty="0" err="1">
                <a:solidFill>
                  <a:srgbClr val="FFFFFF"/>
                </a:solidFill>
                <a:latin typeface="Malgun Gothic"/>
              </a:rPr>
              <a:t>실제</a:t>
            </a:r>
            <a:r>
              <a:rPr sz="1400" b="1" dirty="0">
                <a:solidFill>
                  <a:srgbClr val="FFFFFF"/>
                </a:solidFill>
                <a:latin typeface="Malgun Gothic"/>
              </a:rPr>
              <a:t> </a:t>
            </a:r>
            <a:r>
              <a:rPr sz="1400" b="1" dirty="0" err="1">
                <a:solidFill>
                  <a:srgbClr val="FFFFFF"/>
                </a:solidFill>
                <a:latin typeface="Malgun Gothic"/>
              </a:rPr>
              <a:t>장애</a:t>
            </a:r>
            <a:r>
              <a:rPr sz="1400" b="1" dirty="0">
                <a:solidFill>
                  <a:srgbClr val="FFFFFF"/>
                </a:solidFill>
                <a:latin typeface="Malgun Gothic"/>
              </a:rPr>
              <a:t> </a:t>
            </a:r>
            <a:r>
              <a:rPr sz="1400" b="1" dirty="0" err="1">
                <a:solidFill>
                  <a:srgbClr val="FFFFFF"/>
                </a:solidFill>
                <a:latin typeface="Malgun Gothic"/>
              </a:rPr>
              <a:t>상황</a:t>
            </a:r>
            <a:r>
              <a:rPr sz="1400" b="1" dirty="0">
                <a:solidFill>
                  <a:srgbClr val="FFFFFF"/>
                </a:solidFill>
                <a:latin typeface="Malgun Gothic"/>
              </a:rPr>
              <a:t> </a:t>
            </a:r>
            <a:r>
              <a:rPr sz="1400" b="1" dirty="0" err="1">
                <a:solidFill>
                  <a:srgbClr val="FFFFFF"/>
                </a:solidFill>
                <a:latin typeface="Malgun Gothic"/>
              </a:rPr>
              <a:t>재현</a:t>
            </a:r>
            <a:r>
              <a:rPr sz="1400" b="1" dirty="0">
                <a:solidFill>
                  <a:srgbClr val="FFFFFF"/>
                </a:solidFill>
                <a:latin typeface="Malgun Gothic"/>
              </a:rPr>
              <a:t> → </a:t>
            </a:r>
            <a:r>
              <a:rPr sz="1400" b="1" dirty="0" err="1">
                <a:solidFill>
                  <a:srgbClr val="FFFFFF"/>
                </a:solidFill>
                <a:latin typeface="Malgun Gothic"/>
              </a:rPr>
              <a:t>자동</a:t>
            </a:r>
            <a:r>
              <a:rPr sz="1400" b="1" dirty="0">
                <a:solidFill>
                  <a:srgbClr val="FFFFFF"/>
                </a:solidFill>
                <a:latin typeface="Malgun Gothic"/>
              </a:rPr>
              <a:t>/</a:t>
            </a:r>
            <a:r>
              <a:rPr sz="1400" b="1" dirty="0" err="1">
                <a:solidFill>
                  <a:srgbClr val="FFFFFF"/>
                </a:solidFill>
                <a:latin typeface="Malgun Gothic"/>
              </a:rPr>
              <a:t>수동</a:t>
            </a:r>
            <a:r>
              <a:rPr sz="1400" b="1" dirty="0">
                <a:solidFill>
                  <a:srgbClr val="FFFFFF"/>
                </a:solidFill>
                <a:latin typeface="Malgun Gothic"/>
              </a:rPr>
              <a:t> </a:t>
            </a:r>
            <a:r>
              <a:rPr sz="1400" b="1" dirty="0" err="1">
                <a:solidFill>
                  <a:srgbClr val="FFFFFF"/>
                </a:solidFill>
                <a:latin typeface="Malgun Gothic"/>
              </a:rPr>
              <a:t>복구</a:t>
            </a:r>
            <a:r>
              <a:rPr sz="1400" b="1" dirty="0">
                <a:solidFill>
                  <a:srgbClr val="FFFFFF"/>
                </a:solidFill>
                <a:latin typeface="Malgun Gothic"/>
              </a:rPr>
              <a:t> → </a:t>
            </a:r>
            <a:r>
              <a:rPr sz="1400" b="1" dirty="0" err="1">
                <a:solidFill>
                  <a:srgbClr val="FFFFFF"/>
                </a:solidFill>
                <a:latin typeface="Malgun Gothic"/>
              </a:rPr>
              <a:t>원상</a:t>
            </a:r>
            <a:r>
              <a:rPr sz="1400" b="1" dirty="0">
                <a:solidFill>
                  <a:srgbClr val="FFFFFF"/>
                </a:solidFill>
                <a:latin typeface="Malgun Gothic"/>
              </a:rPr>
              <a:t> </a:t>
            </a:r>
            <a:r>
              <a:rPr sz="1400" b="1" dirty="0" err="1">
                <a:solidFill>
                  <a:srgbClr val="FFFFFF"/>
                </a:solidFill>
                <a:latin typeface="Malgun Gothic"/>
              </a:rPr>
              <a:t>복구</a:t>
            </a:r>
            <a:r>
              <a:rPr sz="1400" b="1" dirty="0">
                <a:solidFill>
                  <a:srgbClr val="FFFFFF"/>
                </a:solidFill>
                <a:latin typeface="Malgun Gothic"/>
              </a:rPr>
              <a:t>(Failback) </a:t>
            </a:r>
            <a:r>
              <a:rPr sz="1400" b="1" dirty="0" err="1">
                <a:solidFill>
                  <a:srgbClr val="FFFFFF"/>
                </a:solidFill>
                <a:latin typeface="Malgun Gothic"/>
              </a:rPr>
              <a:t>확인</a:t>
            </a:r>
            <a:endParaRPr sz="1400" b="1" dirty="0">
              <a:solidFill>
                <a:srgbClr val="FFFFFF"/>
              </a:solidFill>
              <a:latin typeface="Malgun Gothic"/>
            </a:endParaRPr>
          </a:p>
        </p:txBody>
      </p:sp>
      <p:sp>
        <p:nvSpPr>
          <p:cNvPr id="11" name="TextBox 10"/>
          <p:cNvSpPr txBox="1"/>
          <p:nvPr/>
        </p:nvSpPr>
        <p:spPr>
          <a:xfrm>
            <a:off x="621792" y="5431536"/>
            <a:ext cx="2011680" cy="274320"/>
          </a:xfrm>
          <a:prstGeom prst="rect">
            <a:avLst/>
          </a:prstGeom>
          <a:noFill/>
        </p:spPr>
        <p:txBody>
          <a:bodyPr wrap="square">
            <a:spAutoFit/>
          </a:bodyPr>
          <a:lstStyle/>
          <a:p>
            <a:pPr algn="l">
              <a:lnSpc>
                <a:spcPct val="115000"/>
              </a:lnSpc>
            </a:pPr>
            <a:r>
              <a:rPr sz="1050" b="0">
                <a:solidFill>
                  <a:srgbClr val="BEE7DE"/>
                </a:solidFill>
                <a:latin typeface="Malgun Gothic"/>
              </a:rPr>
              <a:t>녹화 팀원</a:t>
            </a:r>
          </a:p>
        </p:txBody>
      </p:sp>
      <p:sp>
        <p:nvSpPr>
          <p:cNvPr id="12" name="TextBox 11"/>
          <p:cNvSpPr txBox="1"/>
          <p:nvPr/>
        </p:nvSpPr>
        <p:spPr>
          <a:xfrm>
            <a:off x="621792" y="5687568"/>
            <a:ext cx="4114800" cy="365760"/>
          </a:xfrm>
          <a:prstGeom prst="rect">
            <a:avLst/>
          </a:prstGeom>
          <a:noFill/>
        </p:spPr>
        <p:txBody>
          <a:bodyPr wrap="square">
            <a:spAutoFit/>
          </a:bodyPr>
          <a:lstStyle/>
          <a:p>
            <a:pPr algn="l">
              <a:lnSpc>
                <a:spcPct val="115000"/>
              </a:lnSpc>
            </a:pPr>
            <a:r>
              <a:rPr sz="1400" b="1">
                <a:solidFill>
                  <a:srgbClr val="FFFFFF"/>
                </a:solidFill>
                <a:latin typeface="Malgun Gothic"/>
              </a:rPr>
              <a:t>4인 각자 담당 시나리오를 화면 녹화 후 합본</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1170432"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촬영 가이드</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시연 영상, 이렇게 녹화하세요</a:t>
            </a:r>
          </a:p>
        </p:txBody>
      </p:sp>
      <p:sp>
        <p:nvSpPr>
          <p:cNvPr id="4" name="Rectangle 3"/>
          <p:cNvSpPr/>
          <p:nvPr/>
        </p:nvSpPr>
        <p:spPr>
          <a:xfrm>
            <a:off x="502920" y="148132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737360"/>
            <a:ext cx="5440680" cy="4114800"/>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828800"/>
            <a:ext cx="3657600" cy="274320"/>
          </a:xfrm>
          <a:prstGeom prst="rect">
            <a:avLst/>
          </a:prstGeom>
          <a:noFill/>
        </p:spPr>
        <p:txBody>
          <a:bodyPr wrap="square">
            <a:spAutoFit/>
          </a:bodyPr>
          <a:lstStyle/>
          <a:p>
            <a:pPr algn="l">
              <a:lnSpc>
                <a:spcPct val="115000"/>
              </a:lnSpc>
            </a:pPr>
            <a:r>
              <a:rPr sz="1300" b="1">
                <a:solidFill>
                  <a:srgbClr val="0A4E47"/>
                </a:solidFill>
                <a:latin typeface="Malgun Gothic"/>
              </a:rPr>
              <a:t>녹화 전 준비</a:t>
            </a:r>
          </a:p>
        </p:txBody>
      </p:sp>
      <p:sp>
        <p:nvSpPr>
          <p:cNvPr id="7" name="TextBox 6"/>
          <p:cNvSpPr txBox="1"/>
          <p:nvPr/>
        </p:nvSpPr>
        <p:spPr>
          <a:xfrm>
            <a:off x="685800" y="2194560"/>
            <a:ext cx="5029200" cy="3657600"/>
          </a:xfrm>
          <a:prstGeom prst="rect">
            <a:avLst/>
          </a:prstGeom>
          <a:noFill/>
        </p:spPr>
        <p:txBody>
          <a:bodyPr wrap="square">
            <a:spAutoFit/>
          </a:bodyPr>
          <a:lstStyle/>
          <a:p>
            <a:pPr>
              <a:lnSpc>
                <a:spcPct val="118000"/>
              </a:lnSpc>
              <a:spcAft>
                <a:spcPts val="700"/>
              </a:spcAft>
            </a:pPr>
            <a:r>
              <a:rPr sz="1230" b="0">
                <a:solidFill>
                  <a:srgbClr val="44585A"/>
                </a:solidFill>
                <a:latin typeface="Malgun Gothic"/>
              </a:rPr>
              <a:t>▸ 화면 녹화 툴 실행 + 시스템 시계(초 단위) 화면에 표시 — 장애 발생~복구까지 걸린 시간을 영상에서 그대로 보여주기 위함</a:t>
            </a:r>
          </a:p>
          <a:p>
            <a:pPr>
              <a:lnSpc>
                <a:spcPct val="118000"/>
              </a:lnSpc>
              <a:spcAft>
                <a:spcPts val="700"/>
              </a:spcAft>
            </a:pPr>
            <a:r>
              <a:rPr sz="1230" b="0">
                <a:solidFill>
                  <a:srgbClr val="44585A"/>
                </a:solidFill>
                <a:latin typeface="Malgun Gothic"/>
              </a:rPr>
              <a:t>▸ GCP 콘솔, Cloud Monitoring 대시보드, (가능하면) 실제 서비스 접속 화면 3개를 동시에 볼 수 있도록 창 배치</a:t>
            </a:r>
          </a:p>
          <a:p>
            <a:pPr>
              <a:lnSpc>
                <a:spcPct val="118000"/>
              </a:lnSpc>
              <a:spcAft>
                <a:spcPts val="700"/>
              </a:spcAft>
            </a:pPr>
            <a:r>
              <a:rPr sz="1230" b="0">
                <a:solidFill>
                  <a:srgbClr val="44585A"/>
                </a:solidFill>
                <a:latin typeface="Malgun Gothic"/>
              </a:rPr>
              <a:t>▸ 각 시나리오 시작 전 '정상 상태' 화면을 10초 이상 먼저 녹화(비교 기준점)</a:t>
            </a:r>
          </a:p>
          <a:p>
            <a:pPr>
              <a:lnSpc>
                <a:spcPct val="118000"/>
              </a:lnSpc>
              <a:spcAft>
                <a:spcPts val="700"/>
              </a:spcAft>
            </a:pPr>
            <a:r>
              <a:rPr sz="1230" b="0">
                <a:solidFill>
                  <a:srgbClr val="44585A"/>
                </a:solidFill>
                <a:latin typeface="Malgun Gothic"/>
              </a:rPr>
              <a:t>▸ 장애 유발 버튼을 누르는 순간 마우스 커서를 명확히 보이게 클릭</a:t>
            </a:r>
          </a:p>
        </p:txBody>
      </p:sp>
      <p:sp>
        <p:nvSpPr>
          <p:cNvPr id="8" name="Rectangle 7"/>
          <p:cNvSpPr/>
          <p:nvPr/>
        </p:nvSpPr>
        <p:spPr>
          <a:xfrm>
            <a:off x="6172200" y="1737360"/>
            <a:ext cx="5532120" cy="4114800"/>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55080" y="1828800"/>
            <a:ext cx="3657600" cy="274320"/>
          </a:xfrm>
          <a:prstGeom prst="rect">
            <a:avLst/>
          </a:prstGeom>
          <a:noFill/>
        </p:spPr>
        <p:txBody>
          <a:bodyPr wrap="square">
            <a:spAutoFit/>
          </a:bodyPr>
          <a:lstStyle/>
          <a:p>
            <a:pPr algn="l">
              <a:lnSpc>
                <a:spcPct val="115000"/>
              </a:lnSpc>
            </a:pPr>
            <a:r>
              <a:rPr sz="1300" b="1">
                <a:solidFill>
                  <a:srgbClr val="0A4E47"/>
                </a:solidFill>
                <a:latin typeface="Malgun Gothic"/>
              </a:rPr>
              <a:t>녹화 중 반드시 담을 것</a:t>
            </a:r>
          </a:p>
        </p:txBody>
      </p:sp>
      <p:sp>
        <p:nvSpPr>
          <p:cNvPr id="10" name="TextBox 9"/>
          <p:cNvSpPr txBox="1"/>
          <p:nvPr/>
        </p:nvSpPr>
        <p:spPr>
          <a:xfrm>
            <a:off x="6355080" y="2194560"/>
            <a:ext cx="5120640" cy="3657600"/>
          </a:xfrm>
          <a:prstGeom prst="rect">
            <a:avLst/>
          </a:prstGeom>
          <a:noFill/>
        </p:spPr>
        <p:txBody>
          <a:bodyPr wrap="square">
            <a:spAutoFit/>
          </a:bodyPr>
          <a:lstStyle/>
          <a:p>
            <a:pPr>
              <a:lnSpc>
                <a:spcPct val="118000"/>
              </a:lnSpc>
              <a:spcAft>
                <a:spcPts val="700"/>
              </a:spcAft>
            </a:pPr>
            <a:r>
              <a:rPr sz="1230" b="0">
                <a:solidFill>
                  <a:srgbClr val="44585A"/>
                </a:solidFill>
                <a:latin typeface="Malgun Gothic"/>
              </a:rPr>
              <a:t>▸ ① 정상 상태 → ② 장애 유발(Failover 트리거) → ③ 자동/수동 대응 관찰 → ④ 성공 판정 확인 → ⑤ 원상 복구(Failback) → ⑥ 복구 후 정상 상태 재확인, 6단계를 끊지 않고 한 영상에 담기</a:t>
            </a:r>
          </a:p>
          <a:p>
            <a:pPr>
              <a:lnSpc>
                <a:spcPct val="118000"/>
              </a:lnSpc>
              <a:spcAft>
                <a:spcPts val="700"/>
              </a:spcAft>
            </a:pPr>
            <a:r>
              <a:rPr sz="1230" b="0">
                <a:solidFill>
                  <a:srgbClr val="44585A"/>
                </a:solidFill>
                <a:latin typeface="Malgun Gothic"/>
              </a:rPr>
              <a:t>▸ 각 슬라이드 하단 노트(발표자 보기)에 시나리오별 촬영 체크리스트가 있으니 촬영 전 확인</a:t>
            </a:r>
          </a:p>
          <a:p>
            <a:pPr>
              <a:lnSpc>
                <a:spcPct val="118000"/>
              </a:lnSpc>
              <a:spcAft>
                <a:spcPts val="700"/>
              </a:spcAft>
            </a:pPr>
            <a:r>
              <a:rPr sz="1230" b="0">
                <a:solidFill>
                  <a:srgbClr val="44585A"/>
                </a:solidFill>
                <a:latin typeface="Malgun Gothic"/>
              </a:rPr>
              <a:t>▸ 복구 중간에 화면이 멈춰 보여도 자르지 말고 그대로 두기(실제 복구 소요 시간이 증거가 됨)</a:t>
            </a:r>
          </a:p>
        </p:txBody>
      </p:sp>
      <p:sp>
        <p:nvSpPr>
          <p:cNvPr id="11" name="TextBox 10"/>
          <p:cNvSpPr txBox="1"/>
          <p:nvPr/>
        </p:nvSpPr>
        <p:spPr>
          <a:xfrm>
            <a:off x="502920" y="6537960"/>
            <a:ext cx="9144000" cy="274320"/>
          </a:xfrm>
          <a:prstGeom prst="rect">
            <a:avLst/>
          </a:prstGeom>
          <a:noFill/>
        </p:spPr>
        <p:txBody>
          <a:bodyPr wrap="square">
            <a:spAutoFit/>
          </a:bodyPr>
          <a:lstStyle/>
          <a:p>
            <a:pPr algn="l">
              <a:lnSpc>
                <a:spcPct val="115000"/>
              </a:lnSpc>
            </a:pPr>
            <a:r>
              <a:rPr sz="900" b="0">
                <a:solidFill>
                  <a:srgbClr val="44585A"/>
                </a:solidFill>
                <a:latin typeface="Malgun Gothic"/>
              </a:rPr>
              <a:t>온누리 동물병원 GCP 구축 · 콘솔 작업 실전 가이드</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4E47"/>
        </a:solidFill>
        <a:effectLst/>
      </p:bgPr>
    </p:bg>
    <p:spTree>
      <p:nvGrpSpPr>
        <p:cNvPr id="1" name=""/>
        <p:cNvGrpSpPr/>
        <p:nvPr/>
      </p:nvGrpSpPr>
      <p:grpSpPr>
        <a:xfrm>
          <a:off x="0" y="0"/>
          <a:ext cx="0" cy="0"/>
          <a:chOff x="0" y="0"/>
          <a:chExt cx="0" cy="0"/>
        </a:xfrm>
      </p:grpSpPr>
      <p:sp>
        <p:nvSpPr>
          <p:cNvPr id="2" name="TextBox 1"/>
          <p:cNvSpPr txBox="1"/>
          <p:nvPr/>
        </p:nvSpPr>
        <p:spPr>
          <a:xfrm>
            <a:off x="731520" y="2377440"/>
            <a:ext cx="2743200" cy="1280160"/>
          </a:xfrm>
          <a:prstGeom prst="rect">
            <a:avLst/>
          </a:prstGeom>
          <a:noFill/>
        </p:spPr>
        <p:txBody>
          <a:bodyPr wrap="square">
            <a:spAutoFit/>
          </a:bodyPr>
          <a:lstStyle/>
          <a:p>
            <a:pPr algn="l">
              <a:lnSpc>
                <a:spcPct val="115000"/>
              </a:lnSpc>
            </a:pPr>
            <a:r>
              <a:rPr sz="7200" b="1">
                <a:solidFill>
                  <a:srgbClr val="3F9A88"/>
                </a:solidFill>
                <a:latin typeface="Malgun Gothic"/>
              </a:rPr>
              <a:t>A</a:t>
            </a:r>
          </a:p>
        </p:txBody>
      </p:sp>
      <p:sp>
        <p:nvSpPr>
          <p:cNvPr id="3" name="TextBox 2"/>
          <p:cNvSpPr txBox="1"/>
          <p:nvPr/>
        </p:nvSpPr>
        <p:spPr>
          <a:xfrm>
            <a:off x="777240" y="3566160"/>
            <a:ext cx="10058400" cy="914400"/>
          </a:xfrm>
          <a:prstGeom prst="rect">
            <a:avLst/>
          </a:prstGeom>
          <a:noFill/>
        </p:spPr>
        <p:txBody>
          <a:bodyPr wrap="square">
            <a:spAutoFit/>
          </a:bodyPr>
          <a:lstStyle/>
          <a:p>
            <a:pPr algn="l">
              <a:lnSpc>
                <a:spcPct val="115000"/>
              </a:lnSpc>
            </a:pPr>
            <a:r>
              <a:rPr sz="3400" b="1">
                <a:solidFill>
                  <a:srgbClr val="FFFFFF"/>
                </a:solidFill>
                <a:latin typeface="Malgun Gothic"/>
              </a:rPr>
              <a:t>핵심 시나리오: Cloud SQL Failover / Failback</a:t>
            </a:r>
          </a:p>
        </p:txBody>
      </p:sp>
      <p:sp>
        <p:nvSpPr>
          <p:cNvPr id="4" name="TextBox 3"/>
          <p:cNvSpPr txBox="1"/>
          <p:nvPr/>
        </p:nvSpPr>
        <p:spPr>
          <a:xfrm>
            <a:off x="804672" y="4343400"/>
            <a:ext cx="9601200" cy="914400"/>
          </a:xfrm>
          <a:prstGeom prst="rect">
            <a:avLst/>
          </a:prstGeom>
          <a:noFill/>
        </p:spPr>
        <p:txBody>
          <a:bodyPr wrap="square">
            <a:spAutoFit/>
          </a:bodyPr>
          <a:lstStyle/>
          <a:p>
            <a:pPr algn="l">
              <a:lnSpc>
                <a:spcPct val="115000"/>
              </a:lnSpc>
            </a:pPr>
            <a:r>
              <a:rPr sz="1500" b="0">
                <a:solidFill>
                  <a:srgbClr val="DCF3EE"/>
                </a:solidFill>
                <a:latin typeface="Malgun Gothic"/>
              </a:rPr>
              <a:t>가장 중요한 테스트입니다. DB 이중화 상태에서 강제로 장애를 발생시켜 대기 인스턴스로 전환(Failover)하고, 다시 원래 구성으로 되돌리는(Failback) 전 과정을 시연합니다.</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2715768"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SERVICE 1 · 담당: DBM</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Cloud SQL 고가용성(HA) 및 Failover 개념</a:t>
            </a:r>
          </a:p>
        </p:txBody>
      </p:sp>
      <p:sp>
        <p:nvSpPr>
          <p:cNvPr id="4" name="Rectangle 3"/>
          <p:cNvSpPr/>
          <p:nvPr/>
        </p:nvSpPr>
        <p:spPr>
          <a:xfrm>
            <a:off x="502920" y="148132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01</a:t>
            </a:r>
          </a:p>
        </p:txBody>
      </p:sp>
      <p:sp>
        <p:nvSpPr>
          <p:cNvPr id="6" name="Rectangle 5"/>
          <p:cNvSpPr/>
          <p:nvPr/>
        </p:nvSpPr>
        <p:spPr>
          <a:xfrm>
            <a:off x="502920" y="1691640"/>
            <a:ext cx="11201400" cy="960120"/>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764792"/>
            <a:ext cx="1463040" cy="274320"/>
          </a:xfrm>
          <a:prstGeom prst="rect">
            <a:avLst/>
          </a:prstGeom>
          <a:noFill/>
        </p:spPr>
        <p:txBody>
          <a:bodyPr wrap="square">
            <a:spAutoFit/>
          </a:bodyPr>
          <a:lstStyle/>
          <a:p>
            <a:pPr algn="l">
              <a:lnSpc>
                <a:spcPct val="115000"/>
              </a:lnSpc>
            </a:pPr>
            <a:r>
              <a:rPr sz="1100" b="1">
                <a:solidFill>
                  <a:srgbClr val="0A4E47"/>
                </a:solidFill>
                <a:latin typeface="Malgun Gothic"/>
              </a:rPr>
              <a:t>정의</a:t>
            </a:r>
          </a:p>
        </p:txBody>
      </p:sp>
      <p:sp>
        <p:nvSpPr>
          <p:cNvPr id="8" name="TextBox 7"/>
          <p:cNvSpPr txBox="1"/>
          <p:nvPr/>
        </p:nvSpPr>
        <p:spPr>
          <a:xfrm>
            <a:off x="685800" y="2011680"/>
            <a:ext cx="10789920" cy="594360"/>
          </a:xfrm>
          <a:prstGeom prst="rect">
            <a:avLst/>
          </a:prstGeom>
          <a:noFill/>
        </p:spPr>
        <p:txBody>
          <a:bodyPr wrap="square">
            <a:spAutoFit/>
          </a:bodyPr>
          <a:lstStyle/>
          <a:p>
            <a:pPr algn="l">
              <a:lnSpc>
                <a:spcPct val="115000"/>
              </a:lnSpc>
            </a:pPr>
            <a:r>
              <a:rPr sz="1250" b="0">
                <a:solidFill>
                  <a:srgbClr val="44585A"/>
                </a:solidFill>
                <a:latin typeface="Malgun Gothic"/>
              </a:rPr>
              <a:t>Cloud SQL의 고가용성(HA) 구성은 Primary 인스턴스와 같은 리전의 다른 영역(Zone)에 동기 복제되는 Standby 인스턴스를 함께 둡니다. Primary에 장애가 발생하면 GCP가 자동으로, 혹은 관리자가 수동으로 Standby를 새 Primary로 승격시키는 것이 Failover입니다.</a:t>
            </a:r>
          </a:p>
        </p:txBody>
      </p:sp>
      <p:sp>
        <p:nvSpPr>
          <p:cNvPr id="9" name="Rectangle 8"/>
          <p:cNvSpPr/>
          <p:nvPr/>
        </p:nvSpPr>
        <p:spPr>
          <a:xfrm>
            <a:off x="502920" y="2788920"/>
            <a:ext cx="6720840" cy="3520440"/>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898648"/>
            <a:ext cx="3657600" cy="274320"/>
          </a:xfrm>
          <a:prstGeom prst="rect">
            <a:avLst/>
          </a:prstGeom>
          <a:noFill/>
        </p:spPr>
        <p:txBody>
          <a:bodyPr wrap="square">
            <a:spAutoFit/>
          </a:bodyPr>
          <a:lstStyle/>
          <a:p>
            <a:pPr algn="l">
              <a:lnSpc>
                <a:spcPct val="115000"/>
              </a:lnSpc>
            </a:pPr>
            <a:r>
              <a:rPr sz="1200" b="1">
                <a:solidFill>
                  <a:srgbClr val="0A4E47"/>
                </a:solidFill>
                <a:latin typeface="Malgun Gothic"/>
              </a:rPr>
              <a:t>왜 이 서비스·설정을 선택했는가</a:t>
            </a:r>
          </a:p>
        </p:txBody>
      </p:sp>
      <p:sp>
        <p:nvSpPr>
          <p:cNvPr id="11" name="TextBox 10"/>
          <p:cNvSpPr txBox="1"/>
          <p:nvPr/>
        </p:nvSpPr>
        <p:spPr>
          <a:xfrm>
            <a:off x="685800" y="3246120"/>
            <a:ext cx="6309360" cy="2926080"/>
          </a:xfrm>
          <a:prstGeom prst="rect">
            <a:avLst/>
          </a:prstGeom>
          <a:noFill/>
        </p:spPr>
        <p:txBody>
          <a:bodyPr wrap="square">
            <a:spAutoFit/>
          </a:bodyPr>
          <a:lstStyle/>
          <a:p>
            <a:pPr>
              <a:lnSpc>
                <a:spcPct val="118000"/>
              </a:lnSpc>
              <a:spcAft>
                <a:spcPts val="700"/>
              </a:spcAft>
            </a:pPr>
            <a:r>
              <a:rPr sz="1230" b="0">
                <a:solidFill>
                  <a:srgbClr val="44585A"/>
                </a:solidFill>
                <a:latin typeface="Malgun Gothic"/>
              </a:rPr>
              <a:t>▸ 평소 운영 인스턴스는 단일 영역(No HA)이지만, 이번 장애 테스트를 위해 일시적으로 HA(고가용성)를 활성화하여 Standby를 생성합니다 — 실제 프로덕션 전환 시에도 동일한 절차가 적용됩니다</a:t>
            </a:r>
          </a:p>
          <a:p>
            <a:pPr>
              <a:lnSpc>
                <a:spcPct val="118000"/>
              </a:lnSpc>
              <a:spcAft>
                <a:spcPts val="700"/>
              </a:spcAft>
            </a:pPr>
            <a:r>
              <a:rPr sz="1230" b="0">
                <a:solidFill>
                  <a:srgbClr val="44585A"/>
                </a:solidFill>
                <a:latin typeface="Malgun Gothic"/>
              </a:rPr>
              <a:t>▸ Failover(장애 조치): Primary 중단 시 Standby가 승격되어 서비스 연속성 유지. 자동 감지 시 수 초~1분, 콘솔에서 수동으로 강제 실행도 가능(이번 시연은 수동 트리거로 재현성 확보)</a:t>
            </a:r>
          </a:p>
          <a:p>
            <a:pPr>
              <a:lnSpc>
                <a:spcPct val="118000"/>
              </a:lnSpc>
              <a:spcAft>
                <a:spcPts val="700"/>
              </a:spcAft>
            </a:pPr>
            <a:r>
              <a:rPr sz="1230" b="0">
                <a:solidFill>
                  <a:srgbClr val="44585A"/>
                </a:solidFill>
                <a:latin typeface="Malgun Gothic"/>
              </a:rPr>
              <a:t>▸ Failback(정상화): Failover 이후에는 승격된 인스턴스가 새로운 Primary가 됩니다. '원래 상태로 되돌리기'는 다시 한 번 Failover 버튼을 눌러 원래 영역으로 되돌리거나, HA를 재구성해 이전 Primary를 새 Standby로 편입시키는 것으로 완료됩니다</a:t>
            </a:r>
          </a:p>
          <a:p>
            <a:pPr>
              <a:lnSpc>
                <a:spcPct val="118000"/>
              </a:lnSpc>
              <a:spcAft>
                <a:spcPts val="700"/>
              </a:spcAft>
            </a:pPr>
            <a:r>
              <a:rPr sz="1230" b="0">
                <a:solidFill>
                  <a:srgbClr val="44585A"/>
                </a:solidFill>
                <a:latin typeface="Malgun Gothic"/>
              </a:rPr>
              <a:t>▸ WAS 애플리케이션은 Cloud SQL의 연결 엔드포인트(Private IP 또는 커넥터)가 동일하게 유지되므로, Failover가 일어나도 애플리케이션 설정을 바꿀 필요가 없습니다 — 이 부분이 시연의 핵심 포인트</a:t>
            </a:r>
          </a:p>
        </p:txBody>
      </p:sp>
      <p:sp>
        <p:nvSpPr>
          <p:cNvPr id="12" name="Rectangle 11"/>
          <p:cNvSpPr/>
          <p:nvPr/>
        </p:nvSpPr>
        <p:spPr>
          <a:xfrm>
            <a:off x="7360920" y="2788920"/>
            <a:ext cx="4343400" cy="3520440"/>
          </a:xfrm>
          <a:prstGeom prst="rect">
            <a:avLst/>
          </a:prstGeom>
          <a:solidFill>
            <a:srgbClr val="F6E1E1"/>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43800" y="2898648"/>
            <a:ext cx="3931920" cy="274320"/>
          </a:xfrm>
          <a:prstGeom prst="rect">
            <a:avLst/>
          </a:prstGeom>
          <a:noFill/>
        </p:spPr>
        <p:txBody>
          <a:bodyPr wrap="square">
            <a:spAutoFit/>
          </a:bodyPr>
          <a:lstStyle/>
          <a:p>
            <a:pPr algn="l">
              <a:lnSpc>
                <a:spcPct val="115000"/>
              </a:lnSpc>
            </a:pPr>
            <a:r>
              <a:rPr sz="1200" b="1">
                <a:solidFill>
                  <a:srgbClr val="AE3B3B"/>
                </a:solidFill>
                <a:latin typeface="Malgun Gothic"/>
              </a:rPr>
              <a:t>검토했지만 기각한 대안</a:t>
            </a:r>
          </a:p>
        </p:txBody>
      </p:sp>
      <p:sp>
        <p:nvSpPr>
          <p:cNvPr id="14" name="TextBox 13"/>
          <p:cNvSpPr txBox="1"/>
          <p:nvPr/>
        </p:nvSpPr>
        <p:spPr>
          <a:xfrm>
            <a:off x="7543800" y="3246120"/>
            <a:ext cx="4023360" cy="2926080"/>
          </a:xfrm>
          <a:prstGeom prst="rect">
            <a:avLst/>
          </a:prstGeom>
          <a:noFill/>
        </p:spPr>
        <p:txBody>
          <a:bodyPr wrap="square">
            <a:spAutoFit/>
          </a:bodyPr>
          <a:lstStyle/>
          <a:p>
            <a:pPr>
              <a:lnSpc>
                <a:spcPct val="118000"/>
              </a:lnSpc>
              <a:spcAft>
                <a:spcPts val="700"/>
              </a:spcAft>
            </a:pPr>
            <a:r>
              <a:rPr sz="1180" b="0">
                <a:solidFill>
                  <a:srgbClr val="44585A"/>
                </a:solidFill>
                <a:latin typeface="Malgun Gothic"/>
              </a:rPr>
              <a:t>▸ 읽기 전용 복제본(Read Replica)을 수동으로 Primary로 승격 — HA 방식보다 전환 시간이 길고(수 분), 애플리케이션의 연결 문자열도 바꿔야 해서 이번 자동화 시연 목적에 부적합</a:t>
            </a:r>
          </a:p>
          <a:p>
            <a:pPr>
              <a:lnSpc>
                <a:spcPct val="118000"/>
              </a:lnSpc>
              <a:spcAft>
                <a:spcPts val="700"/>
              </a:spcAft>
            </a:pPr>
            <a:r>
              <a:rPr sz="1180" b="0">
                <a:solidFill>
                  <a:srgbClr val="44585A"/>
                </a:solidFill>
                <a:latin typeface="Malgun Gothic"/>
              </a:rPr>
              <a:t>▸ VM에 직접 설치한 MySQL의 수동 페일오버 스크립트 — 관리 부담이 크고 이번 문서의 목적(매니지드 서비스의 이점 시연)과 맞지 않음</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2715768"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장애 테스트 #2 · 담당: DBM</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Cloud SQL HA 활성화 (테스트 사전 준비)</a:t>
            </a:r>
          </a:p>
        </p:txBody>
      </p:sp>
      <p:sp>
        <p:nvSpPr>
          <p:cNvPr id="4" name="Rectangle 3"/>
          <p:cNvSpPr/>
          <p:nvPr/>
        </p:nvSpPr>
        <p:spPr>
          <a:xfrm>
            <a:off x="502920" y="148132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02</a:t>
            </a:r>
          </a:p>
        </p:txBody>
      </p:sp>
      <p:sp>
        <p:nvSpPr>
          <p:cNvPr id="6" name="Rectangle 5"/>
          <p:cNvSpPr/>
          <p:nvPr/>
        </p:nvSpPr>
        <p:spPr>
          <a:xfrm>
            <a:off x="502920" y="1627632"/>
            <a:ext cx="11201400" cy="566928"/>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1673352"/>
            <a:ext cx="10881360" cy="502920"/>
          </a:xfrm>
          <a:prstGeom prst="rect">
            <a:avLst/>
          </a:prstGeom>
          <a:noFill/>
        </p:spPr>
        <p:txBody>
          <a:bodyPr wrap="square">
            <a:spAutoFit/>
          </a:bodyPr>
          <a:lstStyle/>
          <a:p>
            <a:r>
              <a:rPr sz="1050" b="1">
                <a:solidFill>
                  <a:srgbClr val="0A4E47"/>
                </a:solidFill>
                <a:latin typeface="Malgun Gothic"/>
              </a:rPr>
              <a:t>목적: </a:t>
            </a:r>
            <a:r>
              <a:rPr sz="1050">
                <a:solidFill>
                  <a:srgbClr val="44585A"/>
                </a:solidFill>
                <a:latin typeface="Malgun Gothic"/>
              </a:rPr>
              <a:t>장애 조치 테스트를 위해 Standby 인스턴스를 생성해 HA 구성을 만든다.</a:t>
            </a:r>
          </a:p>
          <a:p>
            <a:r>
              <a:rPr sz="1050" b="1">
                <a:solidFill>
                  <a:srgbClr val="0A4E47"/>
                </a:solidFill>
                <a:latin typeface="Malgun Gothic"/>
              </a:rPr>
              <a:t>사전조건: </a:t>
            </a:r>
            <a:r>
              <a:rPr sz="1050">
                <a:solidFill>
                  <a:srgbClr val="44585A"/>
                </a:solidFill>
                <a:latin typeface="Malgun Gothic"/>
              </a:rPr>
              <a:t>petclinic-mysql 인스턴스가 정상 운영 중이어야 하며, WAS가 이 인스턴스에 정상 연결되어 있어야 함</a:t>
            </a:r>
          </a:p>
        </p:txBody>
      </p:sp>
      <p:sp>
        <p:nvSpPr>
          <p:cNvPr id="8" name="Rectangle 7"/>
          <p:cNvSpPr/>
          <p:nvPr/>
        </p:nvSpPr>
        <p:spPr>
          <a:xfrm>
            <a:off x="502920" y="2331720"/>
            <a:ext cx="5440680" cy="3246120"/>
          </a:xfrm>
          <a:prstGeom prst="rect">
            <a:avLst/>
          </a:prstGeom>
          <a:solidFill>
            <a:srgbClr val="F6E1E1"/>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2441448"/>
            <a:ext cx="5111496" cy="292608"/>
          </a:xfrm>
          <a:prstGeom prst="rect">
            <a:avLst/>
          </a:prstGeom>
          <a:noFill/>
        </p:spPr>
        <p:txBody>
          <a:bodyPr wrap="square">
            <a:spAutoFit/>
          </a:bodyPr>
          <a:lstStyle/>
          <a:p>
            <a:pPr algn="l">
              <a:lnSpc>
                <a:spcPct val="115000"/>
              </a:lnSpc>
            </a:pPr>
            <a:r>
              <a:rPr sz="1250" b="1">
                <a:solidFill>
                  <a:srgbClr val="AE3B3B"/>
                </a:solidFill>
                <a:latin typeface="Malgun Gothic"/>
              </a:rPr>
              <a:t>① 장애 유발 (Failover 트리거)</a:t>
            </a:r>
          </a:p>
        </p:txBody>
      </p:sp>
      <p:sp>
        <p:nvSpPr>
          <p:cNvPr id="10" name="Rectangle 9"/>
          <p:cNvSpPr/>
          <p:nvPr/>
        </p:nvSpPr>
        <p:spPr>
          <a:xfrm>
            <a:off x="667512" y="2834640"/>
            <a:ext cx="292608" cy="292608"/>
          </a:xfrm>
          <a:prstGeom prst="rect">
            <a:avLst/>
          </a:prstGeom>
          <a:solidFill>
            <a:srgbClr val="AE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7512" y="283464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1</a:t>
            </a:r>
          </a:p>
        </p:txBody>
      </p:sp>
      <p:sp>
        <p:nvSpPr>
          <p:cNvPr id="12" name="TextBox 11"/>
          <p:cNvSpPr txBox="1"/>
          <p:nvPr/>
        </p:nvSpPr>
        <p:spPr>
          <a:xfrm>
            <a:off x="1051560" y="2816352"/>
            <a:ext cx="4727448" cy="662940"/>
          </a:xfrm>
          <a:prstGeom prst="rect">
            <a:avLst/>
          </a:prstGeom>
          <a:noFill/>
        </p:spPr>
        <p:txBody>
          <a:bodyPr wrap="square">
            <a:spAutoFit/>
          </a:bodyPr>
          <a:lstStyle/>
          <a:p>
            <a:r>
              <a:rPr sz="1120">
                <a:solidFill>
                  <a:srgbClr val="132422"/>
                </a:solidFill>
                <a:latin typeface="Malgun Gothic"/>
              </a:rPr>
              <a:t>SQL → petclinic-mysql 인스턴스 선택 → 상단 '수정' 클릭</a:t>
            </a:r>
          </a:p>
        </p:txBody>
      </p:sp>
      <p:sp>
        <p:nvSpPr>
          <p:cNvPr id="13" name="Rectangle 12"/>
          <p:cNvSpPr/>
          <p:nvPr/>
        </p:nvSpPr>
        <p:spPr>
          <a:xfrm>
            <a:off x="667512" y="3497580"/>
            <a:ext cx="292608" cy="292608"/>
          </a:xfrm>
          <a:prstGeom prst="rect">
            <a:avLst/>
          </a:prstGeom>
          <a:solidFill>
            <a:srgbClr val="AE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7512" y="349758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2</a:t>
            </a:r>
          </a:p>
        </p:txBody>
      </p:sp>
      <p:sp>
        <p:nvSpPr>
          <p:cNvPr id="15" name="TextBox 14"/>
          <p:cNvSpPr txBox="1"/>
          <p:nvPr/>
        </p:nvSpPr>
        <p:spPr>
          <a:xfrm>
            <a:off x="1051560" y="3479292"/>
            <a:ext cx="4727448" cy="662940"/>
          </a:xfrm>
          <a:prstGeom prst="rect">
            <a:avLst/>
          </a:prstGeom>
          <a:noFill/>
        </p:spPr>
        <p:txBody>
          <a:bodyPr wrap="square">
            <a:spAutoFit/>
          </a:bodyPr>
          <a:lstStyle/>
          <a:p>
            <a:r>
              <a:rPr sz="1120">
                <a:solidFill>
                  <a:srgbClr val="132422"/>
                </a:solidFill>
                <a:latin typeface="Malgun Gothic"/>
              </a:rPr>
              <a:t>연결 섹션이 아닌 '머신 구성' 하단의 '가용성' 항목에서 '고가용성(리전) 구성' 선택</a:t>
            </a:r>
          </a:p>
        </p:txBody>
      </p:sp>
      <p:sp>
        <p:nvSpPr>
          <p:cNvPr id="16" name="Rectangle 15"/>
          <p:cNvSpPr/>
          <p:nvPr/>
        </p:nvSpPr>
        <p:spPr>
          <a:xfrm>
            <a:off x="667512" y="4160520"/>
            <a:ext cx="292608" cy="292608"/>
          </a:xfrm>
          <a:prstGeom prst="rect">
            <a:avLst/>
          </a:prstGeom>
          <a:solidFill>
            <a:srgbClr val="AE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416052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3</a:t>
            </a:r>
          </a:p>
        </p:txBody>
      </p:sp>
      <p:sp>
        <p:nvSpPr>
          <p:cNvPr id="18" name="TextBox 17"/>
          <p:cNvSpPr txBox="1"/>
          <p:nvPr/>
        </p:nvSpPr>
        <p:spPr>
          <a:xfrm>
            <a:off x="1051560" y="4142232"/>
            <a:ext cx="4727448" cy="662940"/>
          </a:xfrm>
          <a:prstGeom prst="rect">
            <a:avLst/>
          </a:prstGeom>
          <a:noFill/>
        </p:spPr>
        <p:txBody>
          <a:bodyPr wrap="square">
            <a:spAutoFit/>
          </a:bodyPr>
          <a:lstStyle/>
          <a:p>
            <a:r>
              <a:rPr sz="1120">
                <a:solidFill>
                  <a:srgbClr val="132422"/>
                </a:solidFill>
                <a:latin typeface="Malgun Gothic"/>
              </a:rPr>
              <a:t>장애 조치 위치(다른 영역)가 자동 지정됨을 확인 → 하단 '저장' 클릭</a:t>
            </a:r>
          </a:p>
        </p:txBody>
      </p:sp>
      <p:sp>
        <p:nvSpPr>
          <p:cNvPr id="19" name="Rectangle 18"/>
          <p:cNvSpPr/>
          <p:nvPr/>
        </p:nvSpPr>
        <p:spPr>
          <a:xfrm>
            <a:off x="667512" y="4823460"/>
            <a:ext cx="292608" cy="292608"/>
          </a:xfrm>
          <a:prstGeom prst="rect">
            <a:avLst/>
          </a:prstGeom>
          <a:solidFill>
            <a:srgbClr val="AE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67512" y="482346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4</a:t>
            </a:r>
          </a:p>
        </p:txBody>
      </p:sp>
      <p:sp>
        <p:nvSpPr>
          <p:cNvPr id="21" name="TextBox 20"/>
          <p:cNvSpPr txBox="1"/>
          <p:nvPr/>
        </p:nvSpPr>
        <p:spPr>
          <a:xfrm>
            <a:off x="1051560" y="4805172"/>
            <a:ext cx="4727448" cy="662940"/>
          </a:xfrm>
          <a:prstGeom prst="rect">
            <a:avLst/>
          </a:prstGeom>
          <a:noFill/>
        </p:spPr>
        <p:txBody>
          <a:bodyPr wrap="square">
            <a:spAutoFit/>
          </a:bodyPr>
          <a:lstStyle/>
          <a:p>
            <a:r>
              <a:rPr sz="1120">
                <a:solidFill>
                  <a:srgbClr val="132422"/>
                </a:solidFill>
                <a:latin typeface="Malgun Gothic"/>
              </a:rPr>
              <a:t>몇 분간 Standby 인스턴스 생성 대기 (인스턴스 상세 화면에 '보조 영역' 정보가 표시되면 완료)</a:t>
            </a:r>
          </a:p>
        </p:txBody>
      </p:sp>
      <p:sp>
        <p:nvSpPr>
          <p:cNvPr id="22" name="Rectangle 21"/>
          <p:cNvSpPr/>
          <p:nvPr/>
        </p:nvSpPr>
        <p:spPr>
          <a:xfrm>
            <a:off x="6080760" y="2331720"/>
            <a:ext cx="5440680" cy="3246120"/>
          </a:xfrm>
          <a:prstGeom prst="rect">
            <a:avLst/>
          </a:prstGeom>
          <a:solidFill>
            <a:srgbClr val="DFF0E4"/>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45352" y="2441448"/>
            <a:ext cx="5111496" cy="292608"/>
          </a:xfrm>
          <a:prstGeom prst="rect">
            <a:avLst/>
          </a:prstGeom>
          <a:noFill/>
        </p:spPr>
        <p:txBody>
          <a:bodyPr wrap="square">
            <a:spAutoFit/>
          </a:bodyPr>
          <a:lstStyle/>
          <a:p>
            <a:pPr algn="l">
              <a:lnSpc>
                <a:spcPct val="115000"/>
              </a:lnSpc>
            </a:pPr>
            <a:r>
              <a:rPr sz="1250" b="1">
                <a:solidFill>
                  <a:srgbClr val="2E7D4F"/>
                </a:solidFill>
                <a:latin typeface="Malgun Gothic"/>
              </a:rPr>
              <a:t>③ 정상화 (Failback / 복구)</a:t>
            </a:r>
          </a:p>
        </p:txBody>
      </p:sp>
      <p:sp>
        <p:nvSpPr>
          <p:cNvPr id="24" name="Rectangle 23"/>
          <p:cNvSpPr/>
          <p:nvPr/>
        </p:nvSpPr>
        <p:spPr>
          <a:xfrm>
            <a:off x="6245352" y="2834640"/>
            <a:ext cx="292608" cy="292608"/>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45352" y="283464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1</a:t>
            </a:r>
          </a:p>
        </p:txBody>
      </p:sp>
      <p:sp>
        <p:nvSpPr>
          <p:cNvPr id="26" name="TextBox 25"/>
          <p:cNvSpPr txBox="1"/>
          <p:nvPr/>
        </p:nvSpPr>
        <p:spPr>
          <a:xfrm>
            <a:off x="6629400" y="2816352"/>
            <a:ext cx="4727448" cy="1325880"/>
          </a:xfrm>
          <a:prstGeom prst="rect">
            <a:avLst/>
          </a:prstGeom>
          <a:noFill/>
        </p:spPr>
        <p:txBody>
          <a:bodyPr wrap="square">
            <a:spAutoFit/>
          </a:bodyPr>
          <a:lstStyle/>
          <a:p>
            <a:r>
              <a:rPr sz="1120">
                <a:solidFill>
                  <a:srgbClr val="132422"/>
                </a:solidFill>
                <a:latin typeface="Malgun Gothic"/>
              </a:rPr>
              <a:t>(사전 준비 단계이므로 되돌릴 필요 없음 — 이후 시나리오 3~4에서 실제 Failover/Failback 진행)</a:t>
            </a:r>
          </a:p>
        </p:txBody>
      </p:sp>
      <p:sp>
        <p:nvSpPr>
          <p:cNvPr id="27" name="Rectangle 26"/>
          <p:cNvSpPr/>
          <p:nvPr/>
        </p:nvSpPr>
        <p:spPr>
          <a:xfrm>
            <a:off x="6245352" y="4160520"/>
            <a:ext cx="292608" cy="292608"/>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245352" y="416052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2</a:t>
            </a:r>
          </a:p>
        </p:txBody>
      </p:sp>
      <p:sp>
        <p:nvSpPr>
          <p:cNvPr id="29" name="TextBox 28"/>
          <p:cNvSpPr txBox="1"/>
          <p:nvPr/>
        </p:nvSpPr>
        <p:spPr>
          <a:xfrm>
            <a:off x="6629400" y="4142232"/>
            <a:ext cx="4727448" cy="1325880"/>
          </a:xfrm>
          <a:prstGeom prst="rect">
            <a:avLst/>
          </a:prstGeom>
          <a:noFill/>
        </p:spPr>
        <p:txBody>
          <a:bodyPr wrap="square">
            <a:spAutoFit/>
          </a:bodyPr>
          <a:lstStyle/>
          <a:p>
            <a:r>
              <a:rPr sz="1120">
                <a:solidFill>
                  <a:srgbClr val="132422"/>
                </a:solidFill>
                <a:latin typeface="Malgun Gothic"/>
              </a:rPr>
              <a:t>다음 슬라이드로 이동해 실제 장애 조치 테스트 진행</a:t>
            </a:r>
          </a:p>
        </p:txBody>
      </p:sp>
      <p:sp>
        <p:nvSpPr>
          <p:cNvPr id="30" name="Rectangle 29"/>
          <p:cNvSpPr/>
          <p:nvPr/>
        </p:nvSpPr>
        <p:spPr>
          <a:xfrm>
            <a:off x="502920" y="5687568"/>
            <a:ext cx="11201400" cy="502920"/>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58368" y="5724144"/>
            <a:ext cx="10881360" cy="438912"/>
          </a:xfrm>
          <a:prstGeom prst="rect">
            <a:avLst/>
          </a:prstGeom>
          <a:noFill/>
        </p:spPr>
        <p:txBody>
          <a:bodyPr wrap="square" anchor="ctr">
            <a:spAutoFit/>
          </a:bodyPr>
          <a:lstStyle/>
          <a:p>
            <a:r>
              <a:rPr sz="1050" b="1">
                <a:solidFill>
                  <a:srgbClr val="0A4E47"/>
                </a:solidFill>
                <a:latin typeface="Malgun Gothic"/>
              </a:rPr>
              <a:t>② 성공 판정 기준: </a:t>
            </a:r>
            <a:r>
              <a:rPr sz="1050">
                <a:solidFill>
                  <a:srgbClr val="132422"/>
                </a:solidFill>
                <a:latin typeface="Malgun Gothic"/>
              </a:rPr>
              <a:t>인스턴스 개요 화면에 '가용성: 고가용성(HA)'로 표시되고, 보조(Standby) 영역 정보가 나타나면 사전 준비 완료</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2715768"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장애 테스트 #3 · 담당: DBM</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Cloud SQL 강제 Failover 실행 및 검증</a:t>
            </a:r>
          </a:p>
        </p:txBody>
      </p:sp>
      <p:sp>
        <p:nvSpPr>
          <p:cNvPr id="4" name="Rectangle 3"/>
          <p:cNvSpPr/>
          <p:nvPr/>
        </p:nvSpPr>
        <p:spPr>
          <a:xfrm>
            <a:off x="502920" y="148132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03</a:t>
            </a:r>
          </a:p>
        </p:txBody>
      </p:sp>
      <p:sp>
        <p:nvSpPr>
          <p:cNvPr id="6" name="Rectangle 5"/>
          <p:cNvSpPr/>
          <p:nvPr/>
        </p:nvSpPr>
        <p:spPr>
          <a:xfrm>
            <a:off x="502920" y="1627632"/>
            <a:ext cx="11201400" cy="566928"/>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1673352"/>
            <a:ext cx="10881360" cy="502920"/>
          </a:xfrm>
          <a:prstGeom prst="rect">
            <a:avLst/>
          </a:prstGeom>
          <a:noFill/>
        </p:spPr>
        <p:txBody>
          <a:bodyPr wrap="square">
            <a:spAutoFit/>
          </a:bodyPr>
          <a:lstStyle/>
          <a:p>
            <a:r>
              <a:rPr sz="1050" b="1">
                <a:solidFill>
                  <a:srgbClr val="0A4E47"/>
                </a:solidFill>
                <a:latin typeface="Malgun Gothic"/>
              </a:rPr>
              <a:t>목적: </a:t>
            </a:r>
            <a:r>
              <a:rPr sz="1050">
                <a:solidFill>
                  <a:srgbClr val="44585A"/>
                </a:solidFill>
                <a:latin typeface="Malgun Gothic"/>
              </a:rPr>
              <a:t>Primary 인스턴스 장애를 인위적으로 재현하고, Standby로 자동 전환되는 과정과 서비스 연속성을 시연한다.</a:t>
            </a:r>
          </a:p>
          <a:p>
            <a:r>
              <a:rPr sz="1050" b="1">
                <a:solidFill>
                  <a:srgbClr val="0A4E47"/>
                </a:solidFill>
                <a:latin typeface="Malgun Gothic"/>
              </a:rPr>
              <a:t>사전조건: </a:t>
            </a:r>
            <a:r>
              <a:rPr sz="1050">
                <a:solidFill>
                  <a:srgbClr val="44585A"/>
                </a:solidFill>
                <a:latin typeface="Malgun Gothic"/>
              </a:rPr>
              <a:t>2번 시나리오에서 HA 활성화 완료, 웹사이트(예약 기능)가 정상 동작 중이어야 함</a:t>
            </a:r>
          </a:p>
        </p:txBody>
      </p:sp>
      <p:sp>
        <p:nvSpPr>
          <p:cNvPr id="8" name="Rectangle 7"/>
          <p:cNvSpPr/>
          <p:nvPr/>
        </p:nvSpPr>
        <p:spPr>
          <a:xfrm>
            <a:off x="502920" y="2331720"/>
            <a:ext cx="5440680" cy="3246120"/>
          </a:xfrm>
          <a:prstGeom prst="rect">
            <a:avLst/>
          </a:prstGeom>
          <a:solidFill>
            <a:srgbClr val="F6E1E1"/>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2441448"/>
            <a:ext cx="5111496" cy="292608"/>
          </a:xfrm>
          <a:prstGeom prst="rect">
            <a:avLst/>
          </a:prstGeom>
          <a:noFill/>
        </p:spPr>
        <p:txBody>
          <a:bodyPr wrap="square">
            <a:spAutoFit/>
          </a:bodyPr>
          <a:lstStyle/>
          <a:p>
            <a:pPr algn="l">
              <a:lnSpc>
                <a:spcPct val="115000"/>
              </a:lnSpc>
            </a:pPr>
            <a:r>
              <a:rPr sz="1250" b="1">
                <a:solidFill>
                  <a:srgbClr val="AE3B3B"/>
                </a:solidFill>
                <a:latin typeface="Malgun Gothic"/>
              </a:rPr>
              <a:t>① 장애 유발 (Failover 트리거)</a:t>
            </a:r>
          </a:p>
        </p:txBody>
      </p:sp>
      <p:sp>
        <p:nvSpPr>
          <p:cNvPr id="10" name="Rectangle 9"/>
          <p:cNvSpPr/>
          <p:nvPr/>
        </p:nvSpPr>
        <p:spPr>
          <a:xfrm>
            <a:off x="667512" y="2834640"/>
            <a:ext cx="292608" cy="292608"/>
          </a:xfrm>
          <a:prstGeom prst="rect">
            <a:avLst/>
          </a:prstGeom>
          <a:solidFill>
            <a:srgbClr val="AE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7512" y="283464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1</a:t>
            </a:r>
          </a:p>
        </p:txBody>
      </p:sp>
      <p:sp>
        <p:nvSpPr>
          <p:cNvPr id="12" name="TextBox 11"/>
          <p:cNvSpPr txBox="1"/>
          <p:nvPr/>
        </p:nvSpPr>
        <p:spPr>
          <a:xfrm>
            <a:off x="1051560" y="2816352"/>
            <a:ext cx="4727448" cy="662940"/>
          </a:xfrm>
          <a:prstGeom prst="rect">
            <a:avLst/>
          </a:prstGeom>
          <a:noFill/>
        </p:spPr>
        <p:txBody>
          <a:bodyPr wrap="square">
            <a:spAutoFit/>
          </a:bodyPr>
          <a:lstStyle/>
          <a:p>
            <a:r>
              <a:rPr sz="1120">
                <a:solidFill>
                  <a:srgbClr val="132422"/>
                </a:solidFill>
                <a:latin typeface="Malgun Gothic"/>
              </a:rPr>
              <a:t>[녹화 시작] 브라우저에서 병원 웹사이트 예약 페이지를 열어 정상 동작(예: 예약 목록 조회) 확인</a:t>
            </a:r>
          </a:p>
        </p:txBody>
      </p:sp>
      <p:sp>
        <p:nvSpPr>
          <p:cNvPr id="13" name="Rectangle 12"/>
          <p:cNvSpPr/>
          <p:nvPr/>
        </p:nvSpPr>
        <p:spPr>
          <a:xfrm>
            <a:off x="667512" y="3497580"/>
            <a:ext cx="292608" cy="292608"/>
          </a:xfrm>
          <a:prstGeom prst="rect">
            <a:avLst/>
          </a:prstGeom>
          <a:solidFill>
            <a:srgbClr val="AE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7512" y="349758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2</a:t>
            </a:r>
          </a:p>
        </p:txBody>
      </p:sp>
      <p:sp>
        <p:nvSpPr>
          <p:cNvPr id="15" name="TextBox 14"/>
          <p:cNvSpPr txBox="1"/>
          <p:nvPr/>
        </p:nvSpPr>
        <p:spPr>
          <a:xfrm>
            <a:off x="1051560" y="3479292"/>
            <a:ext cx="4727448" cy="662940"/>
          </a:xfrm>
          <a:prstGeom prst="rect">
            <a:avLst/>
          </a:prstGeom>
          <a:noFill/>
        </p:spPr>
        <p:txBody>
          <a:bodyPr wrap="square">
            <a:spAutoFit/>
          </a:bodyPr>
          <a:lstStyle/>
          <a:p>
            <a:r>
              <a:rPr sz="1120">
                <a:solidFill>
                  <a:srgbClr val="132422"/>
                </a:solidFill>
                <a:latin typeface="Malgun Gothic"/>
              </a:rPr>
              <a:t>SQL 콘솔 → petclinic-mysql 인스턴스 → 상단 '장애 조치' 버튼 클릭</a:t>
            </a:r>
          </a:p>
        </p:txBody>
      </p:sp>
      <p:sp>
        <p:nvSpPr>
          <p:cNvPr id="16" name="Rectangle 15"/>
          <p:cNvSpPr/>
          <p:nvPr/>
        </p:nvSpPr>
        <p:spPr>
          <a:xfrm>
            <a:off x="667512" y="4160520"/>
            <a:ext cx="292608" cy="292608"/>
          </a:xfrm>
          <a:prstGeom prst="rect">
            <a:avLst/>
          </a:prstGeom>
          <a:solidFill>
            <a:srgbClr val="AE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416052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3</a:t>
            </a:r>
          </a:p>
        </p:txBody>
      </p:sp>
      <p:sp>
        <p:nvSpPr>
          <p:cNvPr id="18" name="TextBox 17"/>
          <p:cNvSpPr txBox="1"/>
          <p:nvPr/>
        </p:nvSpPr>
        <p:spPr>
          <a:xfrm>
            <a:off x="1051560" y="4142232"/>
            <a:ext cx="4727448" cy="662940"/>
          </a:xfrm>
          <a:prstGeom prst="rect">
            <a:avLst/>
          </a:prstGeom>
          <a:noFill/>
        </p:spPr>
        <p:txBody>
          <a:bodyPr wrap="square">
            <a:spAutoFit/>
          </a:bodyPr>
          <a:lstStyle/>
          <a:p>
            <a:r>
              <a:rPr sz="1120">
                <a:solidFill>
                  <a:srgbClr val="132422"/>
                </a:solidFill>
                <a:latin typeface="Malgun Gothic"/>
              </a:rPr>
              <a:t>확인 대화상자에서 인스턴스 이름을 입력해 '장애 조치' 실행 확정</a:t>
            </a:r>
          </a:p>
        </p:txBody>
      </p:sp>
      <p:sp>
        <p:nvSpPr>
          <p:cNvPr id="19" name="Rectangle 18"/>
          <p:cNvSpPr/>
          <p:nvPr/>
        </p:nvSpPr>
        <p:spPr>
          <a:xfrm>
            <a:off x="667512" y="4823460"/>
            <a:ext cx="292608" cy="292608"/>
          </a:xfrm>
          <a:prstGeom prst="rect">
            <a:avLst/>
          </a:prstGeom>
          <a:solidFill>
            <a:srgbClr val="AE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67512" y="482346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4</a:t>
            </a:r>
          </a:p>
        </p:txBody>
      </p:sp>
      <p:sp>
        <p:nvSpPr>
          <p:cNvPr id="21" name="TextBox 20"/>
          <p:cNvSpPr txBox="1"/>
          <p:nvPr/>
        </p:nvSpPr>
        <p:spPr>
          <a:xfrm>
            <a:off x="1051560" y="4805172"/>
            <a:ext cx="4727448" cy="662940"/>
          </a:xfrm>
          <a:prstGeom prst="rect">
            <a:avLst/>
          </a:prstGeom>
          <a:noFill/>
        </p:spPr>
        <p:txBody>
          <a:bodyPr wrap="square">
            <a:spAutoFit/>
          </a:bodyPr>
          <a:lstStyle/>
          <a:p>
            <a:r>
              <a:rPr sz="1120">
                <a:solidFill>
                  <a:srgbClr val="132422"/>
                </a:solidFill>
                <a:latin typeface="Malgun Gothic"/>
              </a:rPr>
              <a:t>콘솔 상단에 '장애 조치 진행 중' 상태 표시 확인 → 동시에 웹사이트 새로고침을 반복하며 순간적인 연결 오류 발생 여부 관찰</a:t>
            </a:r>
          </a:p>
        </p:txBody>
      </p:sp>
      <p:sp>
        <p:nvSpPr>
          <p:cNvPr id="22" name="Rectangle 21"/>
          <p:cNvSpPr/>
          <p:nvPr/>
        </p:nvSpPr>
        <p:spPr>
          <a:xfrm>
            <a:off x="6080760" y="2331720"/>
            <a:ext cx="5440680" cy="3246120"/>
          </a:xfrm>
          <a:prstGeom prst="rect">
            <a:avLst/>
          </a:prstGeom>
          <a:solidFill>
            <a:srgbClr val="DFF0E4"/>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45352" y="2441448"/>
            <a:ext cx="5111496" cy="292608"/>
          </a:xfrm>
          <a:prstGeom prst="rect">
            <a:avLst/>
          </a:prstGeom>
          <a:noFill/>
        </p:spPr>
        <p:txBody>
          <a:bodyPr wrap="square">
            <a:spAutoFit/>
          </a:bodyPr>
          <a:lstStyle/>
          <a:p>
            <a:pPr algn="l">
              <a:lnSpc>
                <a:spcPct val="115000"/>
              </a:lnSpc>
            </a:pPr>
            <a:r>
              <a:rPr sz="1250" b="1">
                <a:solidFill>
                  <a:srgbClr val="2E7D4F"/>
                </a:solidFill>
                <a:latin typeface="Malgun Gothic"/>
              </a:rPr>
              <a:t>③ 정상화 (Failback / 복구)</a:t>
            </a:r>
          </a:p>
        </p:txBody>
      </p:sp>
      <p:sp>
        <p:nvSpPr>
          <p:cNvPr id="24" name="Rectangle 23"/>
          <p:cNvSpPr/>
          <p:nvPr/>
        </p:nvSpPr>
        <p:spPr>
          <a:xfrm>
            <a:off x="6245352" y="2834640"/>
            <a:ext cx="292608" cy="292608"/>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45352" y="283464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1</a:t>
            </a:r>
          </a:p>
        </p:txBody>
      </p:sp>
      <p:sp>
        <p:nvSpPr>
          <p:cNvPr id="26" name="TextBox 25"/>
          <p:cNvSpPr txBox="1"/>
          <p:nvPr/>
        </p:nvSpPr>
        <p:spPr>
          <a:xfrm>
            <a:off x="6629400" y="2816352"/>
            <a:ext cx="4727448" cy="883920"/>
          </a:xfrm>
          <a:prstGeom prst="rect">
            <a:avLst/>
          </a:prstGeom>
          <a:noFill/>
        </p:spPr>
        <p:txBody>
          <a:bodyPr wrap="square">
            <a:spAutoFit/>
          </a:bodyPr>
          <a:lstStyle/>
          <a:p>
            <a:r>
              <a:rPr sz="1120">
                <a:solidFill>
                  <a:srgbClr val="132422"/>
                </a:solidFill>
                <a:latin typeface="Malgun Gothic"/>
              </a:rPr>
              <a:t>Failover 완료 후 웹사이트를 새로고침해 정상 서비스 재개 확인(스크린샷/영상 캡처)</a:t>
            </a:r>
          </a:p>
        </p:txBody>
      </p:sp>
      <p:sp>
        <p:nvSpPr>
          <p:cNvPr id="27" name="Rectangle 26"/>
          <p:cNvSpPr/>
          <p:nvPr/>
        </p:nvSpPr>
        <p:spPr>
          <a:xfrm>
            <a:off x="6245352" y="3718560"/>
            <a:ext cx="292608" cy="292608"/>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245352" y="371856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2</a:t>
            </a:r>
          </a:p>
        </p:txBody>
      </p:sp>
      <p:sp>
        <p:nvSpPr>
          <p:cNvPr id="29" name="TextBox 28"/>
          <p:cNvSpPr txBox="1"/>
          <p:nvPr/>
        </p:nvSpPr>
        <p:spPr>
          <a:xfrm>
            <a:off x="6629400" y="3700272"/>
            <a:ext cx="4727448" cy="883920"/>
          </a:xfrm>
          <a:prstGeom prst="rect">
            <a:avLst/>
          </a:prstGeom>
          <a:noFill/>
        </p:spPr>
        <p:txBody>
          <a:bodyPr wrap="square">
            <a:spAutoFit/>
          </a:bodyPr>
          <a:lstStyle/>
          <a:p>
            <a:r>
              <a:rPr sz="1120">
                <a:solidFill>
                  <a:srgbClr val="132422"/>
                </a:solidFill>
                <a:latin typeface="Malgun Gothic"/>
              </a:rPr>
              <a:t>새로 예약 데이터 1건을 실제로 등록해 새 Primary에 정상 저장되는지 확인</a:t>
            </a:r>
          </a:p>
        </p:txBody>
      </p:sp>
      <p:sp>
        <p:nvSpPr>
          <p:cNvPr id="30" name="Rectangle 29"/>
          <p:cNvSpPr/>
          <p:nvPr/>
        </p:nvSpPr>
        <p:spPr>
          <a:xfrm>
            <a:off x="6245352" y="4602480"/>
            <a:ext cx="292608" cy="292608"/>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245352" y="460248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3</a:t>
            </a:r>
          </a:p>
        </p:txBody>
      </p:sp>
      <p:sp>
        <p:nvSpPr>
          <p:cNvPr id="32" name="TextBox 31"/>
          <p:cNvSpPr txBox="1"/>
          <p:nvPr/>
        </p:nvSpPr>
        <p:spPr>
          <a:xfrm>
            <a:off x="6629400" y="4584192"/>
            <a:ext cx="4727448" cy="883920"/>
          </a:xfrm>
          <a:prstGeom prst="rect">
            <a:avLst/>
          </a:prstGeom>
          <a:noFill/>
        </p:spPr>
        <p:txBody>
          <a:bodyPr wrap="square">
            <a:spAutoFit/>
          </a:bodyPr>
          <a:lstStyle/>
          <a:p>
            <a:r>
              <a:rPr sz="1120">
                <a:solidFill>
                  <a:srgbClr val="132422"/>
                </a:solidFill>
                <a:latin typeface="Malgun Gothic"/>
              </a:rPr>
              <a:t>Cloud Monitoring에서 Cloud SQL 가동 시간(Uptime) 그래프에 짧은 중단 구간이 기록되었는지 확인 — 이것이 실제 장애 대응 시간의 증거 자료</a:t>
            </a:r>
          </a:p>
        </p:txBody>
      </p:sp>
      <p:sp>
        <p:nvSpPr>
          <p:cNvPr id="33" name="Rectangle 32"/>
          <p:cNvSpPr/>
          <p:nvPr/>
        </p:nvSpPr>
        <p:spPr>
          <a:xfrm>
            <a:off x="502920" y="5687568"/>
            <a:ext cx="11201400" cy="502920"/>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58368" y="5724144"/>
            <a:ext cx="10881360" cy="438912"/>
          </a:xfrm>
          <a:prstGeom prst="rect">
            <a:avLst/>
          </a:prstGeom>
          <a:noFill/>
        </p:spPr>
        <p:txBody>
          <a:bodyPr wrap="square" anchor="ctr">
            <a:spAutoFit/>
          </a:bodyPr>
          <a:lstStyle/>
          <a:p>
            <a:r>
              <a:rPr sz="1050" b="1">
                <a:solidFill>
                  <a:srgbClr val="0A4E47"/>
                </a:solidFill>
                <a:latin typeface="Malgun Gothic"/>
              </a:rPr>
              <a:t>② 성공 판정 기준: </a:t>
            </a:r>
            <a:r>
              <a:rPr sz="1050">
                <a:solidFill>
                  <a:srgbClr val="132422"/>
                </a:solidFill>
                <a:latin typeface="Malgun Gothic"/>
              </a:rPr>
              <a:t>인스턴스 개요의 '현재 기본 영역'이 원래와 다른 영역으로 바뀌고, 상태가 다시 '실행 가능'으로 돌아오면 성공. 웹사이트는 수 초 내 재연결되어 예약 데이터가 정상 조회되어야 함</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2715768"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장애 테스트 #4 · 담당: DBM</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Cloud SQL Failback (원래 구성으로 복원)</a:t>
            </a:r>
          </a:p>
        </p:txBody>
      </p:sp>
      <p:sp>
        <p:nvSpPr>
          <p:cNvPr id="4" name="Rectangle 3"/>
          <p:cNvSpPr/>
          <p:nvPr/>
        </p:nvSpPr>
        <p:spPr>
          <a:xfrm>
            <a:off x="502920" y="148132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04</a:t>
            </a:r>
          </a:p>
        </p:txBody>
      </p:sp>
      <p:sp>
        <p:nvSpPr>
          <p:cNvPr id="6" name="Rectangle 5"/>
          <p:cNvSpPr/>
          <p:nvPr/>
        </p:nvSpPr>
        <p:spPr>
          <a:xfrm>
            <a:off x="502920" y="1627632"/>
            <a:ext cx="11201400" cy="566928"/>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1673352"/>
            <a:ext cx="10881360" cy="502920"/>
          </a:xfrm>
          <a:prstGeom prst="rect">
            <a:avLst/>
          </a:prstGeom>
          <a:noFill/>
        </p:spPr>
        <p:txBody>
          <a:bodyPr wrap="square">
            <a:spAutoFit/>
          </a:bodyPr>
          <a:lstStyle/>
          <a:p>
            <a:r>
              <a:rPr sz="1050" b="1">
                <a:solidFill>
                  <a:srgbClr val="0A4E47"/>
                </a:solidFill>
                <a:latin typeface="Malgun Gothic"/>
              </a:rPr>
              <a:t>목적: </a:t>
            </a:r>
            <a:r>
              <a:rPr sz="1050">
                <a:solidFill>
                  <a:srgbClr val="44585A"/>
                </a:solidFill>
                <a:latin typeface="Malgun Gothic"/>
              </a:rPr>
              <a:t>Failover로 바뀐 현재 Primary 위치를 원래 영역으로 되돌려 최초 설계된 배치 상태로 복원한다.</a:t>
            </a:r>
          </a:p>
          <a:p>
            <a:r>
              <a:rPr sz="1050" b="1">
                <a:solidFill>
                  <a:srgbClr val="0A4E47"/>
                </a:solidFill>
                <a:latin typeface="Malgun Gothic"/>
              </a:rPr>
              <a:t>사전조건: </a:t>
            </a:r>
            <a:r>
              <a:rPr sz="1050">
                <a:solidFill>
                  <a:srgbClr val="44585A"/>
                </a:solidFill>
                <a:latin typeface="Malgun Gothic"/>
              </a:rPr>
              <a:t>3번 시나리오에서 Failover가 완료되어 서비스가 새 Primary로 정상 운영 중이어야 함</a:t>
            </a:r>
          </a:p>
        </p:txBody>
      </p:sp>
      <p:sp>
        <p:nvSpPr>
          <p:cNvPr id="8" name="Rectangle 7"/>
          <p:cNvSpPr/>
          <p:nvPr/>
        </p:nvSpPr>
        <p:spPr>
          <a:xfrm>
            <a:off x="502920" y="2331720"/>
            <a:ext cx="5440680" cy="3246120"/>
          </a:xfrm>
          <a:prstGeom prst="rect">
            <a:avLst/>
          </a:prstGeom>
          <a:solidFill>
            <a:srgbClr val="F6E1E1"/>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2441448"/>
            <a:ext cx="5111496" cy="292608"/>
          </a:xfrm>
          <a:prstGeom prst="rect">
            <a:avLst/>
          </a:prstGeom>
          <a:noFill/>
        </p:spPr>
        <p:txBody>
          <a:bodyPr wrap="square">
            <a:spAutoFit/>
          </a:bodyPr>
          <a:lstStyle/>
          <a:p>
            <a:pPr algn="l">
              <a:lnSpc>
                <a:spcPct val="115000"/>
              </a:lnSpc>
            </a:pPr>
            <a:r>
              <a:rPr sz="1250" b="1">
                <a:solidFill>
                  <a:srgbClr val="AE3B3B"/>
                </a:solidFill>
                <a:latin typeface="Malgun Gothic"/>
              </a:rPr>
              <a:t>① 장애 유발 (Failover 트리거)</a:t>
            </a:r>
          </a:p>
        </p:txBody>
      </p:sp>
      <p:sp>
        <p:nvSpPr>
          <p:cNvPr id="10" name="Rectangle 9"/>
          <p:cNvSpPr/>
          <p:nvPr/>
        </p:nvSpPr>
        <p:spPr>
          <a:xfrm>
            <a:off x="667512" y="2834640"/>
            <a:ext cx="292608" cy="292608"/>
          </a:xfrm>
          <a:prstGeom prst="rect">
            <a:avLst/>
          </a:prstGeom>
          <a:solidFill>
            <a:srgbClr val="AE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7512" y="283464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1</a:t>
            </a:r>
          </a:p>
        </p:txBody>
      </p:sp>
      <p:sp>
        <p:nvSpPr>
          <p:cNvPr id="12" name="TextBox 11"/>
          <p:cNvSpPr txBox="1"/>
          <p:nvPr/>
        </p:nvSpPr>
        <p:spPr>
          <a:xfrm>
            <a:off x="1051560" y="2816352"/>
            <a:ext cx="4727448" cy="883920"/>
          </a:xfrm>
          <a:prstGeom prst="rect">
            <a:avLst/>
          </a:prstGeom>
          <a:noFill/>
        </p:spPr>
        <p:txBody>
          <a:bodyPr wrap="square">
            <a:spAutoFit/>
          </a:bodyPr>
          <a:lstStyle/>
          <a:p>
            <a:r>
              <a:rPr sz="1120">
                <a:solidFill>
                  <a:srgbClr val="132422"/>
                </a:solidFill>
                <a:latin typeface="Malgun Gothic"/>
              </a:rPr>
              <a:t>(이 슬라이드는 '정상화' 절차이므로 별도 장애 유발 없이 진행)</a:t>
            </a:r>
          </a:p>
        </p:txBody>
      </p:sp>
      <p:sp>
        <p:nvSpPr>
          <p:cNvPr id="13" name="Rectangle 12"/>
          <p:cNvSpPr/>
          <p:nvPr/>
        </p:nvSpPr>
        <p:spPr>
          <a:xfrm>
            <a:off x="667512" y="3718560"/>
            <a:ext cx="292608" cy="292608"/>
          </a:xfrm>
          <a:prstGeom prst="rect">
            <a:avLst/>
          </a:prstGeom>
          <a:solidFill>
            <a:srgbClr val="AE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7512" y="371856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2</a:t>
            </a:r>
          </a:p>
        </p:txBody>
      </p:sp>
      <p:sp>
        <p:nvSpPr>
          <p:cNvPr id="15" name="TextBox 14"/>
          <p:cNvSpPr txBox="1"/>
          <p:nvPr/>
        </p:nvSpPr>
        <p:spPr>
          <a:xfrm>
            <a:off x="1051560" y="3700272"/>
            <a:ext cx="4727448" cy="883920"/>
          </a:xfrm>
          <a:prstGeom prst="rect">
            <a:avLst/>
          </a:prstGeom>
          <a:noFill/>
        </p:spPr>
        <p:txBody>
          <a:bodyPr wrap="square">
            <a:spAutoFit/>
          </a:bodyPr>
          <a:lstStyle/>
          <a:p>
            <a:r>
              <a:rPr sz="1120">
                <a:solidFill>
                  <a:srgbClr val="132422"/>
                </a:solidFill>
                <a:latin typeface="Malgun Gothic"/>
              </a:rPr>
              <a:t>SQL 콘솔 → petclinic-mysql → 다시 한 번 '장애 조치' 버튼 클릭</a:t>
            </a:r>
          </a:p>
        </p:txBody>
      </p:sp>
      <p:sp>
        <p:nvSpPr>
          <p:cNvPr id="16" name="Rectangle 15"/>
          <p:cNvSpPr/>
          <p:nvPr/>
        </p:nvSpPr>
        <p:spPr>
          <a:xfrm>
            <a:off x="667512" y="4602480"/>
            <a:ext cx="292608" cy="292608"/>
          </a:xfrm>
          <a:prstGeom prst="rect">
            <a:avLst/>
          </a:prstGeom>
          <a:solidFill>
            <a:srgbClr val="AE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460248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3</a:t>
            </a:r>
          </a:p>
        </p:txBody>
      </p:sp>
      <p:sp>
        <p:nvSpPr>
          <p:cNvPr id="18" name="TextBox 17"/>
          <p:cNvSpPr txBox="1"/>
          <p:nvPr/>
        </p:nvSpPr>
        <p:spPr>
          <a:xfrm>
            <a:off x="1051560" y="4584192"/>
            <a:ext cx="4727448" cy="883920"/>
          </a:xfrm>
          <a:prstGeom prst="rect">
            <a:avLst/>
          </a:prstGeom>
          <a:noFill/>
        </p:spPr>
        <p:txBody>
          <a:bodyPr wrap="square">
            <a:spAutoFit/>
          </a:bodyPr>
          <a:lstStyle/>
          <a:p>
            <a:r>
              <a:rPr sz="1120">
                <a:solidFill>
                  <a:srgbClr val="132422"/>
                </a:solidFill>
                <a:latin typeface="Malgun Gothic"/>
              </a:rPr>
              <a:t>이번에는 원래 Primary가 있던 영역으로 되돌아가도록 전환 실행</a:t>
            </a:r>
          </a:p>
        </p:txBody>
      </p:sp>
      <p:sp>
        <p:nvSpPr>
          <p:cNvPr id="19" name="Rectangle 18"/>
          <p:cNvSpPr/>
          <p:nvPr/>
        </p:nvSpPr>
        <p:spPr>
          <a:xfrm>
            <a:off x="6080760" y="2331720"/>
            <a:ext cx="5440680" cy="3246120"/>
          </a:xfrm>
          <a:prstGeom prst="rect">
            <a:avLst/>
          </a:prstGeom>
          <a:solidFill>
            <a:srgbClr val="DFF0E4"/>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45352" y="2441448"/>
            <a:ext cx="5111496" cy="292608"/>
          </a:xfrm>
          <a:prstGeom prst="rect">
            <a:avLst/>
          </a:prstGeom>
          <a:noFill/>
        </p:spPr>
        <p:txBody>
          <a:bodyPr wrap="square">
            <a:spAutoFit/>
          </a:bodyPr>
          <a:lstStyle/>
          <a:p>
            <a:pPr algn="l">
              <a:lnSpc>
                <a:spcPct val="115000"/>
              </a:lnSpc>
            </a:pPr>
            <a:r>
              <a:rPr sz="1250" b="1">
                <a:solidFill>
                  <a:srgbClr val="2E7D4F"/>
                </a:solidFill>
                <a:latin typeface="Malgun Gothic"/>
              </a:rPr>
              <a:t>③ 정상화 (Failback / 복구)</a:t>
            </a:r>
          </a:p>
        </p:txBody>
      </p:sp>
      <p:sp>
        <p:nvSpPr>
          <p:cNvPr id="21" name="Rectangle 20"/>
          <p:cNvSpPr/>
          <p:nvPr/>
        </p:nvSpPr>
        <p:spPr>
          <a:xfrm>
            <a:off x="6245352" y="2834640"/>
            <a:ext cx="292608" cy="292608"/>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45352" y="283464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1</a:t>
            </a:r>
          </a:p>
        </p:txBody>
      </p:sp>
      <p:sp>
        <p:nvSpPr>
          <p:cNvPr id="23" name="TextBox 22"/>
          <p:cNvSpPr txBox="1"/>
          <p:nvPr/>
        </p:nvSpPr>
        <p:spPr>
          <a:xfrm>
            <a:off x="6629400" y="2816352"/>
            <a:ext cx="4727448" cy="883920"/>
          </a:xfrm>
          <a:prstGeom prst="rect">
            <a:avLst/>
          </a:prstGeom>
          <a:noFill/>
        </p:spPr>
        <p:txBody>
          <a:bodyPr wrap="square">
            <a:spAutoFit/>
          </a:bodyPr>
          <a:lstStyle/>
          <a:p>
            <a:r>
              <a:rPr sz="1120">
                <a:solidFill>
                  <a:srgbClr val="132422"/>
                </a:solidFill>
                <a:latin typeface="Malgun Gothic"/>
              </a:rPr>
              <a:t>인스턴스 개요에서 기본/보조 영역이 최초 설계값과 일치하는지 확인</a:t>
            </a:r>
          </a:p>
        </p:txBody>
      </p:sp>
      <p:sp>
        <p:nvSpPr>
          <p:cNvPr id="24" name="Rectangle 23"/>
          <p:cNvSpPr/>
          <p:nvPr/>
        </p:nvSpPr>
        <p:spPr>
          <a:xfrm>
            <a:off x="6245352" y="3718560"/>
            <a:ext cx="292608" cy="292608"/>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45352" y="371856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2</a:t>
            </a:r>
          </a:p>
        </p:txBody>
      </p:sp>
      <p:sp>
        <p:nvSpPr>
          <p:cNvPr id="26" name="TextBox 25"/>
          <p:cNvSpPr txBox="1"/>
          <p:nvPr/>
        </p:nvSpPr>
        <p:spPr>
          <a:xfrm>
            <a:off x="6629400" y="3700272"/>
            <a:ext cx="4727448" cy="883920"/>
          </a:xfrm>
          <a:prstGeom prst="rect">
            <a:avLst/>
          </a:prstGeom>
          <a:noFill/>
        </p:spPr>
        <p:txBody>
          <a:bodyPr wrap="square">
            <a:spAutoFit/>
          </a:bodyPr>
          <a:lstStyle/>
          <a:p>
            <a:r>
              <a:rPr sz="1120">
                <a:solidFill>
                  <a:srgbClr val="132422"/>
                </a:solidFill>
                <a:latin typeface="Malgun Gothic"/>
              </a:rPr>
              <a:t>웹사이트에서 3번 시나리오에서 등록했던 예약 데이터가 그대로 조회되는지 확인(데이터 무결성 증명)</a:t>
            </a:r>
          </a:p>
        </p:txBody>
      </p:sp>
      <p:sp>
        <p:nvSpPr>
          <p:cNvPr id="27" name="Rectangle 26"/>
          <p:cNvSpPr/>
          <p:nvPr/>
        </p:nvSpPr>
        <p:spPr>
          <a:xfrm>
            <a:off x="6245352" y="4602480"/>
            <a:ext cx="292608" cy="292608"/>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245352" y="460248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3</a:t>
            </a:r>
          </a:p>
        </p:txBody>
      </p:sp>
      <p:sp>
        <p:nvSpPr>
          <p:cNvPr id="29" name="TextBox 28"/>
          <p:cNvSpPr txBox="1"/>
          <p:nvPr/>
        </p:nvSpPr>
        <p:spPr>
          <a:xfrm>
            <a:off x="6629400" y="4584192"/>
            <a:ext cx="4727448" cy="883920"/>
          </a:xfrm>
          <a:prstGeom prst="rect">
            <a:avLst/>
          </a:prstGeom>
          <a:noFill/>
        </p:spPr>
        <p:txBody>
          <a:bodyPr wrap="square">
            <a:spAutoFit/>
          </a:bodyPr>
          <a:lstStyle/>
          <a:p>
            <a:r>
              <a:rPr sz="1120">
                <a:solidFill>
                  <a:srgbClr val="132422"/>
                </a:solidFill>
                <a:latin typeface="Malgun Gothic"/>
              </a:rPr>
              <a:t>[녹화 종료] 전체 과정(정상→장애→Failover→검증→Failback→재검증) 영상 저장, 파일명에 타임스탬프 포함</a:t>
            </a:r>
          </a:p>
        </p:txBody>
      </p:sp>
      <p:sp>
        <p:nvSpPr>
          <p:cNvPr id="30" name="Rectangle 29"/>
          <p:cNvSpPr/>
          <p:nvPr/>
        </p:nvSpPr>
        <p:spPr>
          <a:xfrm>
            <a:off x="502920" y="5687568"/>
            <a:ext cx="11201400" cy="502920"/>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58368" y="5724144"/>
            <a:ext cx="10881360" cy="438912"/>
          </a:xfrm>
          <a:prstGeom prst="rect">
            <a:avLst/>
          </a:prstGeom>
          <a:noFill/>
        </p:spPr>
        <p:txBody>
          <a:bodyPr wrap="square" anchor="ctr">
            <a:spAutoFit/>
          </a:bodyPr>
          <a:lstStyle/>
          <a:p>
            <a:r>
              <a:rPr sz="1050" b="1">
                <a:solidFill>
                  <a:srgbClr val="0A4E47"/>
                </a:solidFill>
                <a:latin typeface="Malgun Gothic"/>
              </a:rPr>
              <a:t>② 성공 판정 기준: </a:t>
            </a:r>
            <a:r>
              <a:rPr sz="1050">
                <a:solidFill>
                  <a:srgbClr val="132422"/>
                </a:solidFill>
                <a:latin typeface="Malgun Gothic"/>
              </a:rPr>
              <a:t>'현재 기본 영역'이 최초 설계 시 지정했던 영역으로 돌아오면 Failback 성공. 웹사이트 접속 및 예약 조회가 계속 정상 동작해야 함</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4E47"/>
        </a:solidFill>
        <a:effectLst/>
      </p:bgPr>
    </p:bg>
    <p:spTree>
      <p:nvGrpSpPr>
        <p:cNvPr id="1" name=""/>
        <p:cNvGrpSpPr/>
        <p:nvPr/>
      </p:nvGrpSpPr>
      <p:grpSpPr>
        <a:xfrm>
          <a:off x="0" y="0"/>
          <a:ext cx="0" cy="0"/>
          <a:chOff x="0" y="0"/>
          <a:chExt cx="0" cy="0"/>
        </a:xfrm>
      </p:grpSpPr>
      <p:sp>
        <p:nvSpPr>
          <p:cNvPr id="2" name="TextBox 1"/>
          <p:cNvSpPr txBox="1"/>
          <p:nvPr/>
        </p:nvSpPr>
        <p:spPr>
          <a:xfrm>
            <a:off x="731520" y="2377440"/>
            <a:ext cx="2743200" cy="1280160"/>
          </a:xfrm>
          <a:prstGeom prst="rect">
            <a:avLst/>
          </a:prstGeom>
          <a:noFill/>
        </p:spPr>
        <p:txBody>
          <a:bodyPr wrap="square">
            <a:spAutoFit/>
          </a:bodyPr>
          <a:lstStyle/>
          <a:p>
            <a:pPr algn="l">
              <a:lnSpc>
                <a:spcPct val="115000"/>
              </a:lnSpc>
            </a:pPr>
            <a:r>
              <a:rPr sz="7200" b="1">
                <a:solidFill>
                  <a:srgbClr val="3F9A88"/>
                </a:solidFill>
                <a:latin typeface="Malgun Gothic"/>
              </a:rPr>
              <a:t>B</a:t>
            </a:r>
          </a:p>
        </p:txBody>
      </p:sp>
      <p:sp>
        <p:nvSpPr>
          <p:cNvPr id="3" name="TextBox 2"/>
          <p:cNvSpPr txBox="1"/>
          <p:nvPr/>
        </p:nvSpPr>
        <p:spPr>
          <a:xfrm>
            <a:off x="777240" y="3566160"/>
            <a:ext cx="10058400" cy="914400"/>
          </a:xfrm>
          <a:prstGeom prst="rect">
            <a:avLst/>
          </a:prstGeom>
          <a:noFill/>
        </p:spPr>
        <p:txBody>
          <a:bodyPr wrap="square">
            <a:spAutoFit/>
          </a:bodyPr>
          <a:lstStyle/>
          <a:p>
            <a:pPr algn="l">
              <a:lnSpc>
                <a:spcPct val="115000"/>
              </a:lnSpc>
            </a:pPr>
            <a:r>
              <a:rPr sz="3400" b="1">
                <a:solidFill>
                  <a:srgbClr val="FFFFFF"/>
                </a:solidFill>
                <a:latin typeface="Malgun Gothic"/>
              </a:rPr>
              <a:t>나머지 9개 장애 시나리오 테스트</a:t>
            </a:r>
          </a:p>
        </p:txBody>
      </p:sp>
      <p:sp>
        <p:nvSpPr>
          <p:cNvPr id="4" name="TextBox 3"/>
          <p:cNvSpPr txBox="1"/>
          <p:nvPr/>
        </p:nvSpPr>
        <p:spPr>
          <a:xfrm>
            <a:off x="804672" y="4343400"/>
            <a:ext cx="9601200" cy="914400"/>
          </a:xfrm>
          <a:prstGeom prst="rect">
            <a:avLst/>
          </a:prstGeom>
          <a:noFill/>
        </p:spPr>
        <p:txBody>
          <a:bodyPr wrap="square">
            <a:spAutoFit/>
          </a:bodyPr>
          <a:lstStyle/>
          <a:p>
            <a:pPr algn="l">
              <a:lnSpc>
                <a:spcPct val="115000"/>
              </a:lnSpc>
            </a:pPr>
            <a:r>
              <a:rPr sz="1500" b="0">
                <a:solidFill>
                  <a:srgbClr val="DCF3EE"/>
                </a:solidFill>
                <a:latin typeface="Malgun Gothic"/>
              </a:rPr>
              <a:t>각 시나리오도 동일하게 장애 유발 → 판정 기준 → 정상화(Failback) 3단계로 시연합니다.</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2715768"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장애 테스트 #5 · 담당: CMP</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Web/WAS 인스턴스 강제 종료 → 자동 복구</a:t>
            </a:r>
          </a:p>
        </p:txBody>
      </p:sp>
      <p:sp>
        <p:nvSpPr>
          <p:cNvPr id="4" name="Rectangle 3"/>
          <p:cNvSpPr/>
          <p:nvPr/>
        </p:nvSpPr>
        <p:spPr>
          <a:xfrm>
            <a:off x="502920" y="148132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05</a:t>
            </a:r>
          </a:p>
        </p:txBody>
      </p:sp>
      <p:sp>
        <p:nvSpPr>
          <p:cNvPr id="6" name="Rectangle 5"/>
          <p:cNvSpPr/>
          <p:nvPr/>
        </p:nvSpPr>
        <p:spPr>
          <a:xfrm>
            <a:off x="502920" y="1627632"/>
            <a:ext cx="11201400" cy="566928"/>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1673352"/>
            <a:ext cx="10881360" cy="502920"/>
          </a:xfrm>
          <a:prstGeom prst="rect">
            <a:avLst/>
          </a:prstGeom>
          <a:noFill/>
        </p:spPr>
        <p:txBody>
          <a:bodyPr wrap="square">
            <a:spAutoFit/>
          </a:bodyPr>
          <a:lstStyle/>
          <a:p>
            <a:r>
              <a:rPr sz="1050" b="1">
                <a:solidFill>
                  <a:srgbClr val="0A4E47"/>
                </a:solidFill>
                <a:latin typeface="Malgun Gothic"/>
              </a:rPr>
              <a:t>목적: </a:t>
            </a:r>
            <a:r>
              <a:rPr sz="1050">
                <a:solidFill>
                  <a:srgbClr val="44585A"/>
                </a:solidFill>
                <a:latin typeface="Malgun Gothic"/>
              </a:rPr>
              <a:t>MIG의 자동 복구(Self-healing) 기능이 실제로 동작해 죽은 인스턴스를 자동으로 교체하는지 시연</a:t>
            </a:r>
          </a:p>
          <a:p>
            <a:r>
              <a:rPr sz="1050" b="1">
                <a:solidFill>
                  <a:srgbClr val="0A4E47"/>
                </a:solidFill>
                <a:latin typeface="Malgun Gothic"/>
              </a:rPr>
              <a:t>사전조건: </a:t>
            </a:r>
            <a:r>
              <a:rPr sz="1050">
                <a:solidFill>
                  <a:srgbClr val="44585A"/>
                </a:solidFill>
                <a:latin typeface="Malgun Gothic"/>
              </a:rPr>
              <a:t>web-mig 또는 was-mig가 최소 2대 이상 정상 운영 중</a:t>
            </a:r>
          </a:p>
        </p:txBody>
      </p:sp>
      <p:sp>
        <p:nvSpPr>
          <p:cNvPr id="8" name="Rectangle 7"/>
          <p:cNvSpPr/>
          <p:nvPr/>
        </p:nvSpPr>
        <p:spPr>
          <a:xfrm>
            <a:off x="502920" y="2331720"/>
            <a:ext cx="5440680" cy="3246120"/>
          </a:xfrm>
          <a:prstGeom prst="rect">
            <a:avLst/>
          </a:prstGeom>
          <a:solidFill>
            <a:srgbClr val="F6E1E1"/>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2441448"/>
            <a:ext cx="5111496" cy="292608"/>
          </a:xfrm>
          <a:prstGeom prst="rect">
            <a:avLst/>
          </a:prstGeom>
          <a:noFill/>
        </p:spPr>
        <p:txBody>
          <a:bodyPr wrap="square">
            <a:spAutoFit/>
          </a:bodyPr>
          <a:lstStyle/>
          <a:p>
            <a:pPr algn="l">
              <a:lnSpc>
                <a:spcPct val="115000"/>
              </a:lnSpc>
            </a:pPr>
            <a:r>
              <a:rPr sz="1250" b="1">
                <a:solidFill>
                  <a:srgbClr val="AE3B3B"/>
                </a:solidFill>
                <a:latin typeface="Malgun Gothic"/>
              </a:rPr>
              <a:t>① 장애 유발 (Failover 트리거)</a:t>
            </a:r>
          </a:p>
        </p:txBody>
      </p:sp>
      <p:sp>
        <p:nvSpPr>
          <p:cNvPr id="10" name="Rectangle 9"/>
          <p:cNvSpPr/>
          <p:nvPr/>
        </p:nvSpPr>
        <p:spPr>
          <a:xfrm>
            <a:off x="667512" y="2834640"/>
            <a:ext cx="292608" cy="292608"/>
          </a:xfrm>
          <a:prstGeom prst="rect">
            <a:avLst/>
          </a:prstGeom>
          <a:solidFill>
            <a:srgbClr val="AE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7512" y="283464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1</a:t>
            </a:r>
          </a:p>
        </p:txBody>
      </p:sp>
      <p:sp>
        <p:nvSpPr>
          <p:cNvPr id="12" name="TextBox 11"/>
          <p:cNvSpPr txBox="1"/>
          <p:nvPr/>
        </p:nvSpPr>
        <p:spPr>
          <a:xfrm>
            <a:off x="1051560" y="2816352"/>
            <a:ext cx="4727448" cy="883920"/>
          </a:xfrm>
          <a:prstGeom prst="rect">
            <a:avLst/>
          </a:prstGeom>
          <a:noFill/>
        </p:spPr>
        <p:txBody>
          <a:bodyPr wrap="square">
            <a:spAutoFit/>
          </a:bodyPr>
          <a:lstStyle/>
          <a:p>
            <a:r>
              <a:rPr sz="1120">
                <a:solidFill>
                  <a:srgbClr val="132422"/>
                </a:solidFill>
                <a:latin typeface="Malgun Gothic"/>
              </a:rPr>
              <a:t>[녹화 시작] Compute Engine → VM 인스턴스 목록에서 web-mig 소속 인스턴스 1대 확인(정상 상태)</a:t>
            </a:r>
          </a:p>
        </p:txBody>
      </p:sp>
      <p:sp>
        <p:nvSpPr>
          <p:cNvPr id="13" name="Rectangle 12"/>
          <p:cNvSpPr/>
          <p:nvPr/>
        </p:nvSpPr>
        <p:spPr>
          <a:xfrm>
            <a:off x="667512" y="3718560"/>
            <a:ext cx="292608" cy="292608"/>
          </a:xfrm>
          <a:prstGeom prst="rect">
            <a:avLst/>
          </a:prstGeom>
          <a:solidFill>
            <a:srgbClr val="AE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7512" y="371856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2</a:t>
            </a:r>
          </a:p>
        </p:txBody>
      </p:sp>
      <p:sp>
        <p:nvSpPr>
          <p:cNvPr id="15" name="TextBox 14"/>
          <p:cNvSpPr txBox="1"/>
          <p:nvPr/>
        </p:nvSpPr>
        <p:spPr>
          <a:xfrm>
            <a:off x="1051560" y="3700272"/>
            <a:ext cx="4727448" cy="883920"/>
          </a:xfrm>
          <a:prstGeom prst="rect">
            <a:avLst/>
          </a:prstGeom>
          <a:noFill/>
        </p:spPr>
        <p:txBody>
          <a:bodyPr wrap="square">
            <a:spAutoFit/>
          </a:bodyPr>
          <a:lstStyle/>
          <a:p>
            <a:r>
              <a:rPr sz="1120">
                <a:solidFill>
                  <a:srgbClr val="132422"/>
                </a:solidFill>
                <a:latin typeface="Malgun Gothic"/>
              </a:rPr>
              <a:t>해당 인스턴스 선택 → 상단 '삭제' 클릭(또는 '중지'로 강제 종료 재현)</a:t>
            </a:r>
          </a:p>
        </p:txBody>
      </p:sp>
      <p:sp>
        <p:nvSpPr>
          <p:cNvPr id="16" name="Rectangle 15"/>
          <p:cNvSpPr/>
          <p:nvPr/>
        </p:nvSpPr>
        <p:spPr>
          <a:xfrm>
            <a:off x="667512" y="4602480"/>
            <a:ext cx="292608" cy="292608"/>
          </a:xfrm>
          <a:prstGeom prst="rect">
            <a:avLst/>
          </a:prstGeom>
          <a:solidFill>
            <a:srgbClr val="AE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460248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3</a:t>
            </a:r>
          </a:p>
        </p:txBody>
      </p:sp>
      <p:sp>
        <p:nvSpPr>
          <p:cNvPr id="18" name="TextBox 17"/>
          <p:cNvSpPr txBox="1"/>
          <p:nvPr/>
        </p:nvSpPr>
        <p:spPr>
          <a:xfrm>
            <a:off x="1051560" y="4584192"/>
            <a:ext cx="4727448" cy="883920"/>
          </a:xfrm>
          <a:prstGeom prst="rect">
            <a:avLst/>
          </a:prstGeom>
          <a:noFill/>
        </p:spPr>
        <p:txBody>
          <a:bodyPr wrap="square">
            <a:spAutoFit/>
          </a:bodyPr>
          <a:lstStyle/>
          <a:p>
            <a:r>
              <a:rPr sz="1120">
                <a:solidFill>
                  <a:srgbClr val="132422"/>
                </a:solidFill>
                <a:latin typeface="Malgun Gothic"/>
              </a:rPr>
              <a:t>인스턴스 그룹(web-mig) 화면으로 이동해 '인스턴스' 탭에서 실시간 변화 관찰</a:t>
            </a:r>
          </a:p>
        </p:txBody>
      </p:sp>
      <p:sp>
        <p:nvSpPr>
          <p:cNvPr id="19" name="Rectangle 18"/>
          <p:cNvSpPr/>
          <p:nvPr/>
        </p:nvSpPr>
        <p:spPr>
          <a:xfrm>
            <a:off x="6080760" y="2331720"/>
            <a:ext cx="5440680" cy="3246120"/>
          </a:xfrm>
          <a:prstGeom prst="rect">
            <a:avLst/>
          </a:prstGeom>
          <a:solidFill>
            <a:srgbClr val="DFF0E4"/>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45352" y="2441448"/>
            <a:ext cx="5111496" cy="292608"/>
          </a:xfrm>
          <a:prstGeom prst="rect">
            <a:avLst/>
          </a:prstGeom>
          <a:noFill/>
        </p:spPr>
        <p:txBody>
          <a:bodyPr wrap="square">
            <a:spAutoFit/>
          </a:bodyPr>
          <a:lstStyle/>
          <a:p>
            <a:pPr algn="l">
              <a:lnSpc>
                <a:spcPct val="115000"/>
              </a:lnSpc>
            </a:pPr>
            <a:r>
              <a:rPr sz="1250" b="1">
                <a:solidFill>
                  <a:srgbClr val="2E7D4F"/>
                </a:solidFill>
                <a:latin typeface="Malgun Gothic"/>
              </a:rPr>
              <a:t>③ 정상화 (Failback / 복구)</a:t>
            </a:r>
          </a:p>
        </p:txBody>
      </p:sp>
      <p:sp>
        <p:nvSpPr>
          <p:cNvPr id="21" name="Rectangle 20"/>
          <p:cNvSpPr/>
          <p:nvPr/>
        </p:nvSpPr>
        <p:spPr>
          <a:xfrm>
            <a:off x="6245352" y="2834640"/>
            <a:ext cx="292608" cy="292608"/>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45352" y="283464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1</a:t>
            </a:r>
          </a:p>
        </p:txBody>
      </p:sp>
      <p:sp>
        <p:nvSpPr>
          <p:cNvPr id="23" name="TextBox 22"/>
          <p:cNvSpPr txBox="1"/>
          <p:nvPr/>
        </p:nvSpPr>
        <p:spPr>
          <a:xfrm>
            <a:off x="6629400" y="2816352"/>
            <a:ext cx="4727448" cy="883920"/>
          </a:xfrm>
          <a:prstGeom prst="rect">
            <a:avLst/>
          </a:prstGeom>
          <a:noFill/>
        </p:spPr>
        <p:txBody>
          <a:bodyPr wrap="square">
            <a:spAutoFit/>
          </a:bodyPr>
          <a:lstStyle/>
          <a:p>
            <a:r>
              <a:rPr sz="1120">
                <a:solidFill>
                  <a:srgbClr val="132422"/>
                </a:solidFill>
                <a:latin typeface="Malgun Gothic"/>
              </a:rPr>
              <a:t>(별도 Failback 불필요 — 자동 재생성 자체가 정상화 절차)</a:t>
            </a:r>
          </a:p>
        </p:txBody>
      </p:sp>
      <p:sp>
        <p:nvSpPr>
          <p:cNvPr id="24" name="Rectangle 23"/>
          <p:cNvSpPr/>
          <p:nvPr/>
        </p:nvSpPr>
        <p:spPr>
          <a:xfrm>
            <a:off x="6245352" y="3718560"/>
            <a:ext cx="292608" cy="292608"/>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45352" y="371856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2</a:t>
            </a:r>
          </a:p>
        </p:txBody>
      </p:sp>
      <p:sp>
        <p:nvSpPr>
          <p:cNvPr id="26" name="TextBox 25"/>
          <p:cNvSpPr txBox="1"/>
          <p:nvPr/>
        </p:nvSpPr>
        <p:spPr>
          <a:xfrm>
            <a:off x="6629400" y="3700272"/>
            <a:ext cx="4727448" cy="883920"/>
          </a:xfrm>
          <a:prstGeom prst="rect">
            <a:avLst/>
          </a:prstGeom>
          <a:noFill/>
        </p:spPr>
        <p:txBody>
          <a:bodyPr wrap="square">
            <a:spAutoFit/>
          </a:bodyPr>
          <a:lstStyle/>
          <a:p>
            <a:r>
              <a:rPr sz="1120">
                <a:solidFill>
                  <a:srgbClr val="132422"/>
                </a:solidFill>
                <a:latin typeface="Malgun Gothic"/>
              </a:rPr>
              <a:t>MIG '인스턴스' 탭에서 목표 대수(예: 2대)와 실제 대수가 일치하는지 최종 확인</a:t>
            </a:r>
          </a:p>
        </p:txBody>
      </p:sp>
      <p:sp>
        <p:nvSpPr>
          <p:cNvPr id="27" name="Rectangle 26"/>
          <p:cNvSpPr/>
          <p:nvPr/>
        </p:nvSpPr>
        <p:spPr>
          <a:xfrm>
            <a:off x="6245352" y="4602480"/>
            <a:ext cx="292608" cy="292608"/>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245352" y="460248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3</a:t>
            </a:r>
          </a:p>
        </p:txBody>
      </p:sp>
      <p:sp>
        <p:nvSpPr>
          <p:cNvPr id="29" name="TextBox 28"/>
          <p:cNvSpPr txBox="1"/>
          <p:nvPr/>
        </p:nvSpPr>
        <p:spPr>
          <a:xfrm>
            <a:off x="6629400" y="4584192"/>
            <a:ext cx="4727448" cy="883920"/>
          </a:xfrm>
          <a:prstGeom prst="rect">
            <a:avLst/>
          </a:prstGeom>
          <a:noFill/>
        </p:spPr>
        <p:txBody>
          <a:bodyPr wrap="square">
            <a:spAutoFit/>
          </a:bodyPr>
          <a:lstStyle/>
          <a:p>
            <a:r>
              <a:rPr sz="1120">
                <a:solidFill>
                  <a:srgbClr val="132422"/>
                </a:solidFill>
                <a:latin typeface="Malgun Gothic"/>
              </a:rPr>
              <a:t>[녹화 종료] 삭제~재생성 완료까지 걸린 시간 기록</a:t>
            </a:r>
          </a:p>
        </p:txBody>
      </p:sp>
      <p:sp>
        <p:nvSpPr>
          <p:cNvPr id="30" name="Rectangle 29"/>
          <p:cNvSpPr/>
          <p:nvPr/>
        </p:nvSpPr>
        <p:spPr>
          <a:xfrm>
            <a:off x="502920" y="5687568"/>
            <a:ext cx="11201400" cy="502920"/>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58368" y="5724144"/>
            <a:ext cx="10881360" cy="438912"/>
          </a:xfrm>
          <a:prstGeom prst="rect">
            <a:avLst/>
          </a:prstGeom>
          <a:noFill/>
        </p:spPr>
        <p:txBody>
          <a:bodyPr wrap="square" anchor="ctr">
            <a:spAutoFit/>
          </a:bodyPr>
          <a:lstStyle/>
          <a:p>
            <a:r>
              <a:rPr sz="1050" b="1">
                <a:solidFill>
                  <a:srgbClr val="0A4E47"/>
                </a:solidFill>
                <a:latin typeface="Malgun Gothic"/>
              </a:rPr>
              <a:t>② 성공 판정 기준: </a:t>
            </a:r>
            <a:r>
              <a:rPr sz="1050">
                <a:solidFill>
                  <a:srgbClr val="132422"/>
                </a:solidFill>
                <a:latin typeface="Malgun Gothic"/>
              </a:rPr>
              <a:t>삭제된 인스턴스 자리에 새 인스턴스가 자동 생성되고, 상태가 '실행 중 + 정상(Healthy)'으로 표시되면 성공. 이 과정 동안 외부 LB를 통한 웹 접속은 중단 없이 유지되어야 함</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2715768"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장애 테스트 #6 · 담당: CMP</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부하 급증 → 오토스케일 아웃/인</a:t>
            </a:r>
          </a:p>
        </p:txBody>
      </p:sp>
      <p:sp>
        <p:nvSpPr>
          <p:cNvPr id="4" name="Rectangle 3"/>
          <p:cNvSpPr/>
          <p:nvPr/>
        </p:nvSpPr>
        <p:spPr>
          <a:xfrm>
            <a:off x="502920" y="148132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06</a:t>
            </a:r>
          </a:p>
        </p:txBody>
      </p:sp>
      <p:sp>
        <p:nvSpPr>
          <p:cNvPr id="6" name="Rectangle 5"/>
          <p:cNvSpPr/>
          <p:nvPr/>
        </p:nvSpPr>
        <p:spPr>
          <a:xfrm>
            <a:off x="502920" y="1627632"/>
            <a:ext cx="11201400" cy="566928"/>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1673352"/>
            <a:ext cx="10881360" cy="502920"/>
          </a:xfrm>
          <a:prstGeom prst="rect">
            <a:avLst/>
          </a:prstGeom>
          <a:noFill/>
        </p:spPr>
        <p:txBody>
          <a:bodyPr wrap="square">
            <a:spAutoFit/>
          </a:bodyPr>
          <a:lstStyle/>
          <a:p>
            <a:r>
              <a:rPr sz="1050" b="1">
                <a:solidFill>
                  <a:srgbClr val="0A4E47"/>
                </a:solidFill>
                <a:latin typeface="Malgun Gothic"/>
              </a:rPr>
              <a:t>목적: </a:t>
            </a:r>
            <a:r>
              <a:rPr sz="1050">
                <a:solidFill>
                  <a:srgbClr val="44585A"/>
                </a:solidFill>
                <a:latin typeface="Malgun Gothic"/>
              </a:rPr>
              <a:t>트래픽 몰림 시 MIG가 자동으로 서버를 증설하고, 부하 해소 후 다시 축소하는 전 과정 시연</a:t>
            </a:r>
          </a:p>
          <a:p>
            <a:r>
              <a:rPr sz="1050" b="1">
                <a:solidFill>
                  <a:srgbClr val="0A4E47"/>
                </a:solidFill>
                <a:latin typeface="Malgun Gothic"/>
              </a:rPr>
              <a:t>사전조건: </a:t>
            </a:r>
            <a:r>
              <a:rPr sz="1050">
                <a:solidFill>
                  <a:srgbClr val="44585A"/>
                </a:solidFill>
                <a:latin typeface="Malgun Gothic"/>
              </a:rPr>
              <a:t>Autoscaler가 CPU 60% 목표로 활성화되어 있어야 함</a:t>
            </a:r>
          </a:p>
        </p:txBody>
      </p:sp>
      <p:sp>
        <p:nvSpPr>
          <p:cNvPr id="8" name="Rectangle 7"/>
          <p:cNvSpPr/>
          <p:nvPr/>
        </p:nvSpPr>
        <p:spPr>
          <a:xfrm>
            <a:off x="502920" y="2331720"/>
            <a:ext cx="5440680" cy="3246120"/>
          </a:xfrm>
          <a:prstGeom prst="rect">
            <a:avLst/>
          </a:prstGeom>
          <a:solidFill>
            <a:srgbClr val="F6E1E1"/>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2441448"/>
            <a:ext cx="5111496" cy="292608"/>
          </a:xfrm>
          <a:prstGeom prst="rect">
            <a:avLst/>
          </a:prstGeom>
          <a:noFill/>
        </p:spPr>
        <p:txBody>
          <a:bodyPr wrap="square">
            <a:spAutoFit/>
          </a:bodyPr>
          <a:lstStyle/>
          <a:p>
            <a:pPr algn="l">
              <a:lnSpc>
                <a:spcPct val="115000"/>
              </a:lnSpc>
            </a:pPr>
            <a:r>
              <a:rPr sz="1250" b="1">
                <a:solidFill>
                  <a:srgbClr val="AE3B3B"/>
                </a:solidFill>
                <a:latin typeface="Malgun Gothic"/>
              </a:rPr>
              <a:t>① 장애 유발 (Failover 트리거)</a:t>
            </a:r>
          </a:p>
        </p:txBody>
      </p:sp>
      <p:sp>
        <p:nvSpPr>
          <p:cNvPr id="10" name="Rectangle 9"/>
          <p:cNvSpPr/>
          <p:nvPr/>
        </p:nvSpPr>
        <p:spPr>
          <a:xfrm>
            <a:off x="667512" y="2834640"/>
            <a:ext cx="292608" cy="292608"/>
          </a:xfrm>
          <a:prstGeom prst="rect">
            <a:avLst/>
          </a:prstGeom>
          <a:solidFill>
            <a:srgbClr val="AE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7512" y="283464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1</a:t>
            </a:r>
          </a:p>
        </p:txBody>
      </p:sp>
      <p:sp>
        <p:nvSpPr>
          <p:cNvPr id="12" name="TextBox 11"/>
          <p:cNvSpPr txBox="1"/>
          <p:nvPr/>
        </p:nvSpPr>
        <p:spPr>
          <a:xfrm>
            <a:off x="1051560" y="2816352"/>
            <a:ext cx="4727448" cy="883920"/>
          </a:xfrm>
          <a:prstGeom prst="rect">
            <a:avLst/>
          </a:prstGeom>
          <a:noFill/>
        </p:spPr>
        <p:txBody>
          <a:bodyPr wrap="square">
            <a:spAutoFit/>
          </a:bodyPr>
          <a:lstStyle/>
          <a:p>
            <a:r>
              <a:rPr sz="1120">
                <a:solidFill>
                  <a:srgbClr val="132422"/>
                </a:solidFill>
                <a:latin typeface="Malgun Gothic"/>
              </a:rPr>
              <a:t>[녹화 시작] 부하테스트 도구(JMeter 등) 또는 stress-ng를 was VM 내부에서 실행해 인위적으로 CPU 사용률을 급상승시킴</a:t>
            </a:r>
          </a:p>
        </p:txBody>
      </p:sp>
      <p:sp>
        <p:nvSpPr>
          <p:cNvPr id="13" name="Rectangle 12"/>
          <p:cNvSpPr/>
          <p:nvPr/>
        </p:nvSpPr>
        <p:spPr>
          <a:xfrm>
            <a:off x="667512" y="3718560"/>
            <a:ext cx="292608" cy="292608"/>
          </a:xfrm>
          <a:prstGeom prst="rect">
            <a:avLst/>
          </a:prstGeom>
          <a:solidFill>
            <a:srgbClr val="AE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7512" y="371856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2</a:t>
            </a:r>
          </a:p>
        </p:txBody>
      </p:sp>
      <p:sp>
        <p:nvSpPr>
          <p:cNvPr id="15" name="TextBox 14"/>
          <p:cNvSpPr txBox="1"/>
          <p:nvPr/>
        </p:nvSpPr>
        <p:spPr>
          <a:xfrm>
            <a:off x="1051560" y="3700272"/>
            <a:ext cx="4727448" cy="883920"/>
          </a:xfrm>
          <a:prstGeom prst="rect">
            <a:avLst/>
          </a:prstGeom>
          <a:noFill/>
        </p:spPr>
        <p:txBody>
          <a:bodyPr wrap="square">
            <a:spAutoFit/>
          </a:bodyPr>
          <a:lstStyle/>
          <a:p>
            <a:r>
              <a:rPr sz="1120">
                <a:solidFill>
                  <a:srgbClr val="132422"/>
                </a:solidFill>
                <a:latin typeface="Malgun Gothic"/>
              </a:rPr>
              <a:t>Compute Engine → 인스턴스 그룹 → was-mig → 모니터링 탭에서 CPU 그래프 상승 관찰</a:t>
            </a:r>
          </a:p>
        </p:txBody>
      </p:sp>
      <p:sp>
        <p:nvSpPr>
          <p:cNvPr id="16" name="Rectangle 15"/>
          <p:cNvSpPr/>
          <p:nvPr/>
        </p:nvSpPr>
        <p:spPr>
          <a:xfrm>
            <a:off x="667512" y="4602480"/>
            <a:ext cx="292608" cy="292608"/>
          </a:xfrm>
          <a:prstGeom prst="rect">
            <a:avLst/>
          </a:prstGeom>
          <a:solidFill>
            <a:srgbClr val="AE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460248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3</a:t>
            </a:r>
          </a:p>
        </p:txBody>
      </p:sp>
      <p:sp>
        <p:nvSpPr>
          <p:cNvPr id="18" name="TextBox 17"/>
          <p:cNvSpPr txBox="1"/>
          <p:nvPr/>
        </p:nvSpPr>
        <p:spPr>
          <a:xfrm>
            <a:off x="1051560" y="4584192"/>
            <a:ext cx="4727448" cy="883920"/>
          </a:xfrm>
          <a:prstGeom prst="rect">
            <a:avLst/>
          </a:prstGeom>
          <a:noFill/>
        </p:spPr>
        <p:txBody>
          <a:bodyPr wrap="square">
            <a:spAutoFit/>
          </a:bodyPr>
          <a:lstStyle/>
          <a:p>
            <a:r>
              <a:rPr sz="1120">
                <a:solidFill>
                  <a:srgbClr val="132422"/>
                </a:solidFill>
                <a:latin typeface="Malgun Gothic"/>
              </a:rPr>
              <a:t>5분 지속 후 오토스케일러가 목표치 초과를 감지해 인스턴스를 추가 생성하는지 관찰</a:t>
            </a:r>
          </a:p>
        </p:txBody>
      </p:sp>
      <p:sp>
        <p:nvSpPr>
          <p:cNvPr id="19" name="Rectangle 18"/>
          <p:cNvSpPr/>
          <p:nvPr/>
        </p:nvSpPr>
        <p:spPr>
          <a:xfrm>
            <a:off x="6080760" y="2331720"/>
            <a:ext cx="5440680" cy="3246120"/>
          </a:xfrm>
          <a:prstGeom prst="rect">
            <a:avLst/>
          </a:prstGeom>
          <a:solidFill>
            <a:srgbClr val="DFF0E4"/>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45352" y="2441448"/>
            <a:ext cx="5111496" cy="292608"/>
          </a:xfrm>
          <a:prstGeom prst="rect">
            <a:avLst/>
          </a:prstGeom>
          <a:noFill/>
        </p:spPr>
        <p:txBody>
          <a:bodyPr wrap="square">
            <a:spAutoFit/>
          </a:bodyPr>
          <a:lstStyle/>
          <a:p>
            <a:pPr algn="l">
              <a:lnSpc>
                <a:spcPct val="115000"/>
              </a:lnSpc>
            </a:pPr>
            <a:r>
              <a:rPr sz="1250" b="1">
                <a:solidFill>
                  <a:srgbClr val="2E7D4F"/>
                </a:solidFill>
                <a:latin typeface="Malgun Gothic"/>
              </a:rPr>
              <a:t>③ 정상화 (Failback / 복구)</a:t>
            </a:r>
          </a:p>
        </p:txBody>
      </p:sp>
      <p:sp>
        <p:nvSpPr>
          <p:cNvPr id="21" name="Rectangle 20"/>
          <p:cNvSpPr/>
          <p:nvPr/>
        </p:nvSpPr>
        <p:spPr>
          <a:xfrm>
            <a:off x="6245352" y="2834640"/>
            <a:ext cx="292608" cy="292608"/>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45352" y="283464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1</a:t>
            </a:r>
          </a:p>
        </p:txBody>
      </p:sp>
      <p:sp>
        <p:nvSpPr>
          <p:cNvPr id="23" name="TextBox 22"/>
          <p:cNvSpPr txBox="1"/>
          <p:nvPr/>
        </p:nvSpPr>
        <p:spPr>
          <a:xfrm>
            <a:off x="6629400" y="2816352"/>
            <a:ext cx="4727448" cy="883920"/>
          </a:xfrm>
          <a:prstGeom prst="rect">
            <a:avLst/>
          </a:prstGeom>
          <a:noFill/>
        </p:spPr>
        <p:txBody>
          <a:bodyPr wrap="square">
            <a:spAutoFit/>
          </a:bodyPr>
          <a:lstStyle/>
          <a:p>
            <a:r>
              <a:rPr sz="1120">
                <a:solidFill>
                  <a:srgbClr val="132422"/>
                </a:solidFill>
                <a:latin typeface="Malgun Gothic"/>
              </a:rPr>
              <a:t>부하 생성 도구를 중지해 CPU 사용률을 정상 수준으로 낮춤</a:t>
            </a:r>
          </a:p>
        </p:txBody>
      </p:sp>
      <p:sp>
        <p:nvSpPr>
          <p:cNvPr id="24" name="Rectangle 23"/>
          <p:cNvSpPr/>
          <p:nvPr/>
        </p:nvSpPr>
        <p:spPr>
          <a:xfrm>
            <a:off x="6245352" y="3718560"/>
            <a:ext cx="292608" cy="292608"/>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45352" y="371856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2</a:t>
            </a:r>
          </a:p>
        </p:txBody>
      </p:sp>
      <p:sp>
        <p:nvSpPr>
          <p:cNvPr id="26" name="TextBox 25"/>
          <p:cNvSpPr txBox="1"/>
          <p:nvPr/>
        </p:nvSpPr>
        <p:spPr>
          <a:xfrm>
            <a:off x="6629400" y="3700272"/>
            <a:ext cx="4727448" cy="883920"/>
          </a:xfrm>
          <a:prstGeom prst="rect">
            <a:avLst/>
          </a:prstGeom>
          <a:noFill/>
        </p:spPr>
        <p:txBody>
          <a:bodyPr wrap="square">
            <a:spAutoFit/>
          </a:bodyPr>
          <a:lstStyle/>
          <a:p>
            <a:r>
              <a:rPr sz="1120">
                <a:solidFill>
                  <a:srgbClr val="132422"/>
                </a:solidFill>
                <a:latin typeface="Malgun Gothic"/>
              </a:rPr>
              <a:t>쿨다운(300초) 경과 후 MIG가 자동으로 인스턴스를 최소치로 축소(스케일인)하는지 관찰</a:t>
            </a:r>
          </a:p>
        </p:txBody>
      </p:sp>
      <p:sp>
        <p:nvSpPr>
          <p:cNvPr id="27" name="Rectangle 26"/>
          <p:cNvSpPr/>
          <p:nvPr/>
        </p:nvSpPr>
        <p:spPr>
          <a:xfrm>
            <a:off x="6245352" y="4602480"/>
            <a:ext cx="292608" cy="292608"/>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245352" y="460248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3</a:t>
            </a:r>
          </a:p>
        </p:txBody>
      </p:sp>
      <p:sp>
        <p:nvSpPr>
          <p:cNvPr id="29" name="TextBox 28"/>
          <p:cNvSpPr txBox="1"/>
          <p:nvPr/>
        </p:nvSpPr>
        <p:spPr>
          <a:xfrm>
            <a:off x="6629400" y="4584192"/>
            <a:ext cx="4727448" cy="883920"/>
          </a:xfrm>
          <a:prstGeom prst="rect">
            <a:avLst/>
          </a:prstGeom>
          <a:noFill/>
        </p:spPr>
        <p:txBody>
          <a:bodyPr wrap="square">
            <a:spAutoFit/>
          </a:bodyPr>
          <a:lstStyle/>
          <a:p>
            <a:r>
              <a:rPr sz="1120">
                <a:solidFill>
                  <a:srgbClr val="132422"/>
                </a:solidFill>
                <a:latin typeface="Malgun Gothic"/>
              </a:rPr>
              <a:t>[녹화 종료] 스케일아웃~스케일인 전체 소요 시간 기록</a:t>
            </a:r>
          </a:p>
        </p:txBody>
      </p:sp>
      <p:sp>
        <p:nvSpPr>
          <p:cNvPr id="30" name="Rectangle 29"/>
          <p:cNvSpPr/>
          <p:nvPr/>
        </p:nvSpPr>
        <p:spPr>
          <a:xfrm>
            <a:off x="502920" y="5687568"/>
            <a:ext cx="11201400" cy="502920"/>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58368" y="5724144"/>
            <a:ext cx="10881360" cy="438912"/>
          </a:xfrm>
          <a:prstGeom prst="rect">
            <a:avLst/>
          </a:prstGeom>
          <a:noFill/>
        </p:spPr>
        <p:txBody>
          <a:bodyPr wrap="square" anchor="ctr">
            <a:spAutoFit/>
          </a:bodyPr>
          <a:lstStyle/>
          <a:p>
            <a:r>
              <a:rPr sz="1050" b="1">
                <a:solidFill>
                  <a:srgbClr val="0A4E47"/>
                </a:solidFill>
                <a:latin typeface="Malgun Gothic"/>
              </a:rPr>
              <a:t>② 성공 판정 기준: </a:t>
            </a:r>
            <a:r>
              <a:rPr sz="1050">
                <a:solidFill>
                  <a:srgbClr val="132422"/>
                </a:solidFill>
                <a:latin typeface="Malgun Gothic"/>
              </a:rPr>
              <a:t>was-mig의 인스턴스 수가 최소치(2대)에서 자동으로 증가하고, 신규 인스턴스가 Internal LB 백엔드에 자동 등록되는지가 성공 기준</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2715768"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장애 테스트 #7 · 담당: CMP</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단일 Zone 장애 시뮬레이션</a:t>
            </a:r>
          </a:p>
        </p:txBody>
      </p:sp>
      <p:sp>
        <p:nvSpPr>
          <p:cNvPr id="4" name="Rectangle 3"/>
          <p:cNvSpPr/>
          <p:nvPr/>
        </p:nvSpPr>
        <p:spPr>
          <a:xfrm>
            <a:off x="502920" y="148132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07</a:t>
            </a:r>
          </a:p>
        </p:txBody>
      </p:sp>
      <p:sp>
        <p:nvSpPr>
          <p:cNvPr id="6" name="Rectangle 5"/>
          <p:cNvSpPr/>
          <p:nvPr/>
        </p:nvSpPr>
        <p:spPr>
          <a:xfrm>
            <a:off x="502920" y="1627632"/>
            <a:ext cx="11201400" cy="566928"/>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1673352"/>
            <a:ext cx="10881360" cy="502920"/>
          </a:xfrm>
          <a:prstGeom prst="rect">
            <a:avLst/>
          </a:prstGeom>
          <a:noFill/>
        </p:spPr>
        <p:txBody>
          <a:bodyPr wrap="square">
            <a:spAutoFit/>
          </a:bodyPr>
          <a:lstStyle/>
          <a:p>
            <a:r>
              <a:rPr sz="1050" b="1">
                <a:solidFill>
                  <a:srgbClr val="0A4E47"/>
                </a:solidFill>
                <a:latin typeface="Malgun Gothic"/>
              </a:rPr>
              <a:t>목적: </a:t>
            </a:r>
            <a:r>
              <a:rPr sz="1050">
                <a:solidFill>
                  <a:srgbClr val="44585A"/>
                </a:solidFill>
                <a:latin typeface="Malgun Gothic"/>
              </a:rPr>
              <a:t>한 가용 영역(Zone) 전체가 마비되어도 다른 Zone의 인스턴스가 서비스를 계속 처리함을 시연</a:t>
            </a:r>
          </a:p>
          <a:p>
            <a:r>
              <a:rPr sz="1050" b="1">
                <a:solidFill>
                  <a:srgbClr val="0A4E47"/>
                </a:solidFill>
                <a:latin typeface="Malgun Gothic"/>
              </a:rPr>
              <a:t>사전조건: </a:t>
            </a:r>
            <a:r>
              <a:rPr sz="1050">
                <a:solidFill>
                  <a:srgbClr val="44585A"/>
                </a:solidFill>
                <a:latin typeface="Malgun Gothic"/>
              </a:rPr>
              <a:t>web-mig, was-mig가 최소 2개 Zone에 분산 배치되어 있어야 함</a:t>
            </a:r>
          </a:p>
        </p:txBody>
      </p:sp>
      <p:sp>
        <p:nvSpPr>
          <p:cNvPr id="8" name="Rectangle 7"/>
          <p:cNvSpPr/>
          <p:nvPr/>
        </p:nvSpPr>
        <p:spPr>
          <a:xfrm>
            <a:off x="502920" y="2331720"/>
            <a:ext cx="5440680" cy="3246120"/>
          </a:xfrm>
          <a:prstGeom prst="rect">
            <a:avLst/>
          </a:prstGeom>
          <a:solidFill>
            <a:srgbClr val="F6E1E1"/>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2441448"/>
            <a:ext cx="5111496" cy="292608"/>
          </a:xfrm>
          <a:prstGeom prst="rect">
            <a:avLst/>
          </a:prstGeom>
          <a:noFill/>
        </p:spPr>
        <p:txBody>
          <a:bodyPr wrap="square">
            <a:spAutoFit/>
          </a:bodyPr>
          <a:lstStyle/>
          <a:p>
            <a:pPr algn="l">
              <a:lnSpc>
                <a:spcPct val="115000"/>
              </a:lnSpc>
            </a:pPr>
            <a:r>
              <a:rPr sz="1250" b="1">
                <a:solidFill>
                  <a:srgbClr val="AE3B3B"/>
                </a:solidFill>
                <a:latin typeface="Malgun Gothic"/>
              </a:rPr>
              <a:t>① 장애 유발 (Failover 트리거)</a:t>
            </a:r>
          </a:p>
        </p:txBody>
      </p:sp>
      <p:sp>
        <p:nvSpPr>
          <p:cNvPr id="10" name="Rectangle 9"/>
          <p:cNvSpPr/>
          <p:nvPr/>
        </p:nvSpPr>
        <p:spPr>
          <a:xfrm>
            <a:off x="667512" y="2834640"/>
            <a:ext cx="292608" cy="292608"/>
          </a:xfrm>
          <a:prstGeom prst="rect">
            <a:avLst/>
          </a:prstGeom>
          <a:solidFill>
            <a:srgbClr val="AE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7512" y="283464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1</a:t>
            </a:r>
          </a:p>
        </p:txBody>
      </p:sp>
      <p:sp>
        <p:nvSpPr>
          <p:cNvPr id="12" name="TextBox 11"/>
          <p:cNvSpPr txBox="1"/>
          <p:nvPr/>
        </p:nvSpPr>
        <p:spPr>
          <a:xfrm>
            <a:off x="1051560" y="2816352"/>
            <a:ext cx="4727448" cy="883920"/>
          </a:xfrm>
          <a:prstGeom prst="rect">
            <a:avLst/>
          </a:prstGeom>
          <a:noFill/>
        </p:spPr>
        <p:txBody>
          <a:bodyPr wrap="square">
            <a:spAutoFit/>
          </a:bodyPr>
          <a:lstStyle/>
          <a:p>
            <a:r>
              <a:rPr sz="1120">
                <a:solidFill>
                  <a:srgbClr val="132422"/>
                </a:solidFill>
                <a:latin typeface="Malgun Gothic"/>
              </a:rPr>
              <a:t>[녹화 시작] 인스턴스 그룹 화면에서 특정 Zone(예: asia-northeast3-a) 소속 인스턴스 전체를 확인</a:t>
            </a:r>
          </a:p>
        </p:txBody>
      </p:sp>
      <p:sp>
        <p:nvSpPr>
          <p:cNvPr id="13" name="Rectangle 12"/>
          <p:cNvSpPr/>
          <p:nvPr/>
        </p:nvSpPr>
        <p:spPr>
          <a:xfrm>
            <a:off x="667512" y="3718560"/>
            <a:ext cx="292608" cy="292608"/>
          </a:xfrm>
          <a:prstGeom prst="rect">
            <a:avLst/>
          </a:prstGeom>
          <a:solidFill>
            <a:srgbClr val="AE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7512" y="371856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2</a:t>
            </a:r>
          </a:p>
        </p:txBody>
      </p:sp>
      <p:sp>
        <p:nvSpPr>
          <p:cNvPr id="15" name="TextBox 14"/>
          <p:cNvSpPr txBox="1"/>
          <p:nvPr/>
        </p:nvSpPr>
        <p:spPr>
          <a:xfrm>
            <a:off x="1051560" y="3700272"/>
            <a:ext cx="4727448" cy="883920"/>
          </a:xfrm>
          <a:prstGeom prst="rect">
            <a:avLst/>
          </a:prstGeom>
          <a:noFill/>
        </p:spPr>
        <p:txBody>
          <a:bodyPr wrap="square">
            <a:spAutoFit/>
          </a:bodyPr>
          <a:lstStyle/>
          <a:p>
            <a:r>
              <a:rPr sz="1120">
                <a:solidFill>
                  <a:srgbClr val="132422"/>
                </a:solidFill>
                <a:latin typeface="Malgun Gothic"/>
              </a:rPr>
              <a:t>해당 Zone 소속 인스턴스를 모두 선택해 '중지' 실행(Zone 전체 장애 재현)</a:t>
            </a:r>
          </a:p>
        </p:txBody>
      </p:sp>
      <p:sp>
        <p:nvSpPr>
          <p:cNvPr id="16" name="Rectangle 15"/>
          <p:cNvSpPr/>
          <p:nvPr/>
        </p:nvSpPr>
        <p:spPr>
          <a:xfrm>
            <a:off x="667512" y="4602480"/>
            <a:ext cx="292608" cy="292608"/>
          </a:xfrm>
          <a:prstGeom prst="rect">
            <a:avLst/>
          </a:prstGeom>
          <a:solidFill>
            <a:srgbClr val="AE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460248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3</a:t>
            </a:r>
          </a:p>
        </p:txBody>
      </p:sp>
      <p:sp>
        <p:nvSpPr>
          <p:cNvPr id="18" name="TextBox 17"/>
          <p:cNvSpPr txBox="1"/>
          <p:nvPr/>
        </p:nvSpPr>
        <p:spPr>
          <a:xfrm>
            <a:off x="1051560" y="4584192"/>
            <a:ext cx="4727448" cy="883920"/>
          </a:xfrm>
          <a:prstGeom prst="rect">
            <a:avLst/>
          </a:prstGeom>
          <a:noFill/>
        </p:spPr>
        <p:txBody>
          <a:bodyPr wrap="square">
            <a:spAutoFit/>
          </a:bodyPr>
          <a:lstStyle/>
          <a:p>
            <a:r>
              <a:rPr sz="1120">
                <a:solidFill>
                  <a:srgbClr val="132422"/>
                </a:solidFill>
                <a:latin typeface="Malgun Gothic"/>
              </a:rPr>
              <a:t>External LB 백엔드 상태 화면에서 해당 Zone 인스턴스들이 비정상으로 표시되고, 트래픽이 다른 Zone으로만 라우팅되는지 관찰</a:t>
            </a:r>
          </a:p>
        </p:txBody>
      </p:sp>
      <p:sp>
        <p:nvSpPr>
          <p:cNvPr id="19" name="Rectangle 18"/>
          <p:cNvSpPr/>
          <p:nvPr/>
        </p:nvSpPr>
        <p:spPr>
          <a:xfrm>
            <a:off x="6080760" y="2331720"/>
            <a:ext cx="5440680" cy="3246120"/>
          </a:xfrm>
          <a:prstGeom prst="rect">
            <a:avLst/>
          </a:prstGeom>
          <a:solidFill>
            <a:srgbClr val="DFF0E4"/>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45352" y="2441448"/>
            <a:ext cx="5111496" cy="292608"/>
          </a:xfrm>
          <a:prstGeom prst="rect">
            <a:avLst/>
          </a:prstGeom>
          <a:noFill/>
        </p:spPr>
        <p:txBody>
          <a:bodyPr wrap="square">
            <a:spAutoFit/>
          </a:bodyPr>
          <a:lstStyle/>
          <a:p>
            <a:pPr algn="l">
              <a:lnSpc>
                <a:spcPct val="115000"/>
              </a:lnSpc>
            </a:pPr>
            <a:r>
              <a:rPr sz="1250" b="1">
                <a:solidFill>
                  <a:srgbClr val="2E7D4F"/>
                </a:solidFill>
                <a:latin typeface="Malgun Gothic"/>
              </a:rPr>
              <a:t>③ 정상화 (Failback / 복구)</a:t>
            </a:r>
          </a:p>
        </p:txBody>
      </p:sp>
      <p:sp>
        <p:nvSpPr>
          <p:cNvPr id="21" name="Rectangle 20"/>
          <p:cNvSpPr/>
          <p:nvPr/>
        </p:nvSpPr>
        <p:spPr>
          <a:xfrm>
            <a:off x="6245352" y="2834640"/>
            <a:ext cx="292608" cy="292608"/>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45352" y="283464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1</a:t>
            </a:r>
          </a:p>
        </p:txBody>
      </p:sp>
      <p:sp>
        <p:nvSpPr>
          <p:cNvPr id="23" name="TextBox 22"/>
          <p:cNvSpPr txBox="1"/>
          <p:nvPr/>
        </p:nvSpPr>
        <p:spPr>
          <a:xfrm>
            <a:off x="6629400" y="2816352"/>
            <a:ext cx="4727448" cy="883920"/>
          </a:xfrm>
          <a:prstGeom prst="rect">
            <a:avLst/>
          </a:prstGeom>
          <a:noFill/>
        </p:spPr>
        <p:txBody>
          <a:bodyPr wrap="square">
            <a:spAutoFit/>
          </a:bodyPr>
          <a:lstStyle/>
          <a:p>
            <a:r>
              <a:rPr sz="1120">
                <a:solidFill>
                  <a:srgbClr val="132422"/>
                </a:solidFill>
                <a:latin typeface="Malgun Gothic"/>
              </a:rPr>
              <a:t>중지했던 인스턴스를 다시 '시작'하거나, MIG가 자동으로 새 인스턴스를 생성하도록 방치</a:t>
            </a:r>
          </a:p>
        </p:txBody>
      </p:sp>
      <p:sp>
        <p:nvSpPr>
          <p:cNvPr id="24" name="Rectangle 23"/>
          <p:cNvSpPr/>
          <p:nvPr/>
        </p:nvSpPr>
        <p:spPr>
          <a:xfrm>
            <a:off x="6245352" y="3718560"/>
            <a:ext cx="292608" cy="292608"/>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45352" y="371856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2</a:t>
            </a:r>
          </a:p>
        </p:txBody>
      </p:sp>
      <p:sp>
        <p:nvSpPr>
          <p:cNvPr id="26" name="TextBox 25"/>
          <p:cNvSpPr txBox="1"/>
          <p:nvPr/>
        </p:nvSpPr>
        <p:spPr>
          <a:xfrm>
            <a:off x="6629400" y="3700272"/>
            <a:ext cx="4727448" cy="883920"/>
          </a:xfrm>
          <a:prstGeom prst="rect">
            <a:avLst/>
          </a:prstGeom>
          <a:noFill/>
        </p:spPr>
        <p:txBody>
          <a:bodyPr wrap="square">
            <a:spAutoFit/>
          </a:bodyPr>
          <a:lstStyle/>
          <a:p>
            <a:r>
              <a:rPr sz="1120">
                <a:solidFill>
                  <a:srgbClr val="132422"/>
                </a:solidFill>
                <a:latin typeface="Malgun Gothic"/>
              </a:rPr>
              <a:t>해당 Zone 인스턴스가 다시 '정상(Healthy)'으로 LB에 등록되는지 확인</a:t>
            </a:r>
          </a:p>
        </p:txBody>
      </p:sp>
      <p:sp>
        <p:nvSpPr>
          <p:cNvPr id="27" name="Rectangle 26"/>
          <p:cNvSpPr/>
          <p:nvPr/>
        </p:nvSpPr>
        <p:spPr>
          <a:xfrm>
            <a:off x="6245352" y="4602480"/>
            <a:ext cx="292608" cy="292608"/>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245352" y="460248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3</a:t>
            </a:r>
          </a:p>
        </p:txBody>
      </p:sp>
      <p:sp>
        <p:nvSpPr>
          <p:cNvPr id="29" name="TextBox 28"/>
          <p:cNvSpPr txBox="1"/>
          <p:nvPr/>
        </p:nvSpPr>
        <p:spPr>
          <a:xfrm>
            <a:off x="6629400" y="4584192"/>
            <a:ext cx="4727448" cy="883920"/>
          </a:xfrm>
          <a:prstGeom prst="rect">
            <a:avLst/>
          </a:prstGeom>
          <a:noFill/>
        </p:spPr>
        <p:txBody>
          <a:bodyPr wrap="square">
            <a:spAutoFit/>
          </a:bodyPr>
          <a:lstStyle/>
          <a:p>
            <a:r>
              <a:rPr sz="1120">
                <a:solidFill>
                  <a:srgbClr val="132422"/>
                </a:solidFill>
                <a:latin typeface="Malgun Gothic"/>
              </a:rPr>
              <a:t>[녹화 종료] 두 Zone 모두 정상 분산 상태로 복귀한 화면 캡처</a:t>
            </a:r>
          </a:p>
        </p:txBody>
      </p:sp>
      <p:sp>
        <p:nvSpPr>
          <p:cNvPr id="30" name="Rectangle 29"/>
          <p:cNvSpPr/>
          <p:nvPr/>
        </p:nvSpPr>
        <p:spPr>
          <a:xfrm>
            <a:off x="502920" y="5687568"/>
            <a:ext cx="11201400" cy="502920"/>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58368" y="5724144"/>
            <a:ext cx="10881360" cy="438912"/>
          </a:xfrm>
          <a:prstGeom prst="rect">
            <a:avLst/>
          </a:prstGeom>
          <a:noFill/>
        </p:spPr>
        <p:txBody>
          <a:bodyPr wrap="square" anchor="ctr">
            <a:spAutoFit/>
          </a:bodyPr>
          <a:lstStyle/>
          <a:p>
            <a:r>
              <a:rPr sz="1050" b="1">
                <a:solidFill>
                  <a:srgbClr val="0A4E47"/>
                </a:solidFill>
                <a:latin typeface="Malgun Gothic"/>
              </a:rPr>
              <a:t>② 성공 판정 기준: </a:t>
            </a:r>
            <a:r>
              <a:rPr sz="1050">
                <a:solidFill>
                  <a:srgbClr val="132422"/>
                </a:solidFill>
                <a:latin typeface="Malgun Gothic"/>
              </a:rPr>
              <a:t>Zone 하나가 완전히 죽었어도 웹사이트 응답이 끊기지 않고, LB가 남은 Zone의 정상 인스턴스로만 요청을 분산하면 성공</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2715768"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장애 테스트 #8 · 담당: NET</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Cloud Armor 속도 제한(Rate Limit) 동작</a:t>
            </a:r>
          </a:p>
        </p:txBody>
      </p:sp>
      <p:sp>
        <p:nvSpPr>
          <p:cNvPr id="4" name="Rectangle 3"/>
          <p:cNvSpPr/>
          <p:nvPr/>
        </p:nvSpPr>
        <p:spPr>
          <a:xfrm>
            <a:off x="502920" y="148132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08</a:t>
            </a:r>
          </a:p>
        </p:txBody>
      </p:sp>
      <p:sp>
        <p:nvSpPr>
          <p:cNvPr id="6" name="Rectangle 5"/>
          <p:cNvSpPr/>
          <p:nvPr/>
        </p:nvSpPr>
        <p:spPr>
          <a:xfrm>
            <a:off x="502920" y="1627632"/>
            <a:ext cx="11201400" cy="566928"/>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1673352"/>
            <a:ext cx="10881360" cy="502920"/>
          </a:xfrm>
          <a:prstGeom prst="rect">
            <a:avLst/>
          </a:prstGeom>
          <a:noFill/>
        </p:spPr>
        <p:txBody>
          <a:bodyPr wrap="square">
            <a:spAutoFit/>
          </a:bodyPr>
          <a:lstStyle/>
          <a:p>
            <a:r>
              <a:rPr sz="1050" b="1">
                <a:solidFill>
                  <a:srgbClr val="0A4E47"/>
                </a:solidFill>
                <a:latin typeface="Malgun Gothic"/>
              </a:rPr>
              <a:t>목적: </a:t>
            </a:r>
            <a:r>
              <a:rPr sz="1050">
                <a:solidFill>
                  <a:srgbClr val="44585A"/>
                </a:solidFill>
                <a:latin typeface="Malgun Gothic"/>
              </a:rPr>
              <a:t>자동화 봇/DDoS성 트래픽을 Cloud Armor가 실제로 차단하는지 시연</a:t>
            </a:r>
          </a:p>
          <a:p>
            <a:r>
              <a:rPr sz="1050" b="1">
                <a:solidFill>
                  <a:srgbClr val="0A4E47"/>
                </a:solidFill>
                <a:latin typeface="Malgun Gothic"/>
              </a:rPr>
              <a:t>사전조건: </a:t>
            </a:r>
            <a:r>
              <a:rPr sz="1050">
                <a:solidFill>
                  <a:srgbClr val="44585A"/>
                </a:solidFill>
                <a:latin typeface="Malgun Gothic"/>
              </a:rPr>
              <a:t>Cloud Armor 정책(분당 100회/IP)이 External LB 백엔드에 연결되어 있어야 함</a:t>
            </a:r>
          </a:p>
        </p:txBody>
      </p:sp>
      <p:sp>
        <p:nvSpPr>
          <p:cNvPr id="8" name="Rectangle 7"/>
          <p:cNvSpPr/>
          <p:nvPr/>
        </p:nvSpPr>
        <p:spPr>
          <a:xfrm>
            <a:off x="502920" y="2331720"/>
            <a:ext cx="5440680" cy="3246120"/>
          </a:xfrm>
          <a:prstGeom prst="rect">
            <a:avLst/>
          </a:prstGeom>
          <a:solidFill>
            <a:srgbClr val="F6E1E1"/>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2441448"/>
            <a:ext cx="5111496" cy="292608"/>
          </a:xfrm>
          <a:prstGeom prst="rect">
            <a:avLst/>
          </a:prstGeom>
          <a:noFill/>
        </p:spPr>
        <p:txBody>
          <a:bodyPr wrap="square">
            <a:spAutoFit/>
          </a:bodyPr>
          <a:lstStyle/>
          <a:p>
            <a:pPr algn="l">
              <a:lnSpc>
                <a:spcPct val="115000"/>
              </a:lnSpc>
            </a:pPr>
            <a:r>
              <a:rPr sz="1250" b="1">
                <a:solidFill>
                  <a:srgbClr val="AE3B3B"/>
                </a:solidFill>
                <a:latin typeface="Malgun Gothic"/>
              </a:rPr>
              <a:t>① 장애 유발 (Failover 트리거)</a:t>
            </a:r>
          </a:p>
        </p:txBody>
      </p:sp>
      <p:sp>
        <p:nvSpPr>
          <p:cNvPr id="10" name="Rectangle 9"/>
          <p:cNvSpPr/>
          <p:nvPr/>
        </p:nvSpPr>
        <p:spPr>
          <a:xfrm>
            <a:off x="667512" y="2834640"/>
            <a:ext cx="292608" cy="292608"/>
          </a:xfrm>
          <a:prstGeom prst="rect">
            <a:avLst/>
          </a:prstGeom>
          <a:solidFill>
            <a:srgbClr val="AE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7512" y="283464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1</a:t>
            </a:r>
          </a:p>
        </p:txBody>
      </p:sp>
      <p:sp>
        <p:nvSpPr>
          <p:cNvPr id="12" name="TextBox 11"/>
          <p:cNvSpPr txBox="1"/>
          <p:nvPr/>
        </p:nvSpPr>
        <p:spPr>
          <a:xfrm>
            <a:off x="1051560" y="2816352"/>
            <a:ext cx="4727448" cy="883920"/>
          </a:xfrm>
          <a:prstGeom prst="rect">
            <a:avLst/>
          </a:prstGeom>
          <a:noFill/>
        </p:spPr>
        <p:txBody>
          <a:bodyPr wrap="square">
            <a:spAutoFit/>
          </a:bodyPr>
          <a:lstStyle/>
          <a:p>
            <a:r>
              <a:rPr sz="1120">
                <a:solidFill>
                  <a:srgbClr val="132422"/>
                </a:solidFill>
                <a:latin typeface="Malgun Gothic"/>
              </a:rPr>
              <a:t>[녹화 시작] 정상 브라우저 접속이 200 OK로 응답되는 것을 먼저 확인</a:t>
            </a:r>
          </a:p>
        </p:txBody>
      </p:sp>
      <p:sp>
        <p:nvSpPr>
          <p:cNvPr id="13" name="Rectangle 12"/>
          <p:cNvSpPr/>
          <p:nvPr/>
        </p:nvSpPr>
        <p:spPr>
          <a:xfrm>
            <a:off x="667512" y="3718560"/>
            <a:ext cx="292608" cy="292608"/>
          </a:xfrm>
          <a:prstGeom prst="rect">
            <a:avLst/>
          </a:prstGeom>
          <a:solidFill>
            <a:srgbClr val="AE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7512" y="371856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2</a:t>
            </a:r>
          </a:p>
        </p:txBody>
      </p:sp>
      <p:sp>
        <p:nvSpPr>
          <p:cNvPr id="15" name="TextBox 14"/>
          <p:cNvSpPr txBox="1"/>
          <p:nvPr/>
        </p:nvSpPr>
        <p:spPr>
          <a:xfrm>
            <a:off x="1051560" y="3700272"/>
            <a:ext cx="4727448" cy="883920"/>
          </a:xfrm>
          <a:prstGeom prst="rect">
            <a:avLst/>
          </a:prstGeom>
          <a:noFill/>
        </p:spPr>
        <p:txBody>
          <a:bodyPr wrap="square">
            <a:spAutoFit/>
          </a:bodyPr>
          <a:lstStyle/>
          <a:p>
            <a:r>
              <a:rPr sz="1120">
                <a:solidFill>
                  <a:srgbClr val="132422"/>
                </a:solidFill>
                <a:latin typeface="Malgun Gothic"/>
              </a:rPr>
              <a:t>curl 반복 스크립트 또는 부하도구로 같은 IP에서 짧은 시간 내 100회 이상 요청 발생</a:t>
            </a:r>
          </a:p>
        </p:txBody>
      </p:sp>
      <p:sp>
        <p:nvSpPr>
          <p:cNvPr id="16" name="Rectangle 15"/>
          <p:cNvSpPr/>
          <p:nvPr/>
        </p:nvSpPr>
        <p:spPr>
          <a:xfrm>
            <a:off x="667512" y="4602480"/>
            <a:ext cx="292608" cy="292608"/>
          </a:xfrm>
          <a:prstGeom prst="rect">
            <a:avLst/>
          </a:prstGeom>
          <a:solidFill>
            <a:srgbClr val="AE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460248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3</a:t>
            </a:r>
          </a:p>
        </p:txBody>
      </p:sp>
      <p:sp>
        <p:nvSpPr>
          <p:cNvPr id="18" name="TextBox 17"/>
          <p:cNvSpPr txBox="1"/>
          <p:nvPr/>
        </p:nvSpPr>
        <p:spPr>
          <a:xfrm>
            <a:off x="1051560" y="4584192"/>
            <a:ext cx="4727448" cy="883920"/>
          </a:xfrm>
          <a:prstGeom prst="rect">
            <a:avLst/>
          </a:prstGeom>
          <a:noFill/>
        </p:spPr>
        <p:txBody>
          <a:bodyPr wrap="square">
            <a:spAutoFit/>
          </a:bodyPr>
          <a:lstStyle/>
          <a:p>
            <a:r>
              <a:rPr sz="1120">
                <a:solidFill>
                  <a:srgbClr val="132422"/>
                </a:solidFill>
                <a:latin typeface="Malgun Gothic"/>
              </a:rPr>
              <a:t>일정 횟수 초과 시 응답이 429(Too Many Requests)로 바뀌는 것을 브라우저/터미널 화면에서 확인</a:t>
            </a:r>
          </a:p>
        </p:txBody>
      </p:sp>
      <p:sp>
        <p:nvSpPr>
          <p:cNvPr id="19" name="Rectangle 18"/>
          <p:cNvSpPr/>
          <p:nvPr/>
        </p:nvSpPr>
        <p:spPr>
          <a:xfrm>
            <a:off x="6080760" y="2331720"/>
            <a:ext cx="5440680" cy="3246120"/>
          </a:xfrm>
          <a:prstGeom prst="rect">
            <a:avLst/>
          </a:prstGeom>
          <a:solidFill>
            <a:srgbClr val="DFF0E4"/>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45352" y="2441448"/>
            <a:ext cx="5111496" cy="292608"/>
          </a:xfrm>
          <a:prstGeom prst="rect">
            <a:avLst/>
          </a:prstGeom>
          <a:noFill/>
        </p:spPr>
        <p:txBody>
          <a:bodyPr wrap="square">
            <a:spAutoFit/>
          </a:bodyPr>
          <a:lstStyle/>
          <a:p>
            <a:pPr algn="l">
              <a:lnSpc>
                <a:spcPct val="115000"/>
              </a:lnSpc>
            </a:pPr>
            <a:r>
              <a:rPr sz="1250" b="1">
                <a:solidFill>
                  <a:srgbClr val="2E7D4F"/>
                </a:solidFill>
                <a:latin typeface="Malgun Gothic"/>
              </a:rPr>
              <a:t>③ 정상화 (Failback / 복구)</a:t>
            </a:r>
          </a:p>
        </p:txBody>
      </p:sp>
      <p:sp>
        <p:nvSpPr>
          <p:cNvPr id="21" name="Rectangle 20"/>
          <p:cNvSpPr/>
          <p:nvPr/>
        </p:nvSpPr>
        <p:spPr>
          <a:xfrm>
            <a:off x="6245352" y="2834640"/>
            <a:ext cx="292608" cy="292608"/>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45352" y="283464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1</a:t>
            </a:r>
          </a:p>
        </p:txBody>
      </p:sp>
      <p:sp>
        <p:nvSpPr>
          <p:cNvPr id="23" name="TextBox 22"/>
          <p:cNvSpPr txBox="1"/>
          <p:nvPr/>
        </p:nvSpPr>
        <p:spPr>
          <a:xfrm>
            <a:off x="6629400" y="2816352"/>
            <a:ext cx="4727448" cy="883920"/>
          </a:xfrm>
          <a:prstGeom prst="rect">
            <a:avLst/>
          </a:prstGeom>
          <a:noFill/>
        </p:spPr>
        <p:txBody>
          <a:bodyPr wrap="square">
            <a:spAutoFit/>
          </a:bodyPr>
          <a:lstStyle/>
          <a:p>
            <a:r>
              <a:rPr sz="1120">
                <a:solidFill>
                  <a:srgbClr val="132422"/>
                </a:solidFill>
                <a:latin typeface="Malgun Gothic"/>
              </a:rPr>
              <a:t>요청 스크립트를 중지하고 차단 기간(5분) 경과를 대기</a:t>
            </a:r>
          </a:p>
        </p:txBody>
      </p:sp>
      <p:sp>
        <p:nvSpPr>
          <p:cNvPr id="24" name="Rectangle 23"/>
          <p:cNvSpPr/>
          <p:nvPr/>
        </p:nvSpPr>
        <p:spPr>
          <a:xfrm>
            <a:off x="6245352" y="3718560"/>
            <a:ext cx="292608" cy="292608"/>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45352" y="371856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2</a:t>
            </a:r>
          </a:p>
        </p:txBody>
      </p:sp>
      <p:sp>
        <p:nvSpPr>
          <p:cNvPr id="26" name="TextBox 25"/>
          <p:cNvSpPr txBox="1"/>
          <p:nvPr/>
        </p:nvSpPr>
        <p:spPr>
          <a:xfrm>
            <a:off x="6629400" y="3700272"/>
            <a:ext cx="4727448" cy="883920"/>
          </a:xfrm>
          <a:prstGeom prst="rect">
            <a:avLst/>
          </a:prstGeom>
          <a:noFill/>
        </p:spPr>
        <p:txBody>
          <a:bodyPr wrap="square">
            <a:spAutoFit/>
          </a:bodyPr>
          <a:lstStyle/>
          <a:p>
            <a:r>
              <a:rPr sz="1120">
                <a:solidFill>
                  <a:srgbClr val="132422"/>
                </a:solidFill>
                <a:latin typeface="Malgun Gothic"/>
              </a:rPr>
              <a:t>차단 기간 종료 후 동일 IP로 재접속해 다시 200 OK가 반환되는지 확인</a:t>
            </a:r>
          </a:p>
        </p:txBody>
      </p:sp>
      <p:sp>
        <p:nvSpPr>
          <p:cNvPr id="27" name="Rectangle 26"/>
          <p:cNvSpPr/>
          <p:nvPr/>
        </p:nvSpPr>
        <p:spPr>
          <a:xfrm>
            <a:off x="6245352" y="4602480"/>
            <a:ext cx="292608" cy="292608"/>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245352" y="460248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3</a:t>
            </a:r>
          </a:p>
        </p:txBody>
      </p:sp>
      <p:sp>
        <p:nvSpPr>
          <p:cNvPr id="29" name="TextBox 28"/>
          <p:cNvSpPr txBox="1"/>
          <p:nvPr/>
        </p:nvSpPr>
        <p:spPr>
          <a:xfrm>
            <a:off x="6629400" y="4584192"/>
            <a:ext cx="4727448" cy="883920"/>
          </a:xfrm>
          <a:prstGeom prst="rect">
            <a:avLst/>
          </a:prstGeom>
          <a:noFill/>
        </p:spPr>
        <p:txBody>
          <a:bodyPr wrap="square">
            <a:spAutoFit/>
          </a:bodyPr>
          <a:lstStyle/>
          <a:p>
            <a:r>
              <a:rPr sz="1120">
                <a:solidFill>
                  <a:srgbClr val="132422"/>
                </a:solidFill>
                <a:latin typeface="Malgun Gothic"/>
              </a:rPr>
              <a:t>[녹화 종료] 차단→해제까지 상태 변화를 시간 순으로 캡처</a:t>
            </a:r>
          </a:p>
        </p:txBody>
      </p:sp>
      <p:sp>
        <p:nvSpPr>
          <p:cNvPr id="30" name="Rectangle 29"/>
          <p:cNvSpPr/>
          <p:nvPr/>
        </p:nvSpPr>
        <p:spPr>
          <a:xfrm>
            <a:off x="502920" y="5687568"/>
            <a:ext cx="11201400" cy="502920"/>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58368" y="5724144"/>
            <a:ext cx="10881360" cy="438912"/>
          </a:xfrm>
          <a:prstGeom prst="rect">
            <a:avLst/>
          </a:prstGeom>
          <a:noFill/>
        </p:spPr>
        <p:txBody>
          <a:bodyPr wrap="square" anchor="ctr">
            <a:spAutoFit/>
          </a:bodyPr>
          <a:lstStyle/>
          <a:p>
            <a:r>
              <a:rPr sz="1050" b="1">
                <a:solidFill>
                  <a:srgbClr val="0A4E47"/>
                </a:solidFill>
                <a:latin typeface="Malgun Gothic"/>
              </a:rPr>
              <a:t>② 성공 판정 기준: </a:t>
            </a:r>
            <a:r>
              <a:rPr sz="1050">
                <a:solidFill>
                  <a:srgbClr val="132422"/>
                </a:solidFill>
                <a:latin typeface="Malgun Gothic"/>
              </a:rPr>
              <a:t>임계치 초과 요청이 429로 차단되고, Cloud Armor 콘솔의 정책 화면에 '차단된 요청 수'가 실시간으로 증가하면 성공</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2715768"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장애 테스트 #9 · 담당: NET</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방화벽 오설정 장애 및 즉시 복구</a:t>
            </a:r>
          </a:p>
        </p:txBody>
      </p:sp>
      <p:sp>
        <p:nvSpPr>
          <p:cNvPr id="4" name="Rectangle 3"/>
          <p:cNvSpPr/>
          <p:nvPr/>
        </p:nvSpPr>
        <p:spPr>
          <a:xfrm>
            <a:off x="502920" y="148132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09</a:t>
            </a:r>
          </a:p>
        </p:txBody>
      </p:sp>
      <p:sp>
        <p:nvSpPr>
          <p:cNvPr id="6" name="Rectangle 5"/>
          <p:cNvSpPr/>
          <p:nvPr/>
        </p:nvSpPr>
        <p:spPr>
          <a:xfrm>
            <a:off x="502920" y="1627632"/>
            <a:ext cx="11201400" cy="566928"/>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1673352"/>
            <a:ext cx="10881360" cy="502920"/>
          </a:xfrm>
          <a:prstGeom prst="rect">
            <a:avLst/>
          </a:prstGeom>
          <a:noFill/>
        </p:spPr>
        <p:txBody>
          <a:bodyPr wrap="square">
            <a:spAutoFit/>
          </a:bodyPr>
          <a:lstStyle/>
          <a:p>
            <a:r>
              <a:rPr sz="1050" b="1">
                <a:solidFill>
                  <a:srgbClr val="0A4E47"/>
                </a:solidFill>
                <a:latin typeface="Malgun Gothic"/>
              </a:rPr>
              <a:t>목적: </a:t>
            </a:r>
            <a:r>
              <a:rPr sz="1050">
                <a:solidFill>
                  <a:srgbClr val="44585A"/>
                </a:solidFill>
                <a:latin typeface="Malgun Gothic"/>
              </a:rPr>
              <a:t>변경 관리 실수로 인한 접근 차단 상황을 재현하고, 신속한 롤백으로 정상화하는 절차를 시연</a:t>
            </a:r>
          </a:p>
          <a:p>
            <a:r>
              <a:rPr sz="1050" b="1">
                <a:solidFill>
                  <a:srgbClr val="0A4E47"/>
                </a:solidFill>
                <a:latin typeface="Malgun Gothic"/>
              </a:rPr>
              <a:t>사전조건: </a:t>
            </a:r>
            <a:r>
              <a:rPr sz="1050">
                <a:solidFill>
                  <a:srgbClr val="44585A"/>
                </a:solidFill>
                <a:latin typeface="Malgun Gothic"/>
              </a:rPr>
              <a:t>allow-web-to-was 등 핵심 방화벽 규칙 목록을 사전에 확인해둘 것</a:t>
            </a:r>
          </a:p>
        </p:txBody>
      </p:sp>
      <p:sp>
        <p:nvSpPr>
          <p:cNvPr id="8" name="Rectangle 7"/>
          <p:cNvSpPr/>
          <p:nvPr/>
        </p:nvSpPr>
        <p:spPr>
          <a:xfrm>
            <a:off x="502920" y="2331720"/>
            <a:ext cx="5440680" cy="3246120"/>
          </a:xfrm>
          <a:prstGeom prst="rect">
            <a:avLst/>
          </a:prstGeom>
          <a:solidFill>
            <a:srgbClr val="F6E1E1"/>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2441448"/>
            <a:ext cx="5111496" cy="292608"/>
          </a:xfrm>
          <a:prstGeom prst="rect">
            <a:avLst/>
          </a:prstGeom>
          <a:noFill/>
        </p:spPr>
        <p:txBody>
          <a:bodyPr wrap="square">
            <a:spAutoFit/>
          </a:bodyPr>
          <a:lstStyle/>
          <a:p>
            <a:pPr algn="l">
              <a:lnSpc>
                <a:spcPct val="115000"/>
              </a:lnSpc>
            </a:pPr>
            <a:r>
              <a:rPr sz="1250" b="1">
                <a:solidFill>
                  <a:srgbClr val="AE3B3B"/>
                </a:solidFill>
                <a:latin typeface="Malgun Gothic"/>
              </a:rPr>
              <a:t>① 장애 유발 (Failover 트리거)</a:t>
            </a:r>
          </a:p>
        </p:txBody>
      </p:sp>
      <p:sp>
        <p:nvSpPr>
          <p:cNvPr id="10" name="Rectangle 9"/>
          <p:cNvSpPr/>
          <p:nvPr/>
        </p:nvSpPr>
        <p:spPr>
          <a:xfrm>
            <a:off x="667512" y="2834640"/>
            <a:ext cx="292608" cy="292608"/>
          </a:xfrm>
          <a:prstGeom prst="rect">
            <a:avLst/>
          </a:prstGeom>
          <a:solidFill>
            <a:srgbClr val="AE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7512" y="283464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1</a:t>
            </a:r>
          </a:p>
        </p:txBody>
      </p:sp>
      <p:sp>
        <p:nvSpPr>
          <p:cNvPr id="12" name="TextBox 11"/>
          <p:cNvSpPr txBox="1"/>
          <p:nvPr/>
        </p:nvSpPr>
        <p:spPr>
          <a:xfrm>
            <a:off x="1051560" y="2816352"/>
            <a:ext cx="4727448" cy="883920"/>
          </a:xfrm>
          <a:prstGeom prst="rect">
            <a:avLst/>
          </a:prstGeom>
          <a:noFill/>
        </p:spPr>
        <p:txBody>
          <a:bodyPr wrap="square">
            <a:spAutoFit/>
          </a:bodyPr>
          <a:lstStyle/>
          <a:p>
            <a:r>
              <a:rPr sz="1120">
                <a:solidFill>
                  <a:srgbClr val="132422"/>
                </a:solidFill>
                <a:latin typeface="Malgun Gothic"/>
              </a:rPr>
              <a:t>[녹화 시작] 웹사이트가 정상 동작하는 것을 먼저 확인</a:t>
            </a:r>
          </a:p>
        </p:txBody>
      </p:sp>
      <p:sp>
        <p:nvSpPr>
          <p:cNvPr id="13" name="Rectangle 12"/>
          <p:cNvSpPr/>
          <p:nvPr/>
        </p:nvSpPr>
        <p:spPr>
          <a:xfrm>
            <a:off x="667512" y="3718560"/>
            <a:ext cx="292608" cy="292608"/>
          </a:xfrm>
          <a:prstGeom prst="rect">
            <a:avLst/>
          </a:prstGeom>
          <a:solidFill>
            <a:srgbClr val="AE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7512" y="371856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2</a:t>
            </a:r>
          </a:p>
        </p:txBody>
      </p:sp>
      <p:sp>
        <p:nvSpPr>
          <p:cNvPr id="15" name="TextBox 14"/>
          <p:cNvSpPr txBox="1"/>
          <p:nvPr/>
        </p:nvSpPr>
        <p:spPr>
          <a:xfrm>
            <a:off x="1051560" y="3700272"/>
            <a:ext cx="4727448" cy="883920"/>
          </a:xfrm>
          <a:prstGeom prst="rect">
            <a:avLst/>
          </a:prstGeom>
          <a:noFill/>
        </p:spPr>
        <p:txBody>
          <a:bodyPr wrap="square">
            <a:spAutoFit/>
          </a:bodyPr>
          <a:lstStyle/>
          <a:p>
            <a:r>
              <a:rPr sz="1120">
                <a:solidFill>
                  <a:srgbClr val="132422"/>
                </a:solidFill>
                <a:latin typeface="Malgun Gothic"/>
              </a:rPr>
              <a:t>VPC 네트워크 → 방화벽 → allow-web-to-was 규칙 선택 → '사용 중지' 클릭(오설정 재현)</a:t>
            </a:r>
          </a:p>
        </p:txBody>
      </p:sp>
      <p:sp>
        <p:nvSpPr>
          <p:cNvPr id="16" name="Rectangle 15"/>
          <p:cNvSpPr/>
          <p:nvPr/>
        </p:nvSpPr>
        <p:spPr>
          <a:xfrm>
            <a:off x="667512" y="4602480"/>
            <a:ext cx="292608" cy="292608"/>
          </a:xfrm>
          <a:prstGeom prst="rect">
            <a:avLst/>
          </a:prstGeom>
          <a:solidFill>
            <a:srgbClr val="AE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460248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3</a:t>
            </a:r>
          </a:p>
        </p:txBody>
      </p:sp>
      <p:sp>
        <p:nvSpPr>
          <p:cNvPr id="18" name="TextBox 17"/>
          <p:cNvSpPr txBox="1"/>
          <p:nvPr/>
        </p:nvSpPr>
        <p:spPr>
          <a:xfrm>
            <a:off x="1051560" y="4584192"/>
            <a:ext cx="4727448" cy="883920"/>
          </a:xfrm>
          <a:prstGeom prst="rect">
            <a:avLst/>
          </a:prstGeom>
          <a:noFill/>
        </p:spPr>
        <p:txBody>
          <a:bodyPr wrap="square">
            <a:spAutoFit/>
          </a:bodyPr>
          <a:lstStyle/>
          <a:p>
            <a:r>
              <a:rPr sz="1120">
                <a:solidFill>
                  <a:srgbClr val="132422"/>
                </a:solidFill>
                <a:latin typeface="Malgun Gothic"/>
              </a:rPr>
              <a:t>웹사이트를 새로고침해 WAS 연결 실패로 인한 오류 화면(예: 502/504) 발생을 확인</a:t>
            </a:r>
          </a:p>
        </p:txBody>
      </p:sp>
      <p:sp>
        <p:nvSpPr>
          <p:cNvPr id="19" name="Rectangle 18"/>
          <p:cNvSpPr/>
          <p:nvPr/>
        </p:nvSpPr>
        <p:spPr>
          <a:xfrm>
            <a:off x="6080760" y="2331720"/>
            <a:ext cx="5440680" cy="3246120"/>
          </a:xfrm>
          <a:prstGeom prst="rect">
            <a:avLst/>
          </a:prstGeom>
          <a:solidFill>
            <a:srgbClr val="DFF0E4"/>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45352" y="2441448"/>
            <a:ext cx="5111496" cy="292608"/>
          </a:xfrm>
          <a:prstGeom prst="rect">
            <a:avLst/>
          </a:prstGeom>
          <a:noFill/>
        </p:spPr>
        <p:txBody>
          <a:bodyPr wrap="square">
            <a:spAutoFit/>
          </a:bodyPr>
          <a:lstStyle/>
          <a:p>
            <a:pPr algn="l">
              <a:lnSpc>
                <a:spcPct val="115000"/>
              </a:lnSpc>
            </a:pPr>
            <a:r>
              <a:rPr sz="1250" b="1">
                <a:solidFill>
                  <a:srgbClr val="2E7D4F"/>
                </a:solidFill>
                <a:latin typeface="Malgun Gothic"/>
              </a:rPr>
              <a:t>③ 정상화 (Failback / 복구)</a:t>
            </a:r>
          </a:p>
        </p:txBody>
      </p:sp>
      <p:sp>
        <p:nvSpPr>
          <p:cNvPr id="21" name="Rectangle 20"/>
          <p:cNvSpPr/>
          <p:nvPr/>
        </p:nvSpPr>
        <p:spPr>
          <a:xfrm>
            <a:off x="6245352" y="2834640"/>
            <a:ext cx="292608" cy="292608"/>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45352" y="283464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1</a:t>
            </a:r>
          </a:p>
        </p:txBody>
      </p:sp>
      <p:sp>
        <p:nvSpPr>
          <p:cNvPr id="23" name="TextBox 22"/>
          <p:cNvSpPr txBox="1"/>
          <p:nvPr/>
        </p:nvSpPr>
        <p:spPr>
          <a:xfrm>
            <a:off x="6629400" y="2816352"/>
            <a:ext cx="4727448" cy="883920"/>
          </a:xfrm>
          <a:prstGeom prst="rect">
            <a:avLst/>
          </a:prstGeom>
          <a:noFill/>
        </p:spPr>
        <p:txBody>
          <a:bodyPr wrap="square">
            <a:spAutoFit/>
          </a:bodyPr>
          <a:lstStyle/>
          <a:p>
            <a:r>
              <a:rPr sz="1120">
                <a:solidFill>
                  <a:srgbClr val="132422"/>
                </a:solidFill>
                <a:latin typeface="Malgun Gothic"/>
              </a:rPr>
              <a:t>동일 방화벽 규칙을 다시 선택해 '사용 설정' 클릭(즉시 롤백)</a:t>
            </a:r>
          </a:p>
        </p:txBody>
      </p:sp>
      <p:sp>
        <p:nvSpPr>
          <p:cNvPr id="24" name="Rectangle 23"/>
          <p:cNvSpPr/>
          <p:nvPr/>
        </p:nvSpPr>
        <p:spPr>
          <a:xfrm>
            <a:off x="6245352" y="3718560"/>
            <a:ext cx="292608" cy="292608"/>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45352" y="371856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2</a:t>
            </a:r>
          </a:p>
        </p:txBody>
      </p:sp>
      <p:sp>
        <p:nvSpPr>
          <p:cNvPr id="26" name="TextBox 25"/>
          <p:cNvSpPr txBox="1"/>
          <p:nvPr/>
        </p:nvSpPr>
        <p:spPr>
          <a:xfrm>
            <a:off x="6629400" y="3700272"/>
            <a:ext cx="4727448" cy="883920"/>
          </a:xfrm>
          <a:prstGeom prst="rect">
            <a:avLst/>
          </a:prstGeom>
          <a:noFill/>
        </p:spPr>
        <p:txBody>
          <a:bodyPr wrap="square">
            <a:spAutoFit/>
          </a:bodyPr>
          <a:lstStyle/>
          <a:p>
            <a:r>
              <a:rPr sz="1120">
                <a:solidFill>
                  <a:srgbClr val="132422"/>
                </a:solidFill>
                <a:latin typeface="Malgun Gothic"/>
              </a:rPr>
              <a:t>웹사이트를 새로고침해 정상 응답(200 OK)으로 복귀하는지 확인</a:t>
            </a:r>
          </a:p>
        </p:txBody>
      </p:sp>
      <p:sp>
        <p:nvSpPr>
          <p:cNvPr id="27" name="Rectangle 26"/>
          <p:cNvSpPr/>
          <p:nvPr/>
        </p:nvSpPr>
        <p:spPr>
          <a:xfrm>
            <a:off x="6245352" y="4602480"/>
            <a:ext cx="292608" cy="292608"/>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245352" y="460248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3</a:t>
            </a:r>
          </a:p>
        </p:txBody>
      </p:sp>
      <p:sp>
        <p:nvSpPr>
          <p:cNvPr id="29" name="TextBox 28"/>
          <p:cNvSpPr txBox="1"/>
          <p:nvPr/>
        </p:nvSpPr>
        <p:spPr>
          <a:xfrm>
            <a:off x="6629400" y="4584192"/>
            <a:ext cx="4727448" cy="883920"/>
          </a:xfrm>
          <a:prstGeom prst="rect">
            <a:avLst/>
          </a:prstGeom>
          <a:noFill/>
        </p:spPr>
        <p:txBody>
          <a:bodyPr wrap="square">
            <a:spAutoFit/>
          </a:bodyPr>
          <a:lstStyle/>
          <a:p>
            <a:r>
              <a:rPr sz="1120">
                <a:solidFill>
                  <a:srgbClr val="132422"/>
                </a:solidFill>
                <a:latin typeface="Malgun Gothic"/>
              </a:rPr>
              <a:t>[녹화 종료] 장애 발생~롤백 완료까지 걸린 시간을 기록(이 시간이 실제 대응 SLA의 근거 자료가 됨)</a:t>
            </a:r>
          </a:p>
        </p:txBody>
      </p:sp>
      <p:sp>
        <p:nvSpPr>
          <p:cNvPr id="30" name="Rectangle 29"/>
          <p:cNvSpPr/>
          <p:nvPr/>
        </p:nvSpPr>
        <p:spPr>
          <a:xfrm>
            <a:off x="502920" y="5687568"/>
            <a:ext cx="11201400" cy="502920"/>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58368" y="5724144"/>
            <a:ext cx="10881360" cy="438912"/>
          </a:xfrm>
          <a:prstGeom prst="rect">
            <a:avLst/>
          </a:prstGeom>
          <a:noFill/>
        </p:spPr>
        <p:txBody>
          <a:bodyPr wrap="square" anchor="ctr">
            <a:spAutoFit/>
          </a:bodyPr>
          <a:lstStyle/>
          <a:p>
            <a:r>
              <a:rPr sz="1050" b="1">
                <a:solidFill>
                  <a:srgbClr val="0A4E47"/>
                </a:solidFill>
                <a:latin typeface="Malgun Gothic"/>
              </a:rPr>
              <a:t>② 성공 판정 기준: </a:t>
            </a:r>
            <a:r>
              <a:rPr sz="1050">
                <a:solidFill>
                  <a:srgbClr val="132422"/>
                </a:solidFill>
                <a:latin typeface="Malgun Gothic"/>
              </a:rPr>
              <a:t>방화벽 규칙 비활성화 직후 서비스 오류가 재현되어야 하며, 이는 변경 관리 프로세스의 필요성을 보여주는 증거 화면</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2834640"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장애 테스트 #10 · 담당: DBM</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디스크 사용률 포화 → 온라인 확장</a:t>
            </a:r>
          </a:p>
        </p:txBody>
      </p:sp>
      <p:sp>
        <p:nvSpPr>
          <p:cNvPr id="4" name="Rectangle 3"/>
          <p:cNvSpPr/>
          <p:nvPr/>
        </p:nvSpPr>
        <p:spPr>
          <a:xfrm>
            <a:off x="502920" y="148132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10</a:t>
            </a:r>
          </a:p>
        </p:txBody>
      </p:sp>
      <p:sp>
        <p:nvSpPr>
          <p:cNvPr id="6" name="Rectangle 5"/>
          <p:cNvSpPr/>
          <p:nvPr/>
        </p:nvSpPr>
        <p:spPr>
          <a:xfrm>
            <a:off x="502920" y="1627632"/>
            <a:ext cx="11201400" cy="566928"/>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1673352"/>
            <a:ext cx="10881360" cy="502920"/>
          </a:xfrm>
          <a:prstGeom prst="rect">
            <a:avLst/>
          </a:prstGeom>
          <a:noFill/>
        </p:spPr>
        <p:txBody>
          <a:bodyPr wrap="square">
            <a:spAutoFit/>
          </a:bodyPr>
          <a:lstStyle/>
          <a:p>
            <a:r>
              <a:rPr sz="1050" b="1">
                <a:solidFill>
                  <a:srgbClr val="0A4E47"/>
                </a:solidFill>
                <a:latin typeface="Malgun Gothic"/>
              </a:rPr>
              <a:t>목적: </a:t>
            </a:r>
            <a:r>
              <a:rPr sz="1050">
                <a:solidFill>
                  <a:srgbClr val="44585A"/>
                </a:solidFill>
                <a:latin typeface="Malgun Gothic"/>
              </a:rPr>
              <a:t>Cloud SQL 디스크 공간 부족 상황에서 서비스를 중단하지 않고 용량을 늘리는 절차를 시연</a:t>
            </a:r>
          </a:p>
          <a:p>
            <a:r>
              <a:rPr sz="1050" b="1">
                <a:solidFill>
                  <a:srgbClr val="0A4E47"/>
                </a:solidFill>
                <a:latin typeface="Malgun Gothic"/>
              </a:rPr>
              <a:t>사전조건: </a:t>
            </a:r>
            <a:r>
              <a:rPr sz="1050">
                <a:solidFill>
                  <a:srgbClr val="44585A"/>
                </a:solidFill>
                <a:latin typeface="Malgun Gothic"/>
              </a:rPr>
              <a:t>Cloud SQL 인스턴스의 저장용량 자동 증가 옵션 및 현재 사용률을 사전 확인</a:t>
            </a:r>
          </a:p>
        </p:txBody>
      </p:sp>
      <p:sp>
        <p:nvSpPr>
          <p:cNvPr id="8" name="Rectangle 7"/>
          <p:cNvSpPr/>
          <p:nvPr/>
        </p:nvSpPr>
        <p:spPr>
          <a:xfrm>
            <a:off x="502920" y="2331720"/>
            <a:ext cx="5440680" cy="3246120"/>
          </a:xfrm>
          <a:prstGeom prst="rect">
            <a:avLst/>
          </a:prstGeom>
          <a:solidFill>
            <a:srgbClr val="F6E1E1"/>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2441448"/>
            <a:ext cx="5111496" cy="292608"/>
          </a:xfrm>
          <a:prstGeom prst="rect">
            <a:avLst/>
          </a:prstGeom>
          <a:noFill/>
        </p:spPr>
        <p:txBody>
          <a:bodyPr wrap="square">
            <a:spAutoFit/>
          </a:bodyPr>
          <a:lstStyle/>
          <a:p>
            <a:pPr algn="l">
              <a:lnSpc>
                <a:spcPct val="115000"/>
              </a:lnSpc>
            </a:pPr>
            <a:r>
              <a:rPr sz="1250" b="1">
                <a:solidFill>
                  <a:srgbClr val="AE3B3B"/>
                </a:solidFill>
                <a:latin typeface="Malgun Gothic"/>
              </a:rPr>
              <a:t>① 장애 유발 (Failover 트리거)</a:t>
            </a:r>
          </a:p>
        </p:txBody>
      </p:sp>
      <p:sp>
        <p:nvSpPr>
          <p:cNvPr id="10" name="Rectangle 9"/>
          <p:cNvSpPr/>
          <p:nvPr/>
        </p:nvSpPr>
        <p:spPr>
          <a:xfrm>
            <a:off x="667512" y="2834640"/>
            <a:ext cx="292608" cy="292608"/>
          </a:xfrm>
          <a:prstGeom prst="rect">
            <a:avLst/>
          </a:prstGeom>
          <a:solidFill>
            <a:srgbClr val="AE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7512" y="283464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1</a:t>
            </a:r>
          </a:p>
        </p:txBody>
      </p:sp>
      <p:sp>
        <p:nvSpPr>
          <p:cNvPr id="12" name="TextBox 11"/>
          <p:cNvSpPr txBox="1"/>
          <p:nvPr/>
        </p:nvSpPr>
        <p:spPr>
          <a:xfrm>
            <a:off x="1051560" y="2816352"/>
            <a:ext cx="4727448" cy="883920"/>
          </a:xfrm>
          <a:prstGeom prst="rect">
            <a:avLst/>
          </a:prstGeom>
          <a:noFill/>
        </p:spPr>
        <p:txBody>
          <a:bodyPr wrap="square">
            <a:spAutoFit/>
          </a:bodyPr>
          <a:lstStyle/>
          <a:p>
            <a:r>
              <a:rPr sz="1120">
                <a:solidFill>
                  <a:srgbClr val="132422"/>
                </a:solidFill>
                <a:latin typeface="Malgun Gothic"/>
              </a:rPr>
              <a:t>[녹화 시작] SQL → petclinic-mysql → 저장용량 사용률 그래프 확인(현재 수치)</a:t>
            </a:r>
          </a:p>
        </p:txBody>
      </p:sp>
      <p:sp>
        <p:nvSpPr>
          <p:cNvPr id="13" name="Rectangle 12"/>
          <p:cNvSpPr/>
          <p:nvPr/>
        </p:nvSpPr>
        <p:spPr>
          <a:xfrm>
            <a:off x="667512" y="3718560"/>
            <a:ext cx="292608" cy="292608"/>
          </a:xfrm>
          <a:prstGeom prst="rect">
            <a:avLst/>
          </a:prstGeom>
          <a:solidFill>
            <a:srgbClr val="AE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7512" y="371856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2</a:t>
            </a:r>
          </a:p>
        </p:txBody>
      </p:sp>
      <p:sp>
        <p:nvSpPr>
          <p:cNvPr id="15" name="TextBox 14"/>
          <p:cNvSpPr txBox="1"/>
          <p:nvPr/>
        </p:nvSpPr>
        <p:spPr>
          <a:xfrm>
            <a:off x="1051560" y="3700272"/>
            <a:ext cx="4727448" cy="883920"/>
          </a:xfrm>
          <a:prstGeom prst="rect">
            <a:avLst/>
          </a:prstGeom>
          <a:noFill/>
        </p:spPr>
        <p:txBody>
          <a:bodyPr wrap="square">
            <a:spAutoFit/>
          </a:bodyPr>
          <a:lstStyle/>
          <a:p>
            <a:r>
              <a:rPr sz="1120">
                <a:solidFill>
                  <a:srgbClr val="132422"/>
                </a:solidFill>
                <a:latin typeface="Malgun Gothic"/>
              </a:rPr>
              <a:t>(실제 포화 재현이 어려우므로) 대용량 테스트 데이터를 반복 삽입하거나, 콘솔에서 디스크 크기를 인위적으로 작게 설정해 사용률을 90% 이상으로 근접시킴</a:t>
            </a:r>
          </a:p>
        </p:txBody>
      </p:sp>
      <p:sp>
        <p:nvSpPr>
          <p:cNvPr id="16" name="Rectangle 15"/>
          <p:cNvSpPr/>
          <p:nvPr/>
        </p:nvSpPr>
        <p:spPr>
          <a:xfrm>
            <a:off x="667512" y="4602480"/>
            <a:ext cx="292608" cy="292608"/>
          </a:xfrm>
          <a:prstGeom prst="rect">
            <a:avLst/>
          </a:prstGeom>
          <a:solidFill>
            <a:srgbClr val="AE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460248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3</a:t>
            </a:r>
          </a:p>
        </p:txBody>
      </p:sp>
      <p:sp>
        <p:nvSpPr>
          <p:cNvPr id="18" name="TextBox 17"/>
          <p:cNvSpPr txBox="1"/>
          <p:nvPr/>
        </p:nvSpPr>
        <p:spPr>
          <a:xfrm>
            <a:off x="1051560" y="4584192"/>
            <a:ext cx="4727448" cy="883920"/>
          </a:xfrm>
          <a:prstGeom prst="rect">
            <a:avLst/>
          </a:prstGeom>
          <a:noFill/>
        </p:spPr>
        <p:txBody>
          <a:bodyPr wrap="square">
            <a:spAutoFit/>
          </a:bodyPr>
          <a:lstStyle/>
          <a:p>
            <a:r>
              <a:rPr sz="1120">
                <a:solidFill>
                  <a:srgbClr val="132422"/>
                </a:solidFill>
                <a:latin typeface="Malgun Gothic"/>
              </a:rPr>
              <a:t>Cloud Monitoring 알림 정책(80% 초과)이 실제로 알림 이메일을 발송하는지 확인</a:t>
            </a:r>
          </a:p>
        </p:txBody>
      </p:sp>
      <p:sp>
        <p:nvSpPr>
          <p:cNvPr id="19" name="Rectangle 18"/>
          <p:cNvSpPr/>
          <p:nvPr/>
        </p:nvSpPr>
        <p:spPr>
          <a:xfrm>
            <a:off x="6080760" y="2331720"/>
            <a:ext cx="5440680" cy="3246120"/>
          </a:xfrm>
          <a:prstGeom prst="rect">
            <a:avLst/>
          </a:prstGeom>
          <a:solidFill>
            <a:srgbClr val="DFF0E4"/>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45352" y="2441448"/>
            <a:ext cx="5111496" cy="292608"/>
          </a:xfrm>
          <a:prstGeom prst="rect">
            <a:avLst/>
          </a:prstGeom>
          <a:noFill/>
        </p:spPr>
        <p:txBody>
          <a:bodyPr wrap="square">
            <a:spAutoFit/>
          </a:bodyPr>
          <a:lstStyle/>
          <a:p>
            <a:pPr algn="l">
              <a:lnSpc>
                <a:spcPct val="115000"/>
              </a:lnSpc>
            </a:pPr>
            <a:r>
              <a:rPr sz="1250" b="1">
                <a:solidFill>
                  <a:srgbClr val="2E7D4F"/>
                </a:solidFill>
                <a:latin typeface="Malgun Gothic"/>
              </a:rPr>
              <a:t>③ 정상화 (Failback / 복구)</a:t>
            </a:r>
          </a:p>
        </p:txBody>
      </p:sp>
      <p:sp>
        <p:nvSpPr>
          <p:cNvPr id="21" name="Rectangle 20"/>
          <p:cNvSpPr/>
          <p:nvPr/>
        </p:nvSpPr>
        <p:spPr>
          <a:xfrm>
            <a:off x="6245352" y="2834640"/>
            <a:ext cx="292608" cy="292608"/>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45352" y="283464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1</a:t>
            </a:r>
          </a:p>
        </p:txBody>
      </p:sp>
      <p:sp>
        <p:nvSpPr>
          <p:cNvPr id="23" name="TextBox 22"/>
          <p:cNvSpPr txBox="1"/>
          <p:nvPr/>
        </p:nvSpPr>
        <p:spPr>
          <a:xfrm>
            <a:off x="6629400" y="2816352"/>
            <a:ext cx="4727448" cy="883920"/>
          </a:xfrm>
          <a:prstGeom prst="rect">
            <a:avLst/>
          </a:prstGeom>
          <a:noFill/>
        </p:spPr>
        <p:txBody>
          <a:bodyPr wrap="square">
            <a:spAutoFit/>
          </a:bodyPr>
          <a:lstStyle/>
          <a:p>
            <a:r>
              <a:rPr sz="1120">
                <a:solidFill>
                  <a:srgbClr val="132422"/>
                </a:solidFill>
                <a:latin typeface="Malgun Gothic"/>
              </a:rPr>
              <a:t>SQL 인스턴스 '수정' → 저장용량을 상위 단계로 증설(예: 10GB → 20GB) → 저장</a:t>
            </a:r>
          </a:p>
        </p:txBody>
      </p:sp>
      <p:sp>
        <p:nvSpPr>
          <p:cNvPr id="24" name="Rectangle 23"/>
          <p:cNvSpPr/>
          <p:nvPr/>
        </p:nvSpPr>
        <p:spPr>
          <a:xfrm>
            <a:off x="6245352" y="3718560"/>
            <a:ext cx="292608" cy="292608"/>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45352" y="371856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2</a:t>
            </a:r>
          </a:p>
        </p:txBody>
      </p:sp>
      <p:sp>
        <p:nvSpPr>
          <p:cNvPr id="26" name="TextBox 25"/>
          <p:cNvSpPr txBox="1"/>
          <p:nvPr/>
        </p:nvSpPr>
        <p:spPr>
          <a:xfrm>
            <a:off x="6629400" y="3700272"/>
            <a:ext cx="4727448" cy="883920"/>
          </a:xfrm>
          <a:prstGeom prst="rect">
            <a:avLst/>
          </a:prstGeom>
          <a:noFill/>
        </p:spPr>
        <p:txBody>
          <a:bodyPr wrap="square">
            <a:spAutoFit/>
          </a:bodyPr>
          <a:lstStyle/>
          <a:p>
            <a:r>
              <a:rPr sz="1120">
                <a:solidFill>
                  <a:srgbClr val="132422"/>
                </a:solidFill>
                <a:latin typeface="Malgun Gothic"/>
              </a:rPr>
              <a:t>디스크 확장이 무중단으로 적용되는지(서비스 재시작 없이) 확인</a:t>
            </a:r>
          </a:p>
        </p:txBody>
      </p:sp>
      <p:sp>
        <p:nvSpPr>
          <p:cNvPr id="27" name="Rectangle 26"/>
          <p:cNvSpPr/>
          <p:nvPr/>
        </p:nvSpPr>
        <p:spPr>
          <a:xfrm>
            <a:off x="6245352" y="4602480"/>
            <a:ext cx="292608" cy="292608"/>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245352" y="460248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3</a:t>
            </a:r>
          </a:p>
        </p:txBody>
      </p:sp>
      <p:sp>
        <p:nvSpPr>
          <p:cNvPr id="29" name="TextBox 28"/>
          <p:cNvSpPr txBox="1"/>
          <p:nvPr/>
        </p:nvSpPr>
        <p:spPr>
          <a:xfrm>
            <a:off x="6629400" y="4584192"/>
            <a:ext cx="4727448" cy="883920"/>
          </a:xfrm>
          <a:prstGeom prst="rect">
            <a:avLst/>
          </a:prstGeom>
          <a:noFill/>
        </p:spPr>
        <p:txBody>
          <a:bodyPr wrap="square">
            <a:spAutoFit/>
          </a:bodyPr>
          <a:lstStyle/>
          <a:p>
            <a:r>
              <a:rPr sz="1120">
                <a:solidFill>
                  <a:srgbClr val="132422"/>
                </a:solidFill>
                <a:latin typeface="Malgun Gothic"/>
              </a:rPr>
              <a:t>[녹화 종료] 확장 후 사용률 그래프가 안전 수준으로 낮아진 화면 캡처</a:t>
            </a:r>
          </a:p>
        </p:txBody>
      </p:sp>
      <p:sp>
        <p:nvSpPr>
          <p:cNvPr id="30" name="Rectangle 29"/>
          <p:cNvSpPr/>
          <p:nvPr/>
        </p:nvSpPr>
        <p:spPr>
          <a:xfrm>
            <a:off x="502920" y="5687568"/>
            <a:ext cx="11201400" cy="502920"/>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58368" y="5724144"/>
            <a:ext cx="10881360" cy="438912"/>
          </a:xfrm>
          <a:prstGeom prst="rect">
            <a:avLst/>
          </a:prstGeom>
          <a:noFill/>
        </p:spPr>
        <p:txBody>
          <a:bodyPr wrap="square" anchor="ctr">
            <a:spAutoFit/>
          </a:bodyPr>
          <a:lstStyle/>
          <a:p>
            <a:r>
              <a:rPr sz="1050" b="1">
                <a:solidFill>
                  <a:srgbClr val="0A4E47"/>
                </a:solidFill>
                <a:latin typeface="Malgun Gothic"/>
              </a:rPr>
              <a:t>② 성공 판정 기준: </a:t>
            </a:r>
            <a:r>
              <a:rPr sz="1050">
                <a:solidFill>
                  <a:srgbClr val="132422"/>
                </a:solidFill>
                <a:latin typeface="Malgun Gothic"/>
              </a:rPr>
              <a:t>디스크 사용률 80% 초과 시 알림이 실제로 수신되고, 서비스 자체는 계속 정상 응답해야 함(사전 경고 체계가 핵심)</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2834640"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장애 테스트 #11 · 담당: CMP</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잘못된 배포 → 자동 롤백(Rolling Update)</a:t>
            </a:r>
          </a:p>
        </p:txBody>
      </p:sp>
      <p:sp>
        <p:nvSpPr>
          <p:cNvPr id="4" name="Rectangle 3"/>
          <p:cNvSpPr/>
          <p:nvPr/>
        </p:nvSpPr>
        <p:spPr>
          <a:xfrm>
            <a:off x="502920" y="148132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11</a:t>
            </a:r>
          </a:p>
        </p:txBody>
      </p:sp>
      <p:sp>
        <p:nvSpPr>
          <p:cNvPr id="6" name="Rectangle 5"/>
          <p:cNvSpPr/>
          <p:nvPr/>
        </p:nvSpPr>
        <p:spPr>
          <a:xfrm>
            <a:off x="502920" y="1627632"/>
            <a:ext cx="11201400" cy="566928"/>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1673352"/>
            <a:ext cx="10881360" cy="502920"/>
          </a:xfrm>
          <a:prstGeom prst="rect">
            <a:avLst/>
          </a:prstGeom>
          <a:noFill/>
        </p:spPr>
        <p:txBody>
          <a:bodyPr wrap="square">
            <a:spAutoFit/>
          </a:bodyPr>
          <a:lstStyle/>
          <a:p>
            <a:r>
              <a:rPr sz="1050" b="1">
                <a:solidFill>
                  <a:srgbClr val="0A4E47"/>
                </a:solidFill>
                <a:latin typeface="Malgun Gothic"/>
              </a:rPr>
              <a:t>목적: </a:t>
            </a:r>
            <a:r>
              <a:rPr sz="1050">
                <a:solidFill>
                  <a:srgbClr val="44585A"/>
                </a:solidFill>
                <a:latin typeface="Malgun Gothic"/>
              </a:rPr>
              <a:t>신규 버전 배포 실패 시 MIG가 자동으로 이전 정상 버전으로 롤백하는 과정을 시연</a:t>
            </a:r>
          </a:p>
          <a:p>
            <a:r>
              <a:rPr sz="1050" b="1">
                <a:solidFill>
                  <a:srgbClr val="0A4E47"/>
                </a:solidFill>
                <a:latin typeface="Malgun Gothic"/>
              </a:rPr>
              <a:t>사전조건: </a:t>
            </a:r>
            <a:r>
              <a:rPr sz="1050">
                <a:solidFill>
                  <a:srgbClr val="44585A"/>
                </a:solidFill>
                <a:latin typeface="Malgun Gothic"/>
              </a:rPr>
              <a:t>was-template의 새 버전(예: 의도적으로 8080 포트를 열지 않는 결함 버전) 준비</a:t>
            </a:r>
          </a:p>
        </p:txBody>
      </p:sp>
      <p:sp>
        <p:nvSpPr>
          <p:cNvPr id="8" name="Rectangle 7"/>
          <p:cNvSpPr/>
          <p:nvPr/>
        </p:nvSpPr>
        <p:spPr>
          <a:xfrm>
            <a:off x="502920" y="2331720"/>
            <a:ext cx="5440680" cy="3246120"/>
          </a:xfrm>
          <a:prstGeom prst="rect">
            <a:avLst/>
          </a:prstGeom>
          <a:solidFill>
            <a:srgbClr val="F6E1E1"/>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2441448"/>
            <a:ext cx="5111496" cy="292608"/>
          </a:xfrm>
          <a:prstGeom prst="rect">
            <a:avLst/>
          </a:prstGeom>
          <a:noFill/>
        </p:spPr>
        <p:txBody>
          <a:bodyPr wrap="square">
            <a:spAutoFit/>
          </a:bodyPr>
          <a:lstStyle/>
          <a:p>
            <a:pPr algn="l">
              <a:lnSpc>
                <a:spcPct val="115000"/>
              </a:lnSpc>
            </a:pPr>
            <a:r>
              <a:rPr sz="1250" b="1">
                <a:solidFill>
                  <a:srgbClr val="AE3B3B"/>
                </a:solidFill>
                <a:latin typeface="Malgun Gothic"/>
              </a:rPr>
              <a:t>① 장애 유발 (Failover 트리거)</a:t>
            </a:r>
          </a:p>
        </p:txBody>
      </p:sp>
      <p:sp>
        <p:nvSpPr>
          <p:cNvPr id="10" name="Rectangle 9"/>
          <p:cNvSpPr/>
          <p:nvPr/>
        </p:nvSpPr>
        <p:spPr>
          <a:xfrm>
            <a:off x="667512" y="2834640"/>
            <a:ext cx="292608" cy="292608"/>
          </a:xfrm>
          <a:prstGeom prst="rect">
            <a:avLst/>
          </a:prstGeom>
          <a:solidFill>
            <a:srgbClr val="AE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7512" y="283464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1</a:t>
            </a:r>
          </a:p>
        </p:txBody>
      </p:sp>
      <p:sp>
        <p:nvSpPr>
          <p:cNvPr id="12" name="TextBox 11"/>
          <p:cNvSpPr txBox="1"/>
          <p:nvPr/>
        </p:nvSpPr>
        <p:spPr>
          <a:xfrm>
            <a:off x="1051560" y="2816352"/>
            <a:ext cx="4727448" cy="883920"/>
          </a:xfrm>
          <a:prstGeom prst="rect">
            <a:avLst/>
          </a:prstGeom>
          <a:noFill/>
        </p:spPr>
        <p:txBody>
          <a:bodyPr wrap="square">
            <a:spAutoFit/>
          </a:bodyPr>
          <a:lstStyle/>
          <a:p>
            <a:r>
              <a:rPr sz="1120">
                <a:solidFill>
                  <a:srgbClr val="132422"/>
                </a:solidFill>
                <a:latin typeface="Malgun Gothic"/>
              </a:rPr>
              <a:t>[녹화 시작] 인스턴스 그룹 → was-mig → '인스턴스 업데이트' → 새(결함 있는) 인스턴스 템플릿 선택, 최대 비허용 비율을 낮게 설정(예: 한 번에 1대씩 교체)</a:t>
            </a:r>
          </a:p>
        </p:txBody>
      </p:sp>
      <p:sp>
        <p:nvSpPr>
          <p:cNvPr id="13" name="Rectangle 12"/>
          <p:cNvSpPr/>
          <p:nvPr/>
        </p:nvSpPr>
        <p:spPr>
          <a:xfrm>
            <a:off x="667512" y="3718560"/>
            <a:ext cx="292608" cy="292608"/>
          </a:xfrm>
          <a:prstGeom prst="rect">
            <a:avLst/>
          </a:prstGeom>
          <a:solidFill>
            <a:srgbClr val="AE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7512" y="371856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2</a:t>
            </a:r>
          </a:p>
        </p:txBody>
      </p:sp>
      <p:sp>
        <p:nvSpPr>
          <p:cNvPr id="15" name="TextBox 14"/>
          <p:cNvSpPr txBox="1"/>
          <p:nvPr/>
        </p:nvSpPr>
        <p:spPr>
          <a:xfrm>
            <a:off x="1051560" y="3700272"/>
            <a:ext cx="4727448" cy="883920"/>
          </a:xfrm>
          <a:prstGeom prst="rect">
            <a:avLst/>
          </a:prstGeom>
          <a:noFill/>
        </p:spPr>
        <p:txBody>
          <a:bodyPr wrap="square">
            <a:spAutoFit/>
          </a:bodyPr>
          <a:lstStyle/>
          <a:p>
            <a:r>
              <a:rPr sz="1120">
                <a:solidFill>
                  <a:srgbClr val="132422"/>
                </a:solidFill>
                <a:latin typeface="Malgun Gothic"/>
              </a:rPr>
              <a:t>업데이트 시작 후 신규 인스턴스가 Health Check에 실패해 '비정상'으로 표시되는지 관찰</a:t>
            </a:r>
          </a:p>
        </p:txBody>
      </p:sp>
      <p:sp>
        <p:nvSpPr>
          <p:cNvPr id="16" name="Rectangle 15"/>
          <p:cNvSpPr/>
          <p:nvPr/>
        </p:nvSpPr>
        <p:spPr>
          <a:xfrm>
            <a:off x="667512" y="4602480"/>
            <a:ext cx="292608" cy="292608"/>
          </a:xfrm>
          <a:prstGeom prst="rect">
            <a:avLst/>
          </a:prstGeom>
          <a:solidFill>
            <a:srgbClr val="AE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460248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3</a:t>
            </a:r>
          </a:p>
        </p:txBody>
      </p:sp>
      <p:sp>
        <p:nvSpPr>
          <p:cNvPr id="18" name="TextBox 17"/>
          <p:cNvSpPr txBox="1"/>
          <p:nvPr/>
        </p:nvSpPr>
        <p:spPr>
          <a:xfrm>
            <a:off x="1051560" y="4584192"/>
            <a:ext cx="4727448" cy="883920"/>
          </a:xfrm>
          <a:prstGeom prst="rect">
            <a:avLst/>
          </a:prstGeom>
          <a:noFill/>
        </p:spPr>
        <p:txBody>
          <a:bodyPr wrap="square">
            <a:spAutoFit/>
          </a:bodyPr>
          <a:lstStyle/>
          <a:p>
            <a:r>
              <a:rPr sz="1120">
                <a:solidFill>
                  <a:srgbClr val="132422"/>
                </a:solidFill>
                <a:latin typeface="Malgun Gothic"/>
              </a:rPr>
              <a:t>정상 인스턴스 대비 신규 인스턴스가 트래픽을 받지 못하는지 LB 백엔드 상태에서 확인</a:t>
            </a:r>
          </a:p>
        </p:txBody>
      </p:sp>
      <p:sp>
        <p:nvSpPr>
          <p:cNvPr id="19" name="Rectangle 18"/>
          <p:cNvSpPr/>
          <p:nvPr/>
        </p:nvSpPr>
        <p:spPr>
          <a:xfrm>
            <a:off x="6080760" y="2331720"/>
            <a:ext cx="5440680" cy="3246120"/>
          </a:xfrm>
          <a:prstGeom prst="rect">
            <a:avLst/>
          </a:prstGeom>
          <a:solidFill>
            <a:srgbClr val="DFF0E4"/>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45352" y="2441448"/>
            <a:ext cx="5111496" cy="292608"/>
          </a:xfrm>
          <a:prstGeom prst="rect">
            <a:avLst/>
          </a:prstGeom>
          <a:noFill/>
        </p:spPr>
        <p:txBody>
          <a:bodyPr wrap="square">
            <a:spAutoFit/>
          </a:bodyPr>
          <a:lstStyle/>
          <a:p>
            <a:pPr algn="l">
              <a:lnSpc>
                <a:spcPct val="115000"/>
              </a:lnSpc>
            </a:pPr>
            <a:r>
              <a:rPr sz="1250" b="1">
                <a:solidFill>
                  <a:srgbClr val="2E7D4F"/>
                </a:solidFill>
                <a:latin typeface="Malgun Gothic"/>
              </a:rPr>
              <a:t>③ 정상화 (Failback / 복구)</a:t>
            </a:r>
          </a:p>
        </p:txBody>
      </p:sp>
      <p:sp>
        <p:nvSpPr>
          <p:cNvPr id="21" name="Rectangle 20"/>
          <p:cNvSpPr/>
          <p:nvPr/>
        </p:nvSpPr>
        <p:spPr>
          <a:xfrm>
            <a:off x="6245352" y="2834640"/>
            <a:ext cx="292608" cy="292608"/>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45352" y="283464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1</a:t>
            </a:r>
          </a:p>
        </p:txBody>
      </p:sp>
      <p:sp>
        <p:nvSpPr>
          <p:cNvPr id="23" name="TextBox 22"/>
          <p:cNvSpPr txBox="1"/>
          <p:nvPr/>
        </p:nvSpPr>
        <p:spPr>
          <a:xfrm>
            <a:off x="6629400" y="2816352"/>
            <a:ext cx="4727448" cy="883920"/>
          </a:xfrm>
          <a:prstGeom prst="rect">
            <a:avLst/>
          </a:prstGeom>
          <a:noFill/>
        </p:spPr>
        <p:txBody>
          <a:bodyPr wrap="square">
            <a:spAutoFit/>
          </a:bodyPr>
          <a:lstStyle/>
          <a:p>
            <a:r>
              <a:rPr sz="1120">
                <a:solidFill>
                  <a:srgbClr val="132422"/>
                </a:solidFill>
                <a:latin typeface="Malgun Gothic"/>
              </a:rPr>
              <a:t>인스턴스 그룹 '인스턴스 업데이트' 화면에서 '중지' 또는 이전 템플릿(was-template-v1)으로 재적용해 롤백</a:t>
            </a:r>
          </a:p>
        </p:txBody>
      </p:sp>
      <p:sp>
        <p:nvSpPr>
          <p:cNvPr id="24" name="Rectangle 23"/>
          <p:cNvSpPr/>
          <p:nvPr/>
        </p:nvSpPr>
        <p:spPr>
          <a:xfrm>
            <a:off x="6245352" y="3718560"/>
            <a:ext cx="292608" cy="292608"/>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45352" y="371856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2</a:t>
            </a:r>
          </a:p>
        </p:txBody>
      </p:sp>
      <p:sp>
        <p:nvSpPr>
          <p:cNvPr id="26" name="TextBox 25"/>
          <p:cNvSpPr txBox="1"/>
          <p:nvPr/>
        </p:nvSpPr>
        <p:spPr>
          <a:xfrm>
            <a:off x="6629400" y="3700272"/>
            <a:ext cx="4727448" cy="883920"/>
          </a:xfrm>
          <a:prstGeom prst="rect">
            <a:avLst/>
          </a:prstGeom>
          <a:noFill/>
        </p:spPr>
        <p:txBody>
          <a:bodyPr wrap="square">
            <a:spAutoFit/>
          </a:bodyPr>
          <a:lstStyle/>
          <a:p>
            <a:r>
              <a:rPr sz="1120">
                <a:solidFill>
                  <a:srgbClr val="132422"/>
                </a:solidFill>
                <a:latin typeface="Malgun Gothic"/>
              </a:rPr>
              <a:t>모든 인스턴스가 다시 정상 템플릿 기준으로 교체되어 'Healthy' 상태가 되는지 확인</a:t>
            </a:r>
          </a:p>
        </p:txBody>
      </p:sp>
      <p:sp>
        <p:nvSpPr>
          <p:cNvPr id="27" name="Rectangle 26"/>
          <p:cNvSpPr/>
          <p:nvPr/>
        </p:nvSpPr>
        <p:spPr>
          <a:xfrm>
            <a:off x="6245352" y="4602480"/>
            <a:ext cx="292608" cy="292608"/>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245352" y="4602480"/>
            <a:ext cx="292608" cy="292608"/>
          </a:xfrm>
          <a:prstGeom prst="rect">
            <a:avLst/>
          </a:prstGeom>
          <a:noFill/>
        </p:spPr>
        <p:txBody>
          <a:bodyPr wrap="square" anchor="ctr">
            <a:spAutoFit/>
          </a:bodyPr>
          <a:lstStyle/>
          <a:p>
            <a:pPr algn="ctr">
              <a:lnSpc>
                <a:spcPct val="115000"/>
              </a:lnSpc>
            </a:pPr>
            <a:r>
              <a:rPr sz="1100" b="1">
                <a:solidFill>
                  <a:srgbClr val="FFFFFF"/>
                </a:solidFill>
                <a:latin typeface="Malgun Gothic"/>
              </a:rPr>
              <a:t>3</a:t>
            </a:r>
          </a:p>
        </p:txBody>
      </p:sp>
      <p:sp>
        <p:nvSpPr>
          <p:cNvPr id="29" name="TextBox 28"/>
          <p:cNvSpPr txBox="1"/>
          <p:nvPr/>
        </p:nvSpPr>
        <p:spPr>
          <a:xfrm>
            <a:off x="6629400" y="4584192"/>
            <a:ext cx="4727448" cy="883920"/>
          </a:xfrm>
          <a:prstGeom prst="rect">
            <a:avLst/>
          </a:prstGeom>
          <a:noFill/>
        </p:spPr>
        <p:txBody>
          <a:bodyPr wrap="square">
            <a:spAutoFit/>
          </a:bodyPr>
          <a:lstStyle/>
          <a:p>
            <a:r>
              <a:rPr sz="1120">
                <a:solidFill>
                  <a:srgbClr val="132422"/>
                </a:solidFill>
                <a:latin typeface="Malgun Gothic"/>
              </a:rPr>
              <a:t>[녹화 종료] 배포 실패 감지~롤백 완료까지 시간 기록</a:t>
            </a:r>
          </a:p>
        </p:txBody>
      </p:sp>
      <p:sp>
        <p:nvSpPr>
          <p:cNvPr id="30" name="Rectangle 29"/>
          <p:cNvSpPr/>
          <p:nvPr/>
        </p:nvSpPr>
        <p:spPr>
          <a:xfrm>
            <a:off x="502920" y="5687568"/>
            <a:ext cx="11201400" cy="502920"/>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58368" y="5724144"/>
            <a:ext cx="10881360" cy="438912"/>
          </a:xfrm>
          <a:prstGeom prst="rect">
            <a:avLst/>
          </a:prstGeom>
          <a:noFill/>
        </p:spPr>
        <p:txBody>
          <a:bodyPr wrap="square" anchor="ctr">
            <a:spAutoFit/>
          </a:bodyPr>
          <a:lstStyle/>
          <a:p>
            <a:r>
              <a:rPr sz="1050" b="1">
                <a:solidFill>
                  <a:srgbClr val="0A4E47"/>
                </a:solidFill>
                <a:latin typeface="Malgun Gothic"/>
              </a:rPr>
              <a:t>② 성공 판정 기준: </a:t>
            </a:r>
            <a:r>
              <a:rPr sz="1050">
                <a:solidFill>
                  <a:srgbClr val="132422"/>
                </a:solidFill>
                <a:latin typeface="Malgun Gothic"/>
              </a:rPr>
              <a:t>결함 있는 신규 인스턴스는 자동으로 격리(트래픽 미수신)되고, 기존 정상 인스턴스가 계속 서비스를 처리해 사용자에게는 장애가 보이지 않으면 성공</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4E47"/>
        </a:solidFill>
        <a:effectLst/>
      </p:bgPr>
    </p:bg>
    <p:spTree>
      <p:nvGrpSpPr>
        <p:cNvPr id="1" name=""/>
        <p:cNvGrpSpPr/>
        <p:nvPr/>
      </p:nvGrpSpPr>
      <p:grpSpPr>
        <a:xfrm>
          <a:off x="0" y="0"/>
          <a:ext cx="0" cy="0"/>
          <a:chOff x="0" y="0"/>
          <a:chExt cx="0" cy="0"/>
        </a:xfrm>
      </p:grpSpPr>
      <p:sp>
        <p:nvSpPr>
          <p:cNvPr id="2" name="Rectangle 1"/>
          <p:cNvSpPr/>
          <p:nvPr/>
        </p:nvSpPr>
        <p:spPr>
          <a:xfrm>
            <a:off x="640080" y="640080"/>
            <a:ext cx="2121408" cy="329184"/>
          </a:xfrm>
          <a:prstGeom prst="rect">
            <a:avLst/>
          </a:prstGeom>
          <a:solidFill>
            <a:srgbClr val="1C5C52"/>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FFFFFF"/>
                </a:solidFill>
                <a:latin typeface="Malgun Gothic"/>
              </a:rPr>
              <a:t>장애 대응 시연 체크리스트</a:t>
            </a:r>
          </a:p>
        </p:txBody>
      </p:sp>
      <p:sp>
        <p:nvSpPr>
          <p:cNvPr id="3" name="TextBox 2"/>
          <p:cNvSpPr txBox="1"/>
          <p:nvPr/>
        </p:nvSpPr>
        <p:spPr>
          <a:xfrm>
            <a:off x="621792" y="1463040"/>
            <a:ext cx="10058400" cy="1280160"/>
          </a:xfrm>
          <a:prstGeom prst="rect">
            <a:avLst/>
          </a:prstGeom>
          <a:noFill/>
        </p:spPr>
        <p:txBody>
          <a:bodyPr wrap="square">
            <a:spAutoFit/>
          </a:bodyPr>
          <a:lstStyle/>
          <a:p>
            <a:pPr algn="l">
              <a:lnSpc>
                <a:spcPct val="115000"/>
              </a:lnSpc>
            </a:pPr>
            <a:r>
              <a:rPr sz="2800" b="1">
                <a:solidFill>
                  <a:srgbClr val="FFFFFF"/>
                </a:solidFill>
                <a:latin typeface="Malgun Gothic"/>
              </a:rPr>
              <a:t>11개 테스트 모두</a:t>
            </a:r>
          </a:p>
          <a:p>
            <a:pPr algn="l">
              <a:lnSpc>
                <a:spcPct val="115000"/>
              </a:lnSpc>
            </a:pPr>
            <a:r>
              <a:rPr sz="2800" b="1">
                <a:solidFill>
                  <a:srgbClr val="FFFFFF"/>
                </a:solidFill>
                <a:latin typeface="Malgun Gothic"/>
              </a:rPr>
              <a:t>Failover → 검증 → Failback 순으로 녹화하세요</a:t>
            </a:r>
          </a:p>
        </p:txBody>
      </p:sp>
      <p:sp>
        <p:nvSpPr>
          <p:cNvPr id="4" name="TextBox 3"/>
          <p:cNvSpPr txBox="1"/>
          <p:nvPr/>
        </p:nvSpPr>
        <p:spPr>
          <a:xfrm>
            <a:off x="640080" y="3017520"/>
            <a:ext cx="10058400" cy="2743200"/>
          </a:xfrm>
          <a:prstGeom prst="rect">
            <a:avLst/>
          </a:prstGeom>
          <a:noFill/>
        </p:spPr>
        <p:txBody>
          <a:bodyPr wrap="square">
            <a:spAutoFit/>
          </a:bodyPr>
          <a:lstStyle/>
          <a:p>
            <a:pPr>
              <a:lnSpc>
                <a:spcPct val="118000"/>
              </a:lnSpc>
              <a:spcAft>
                <a:spcPts val="700"/>
              </a:spcAft>
            </a:pPr>
            <a:r>
              <a:rPr sz="1500" b="0">
                <a:solidFill>
                  <a:srgbClr val="DCF3EE"/>
                </a:solidFill>
                <a:latin typeface="Malgun Gothic"/>
              </a:rPr>
              <a:t>▸ 핵심은 #3~#4 (Cloud SQL Failover/Failback) — 발표에서 가장 강조할 시나리오</a:t>
            </a:r>
          </a:p>
          <a:p>
            <a:pPr>
              <a:lnSpc>
                <a:spcPct val="118000"/>
              </a:lnSpc>
              <a:spcAft>
                <a:spcPts val="700"/>
              </a:spcAft>
            </a:pPr>
            <a:r>
              <a:rPr sz="1500" b="0">
                <a:solidFill>
                  <a:srgbClr val="DCF3EE"/>
                </a:solidFill>
                <a:latin typeface="Malgun Gothic"/>
              </a:rPr>
              <a:t>▸ 모든 영상은 정상 상태 화면으로 시작해서 정상 상태 화면으로 끝나야 함(원상복구 증명)</a:t>
            </a:r>
          </a:p>
          <a:p>
            <a:pPr>
              <a:lnSpc>
                <a:spcPct val="118000"/>
              </a:lnSpc>
              <a:spcAft>
                <a:spcPts val="700"/>
              </a:spcAft>
            </a:pPr>
            <a:r>
              <a:rPr sz="1500" b="0">
                <a:solidFill>
                  <a:srgbClr val="DCF3EE"/>
                </a:solidFill>
                <a:latin typeface="Malgun Gothic"/>
              </a:rPr>
              <a:t>▸ 장애~복구 소요 시간을 각 영상에 자막 또는 구두 설명으로 명시할 것</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3023</Words>
  <Application>Microsoft Office PowerPoint</Application>
  <PresentationFormat>와이드스크린</PresentationFormat>
  <Paragraphs>275</Paragraphs>
  <Slides>16</Slides>
  <Notes>11</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16</vt:i4>
      </vt:variant>
    </vt:vector>
  </HeadingPairs>
  <TitlesOfParts>
    <vt:vector size="21" baseType="lpstr">
      <vt:lpstr>맑은 고딕</vt: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in-ah Song</cp:lastModifiedBy>
  <cp:revision>2</cp:revision>
  <dcterms:created xsi:type="dcterms:W3CDTF">2013-01-27T09:14:16Z</dcterms:created>
  <dcterms:modified xsi:type="dcterms:W3CDTF">2026-09-16T18:02:52Z</dcterms:modified>
  <cp:category/>
</cp:coreProperties>
</file>