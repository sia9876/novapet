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7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83AECC-820A-49CF-BFC7-C0C446C52C0C}" type="datetimeFigureOut">
              <a:rPr lang="ko-KR" altLang="en-US" smtClean="0"/>
              <a:t>2026-09-17</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9E7090-F204-4023-A2D0-CFD9F6843577}" type="slidenum">
              <a:rPr lang="ko-KR" altLang="en-US" smtClean="0"/>
              <a:t>‹#›</a:t>
            </a:fld>
            <a:endParaRPr lang="ko-KR" altLang="en-US"/>
          </a:p>
        </p:txBody>
      </p:sp>
    </p:spTree>
    <p:extLst>
      <p:ext uri="{BB962C8B-B14F-4D97-AF65-F5344CB8AC3E}">
        <p14:creationId xmlns:p14="http://schemas.microsoft.com/office/powerpoint/2010/main" val="223487227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서울 리전이 통째로 다운되면 서비스가 완전히 멈추는 것 아닌가요?</a:t>
            </a:r>
          </a:p>
          <a:p>
            <a:r>
              <a:t>A. 맞습니다, 이번 1차 구축은 리전 내 여러 Zone(가용영역) 이중화까지만 커버합니다. 리전 자체 장애는 발생 확률이 매우 낮지만(Google SLA 기준), 그 시나리오까지 대비하려면 리전 이중화가 필요하고 이는 향후 AWS DR 구축 단계에서 별도로 다룰 예정입니다. 지금 단계에서 리전 이중화까지 하면 비용과 일정이 2배 이상 늘어나 7일 일정에 맞지 않습니다.</a:t>
            </a:r>
          </a:p>
          <a:p>
            <a:endParaRPr/>
          </a:p>
          <a:p>
            <a:r>
              <a:t>Q. VPC를 아예 3개로 나누지(Web용, WAS용, DB용 프로젝트/VPC 분리) 않고 왜 서브넷으로만 나눴나요?</a:t>
            </a:r>
          </a:p>
          <a:p>
            <a:r>
              <a:t>A. VPC를 분리하면 VPC 간 통신을 위해 VPC Peering이나 별도 라우팅이 추가로 필요해 오히려 관리 복잡도가 커집니다. 지금처럼 조직이 팀 단위로 나뉘어 있지 않은 소규모 프로젝트에서는 서브넷 분리 + 태그 기반 방화벽만으로 충분한 격리 수준을 확보할 수 있습니다.</a:t>
            </a:r>
          </a:p>
          <a:p>
            <a:endParaRPr/>
          </a:p>
          <a:p>
            <a:r>
              <a:t>Q. 서브넷 대역을 왜 하필 10.0.x.0/24로 정했나요? 사설 IP 대역은 다른 것도 있지 않나요?</a:t>
            </a:r>
          </a:p>
          <a:p>
            <a:r>
              <a:t>A. RFC 1918에 정의된 사설 IP 대역(10.0.0.0/8, 172.16.0.0/12, 192.168.0.0/16) 중 10.0.0.0/8을 선택한 이유는 향후 AWS DR 구축 시 VPN/피어링 연결을 고려했을 때 주소 공간이 가장 넓어 계층을 추가로 나눌 여유가 크기 때문입니다.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직원이 실수로 규칙을 다 열어버리면 어떻게 되나요?</a:t>
            </a:r>
          </a:p>
          <a:p>
            <a:r>
              <a:t>A. 1차적으로는 Day 6에 PM과 네트워크 담당이 전체 방화벽 규칙을 함께 재검토하는 프로세스를 운영 절차에 넣었습니다. 장기적으로는 조직 정책(Organization Policy)의 'constraints/compute.vmExternalIpAccess'나 방화벽 인사이트(Firewall Insights) 기능으로 과도하게 개방된 규칙을 자동 탐지하는 것도 추가 검토 중입니다.</a:t>
            </a:r>
          </a:p>
          <a:p>
            <a:endParaRPr/>
          </a:p>
          <a:p>
            <a:r>
              <a:t>Q. 포트 3306(MySQL)을 왜 굳이 열어야 하나요? 위험하지 않나요?</a:t>
            </a:r>
          </a:p>
          <a:p>
            <a:r>
              <a:t>A. 3306 규칙의 소스를 was-subnet 대역(10.0.2.0/24)으로 한정했기 때문에, WAS 서버가 아니면 애초에 그 포트에 도달할 경로 자체가 없습니다. 게다가 DB는 이번 구성에서 Cloud SQL Private IP를 쓰므로 인터넷 어디에서도 그 IP 자체가 보이지 않습니다 — 포트가 열려 있다는 것과 '인터넷에서 접근 가능하다'는 것은 다른 이야기입니다.</a:t>
            </a:r>
          </a:p>
          <a:p>
            <a:endParaRPr/>
          </a:p>
          <a:p>
            <a:r>
              <a:t>Q. 방화벽 규칙과 Cloud Armor(뒤에 나오는 WAF)는 뭐가 다른가요?</a:t>
            </a:r>
          </a:p>
          <a:p>
            <a:r>
              <a:t>A. 방화벽은 IP/포트 단위(네트워크 계층)에서 '누가 어떤 포트로 들어올 수 있는가'만 봅니다. Cloud Armor는 그보다 상위 계층(애플리케이션 레벨)에서 요청 '내용'(SQL Injection 패턴, 과도한 요청 빈도 등)을 검사합니다. 방화벽이 대문 자물쇠라면 Cloud Armor는 대문을 통과한 사람의 소지품 검사에 가깝습니다.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NAT 장비가 해킹당하면 위험하지 않나요?</a:t>
            </a:r>
          </a:p>
          <a:p>
            <a:r>
              <a:t>A. Cloud NAT는 우리가 직접 관리하는 '서버'가 아니라 Google이 관리하는 소프트웨어 정의 네트워킹 기능입니다. 접속 가능한 OS나 로그인 계정이 존재하지 않아 전통적인 의미의 '서버 해킹' 대상이 될 수 없습니다.</a:t>
            </a:r>
          </a:p>
          <a:p>
            <a:endParaRPr/>
          </a:p>
          <a:p>
            <a:r>
              <a:t>Q. NAT를 안 쓰면 아예 패치를 못 받나요?</a:t>
            </a:r>
          </a:p>
          <a:p>
            <a:r>
              <a:t>A. 맞습니다. dnf update 같은 OS 패치, 시작 스크립트가 외부 저장소(webjars, npm 등)에서 받는 리소스, Secret Manager·Cloud SQL Admin API 호출까지 전부 아웃바운드 통신이 필요한데, NAT가 없으면 Private 서브넷 VM은 이 모든 걸 할 수 없습니다.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서비스 계정 키 파일을 잃어버리면 큰일 나는 거 아닌가요?</a:t>
            </a:r>
          </a:p>
          <a:p>
            <a:r>
              <a:t>A. 저희는 애초에 키 파일을 발급하지 않는 'Attached Service Account' 방식을 씁니다. VM 자체가 IAM에 등록된 신원(Identity)이 되어, GCP 내부 메타데이터 서버를 통해 임시 토큰을 자동으로 받아옵니다. 다운로드 가능한 JSON 키 자체가 존재하지 않으니 유출될 파일도 없습니다.</a:t>
            </a:r>
          </a:p>
          <a:p>
            <a:endParaRPr/>
          </a:p>
          <a:p>
            <a:r>
              <a:t>Q. 담당자가 퇴사하면 시스템 접근을 어떻게 막나요?</a:t>
            </a:r>
          </a:p>
          <a:p>
            <a:r>
              <a:t>A. 사람 계정의 IAM 권한을 회수하면 되고, 서비스 계정은 애초에 사람 개인정보와 무관하게 VM에 귀속되어 있어 퇴사와 무관하게 계속 안전하게 동작합니다. IAP 접근 권한(사람 계정 기준)만 회수하면 그 사람의 SSH 접근도 즉시 차단됩니다.</a:t>
            </a:r>
          </a:p>
          <a:p>
            <a:endParaRPr/>
          </a:p>
          <a:p>
            <a:r>
              <a:t>Q. 왜 서비스 계정을 딱 3개로만 나눴나요? 컨트롤러별로 더 세분화하면 안 되나요?</a:t>
            </a:r>
          </a:p>
          <a:p>
            <a:r>
              <a:t>A. 이론적으로는 더 세분화할수록 안전하지만, 관리 복잡도가 기하급수적으로 늘어납니다. 계층(Tier) 단위 분리는 '한 계층이 뚫려도 다른 계층은 안전하다'는 최소 방어선을 확보하면서도, 4인 팀이 7일 안에 실수 없이 관리할 수 있는 현실적인 세분화 수준입니다.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시크릿 값이 로그 파일에 그대로 남지는 않나요?</a:t>
            </a:r>
          </a:p>
          <a:p>
            <a:r>
              <a:t>A. 애플리케이션 코드 레벨에서 DB 접속 정보를 로그로 출력하는 구문이 없음을 코드 리뷰로 확인했습니다. 또한 Secret Manager 자체의 접근 로그(누가 언제 조회했는지)는 남지만, '값 자체'는 Cloud Audit Log에 기록되지 않습니다.</a:t>
            </a:r>
          </a:p>
          <a:p>
            <a:endParaRPr/>
          </a:p>
          <a:p>
            <a:r>
              <a:t>Q. Secret Manager 서비스 자체가 장애 나면 WAS 서버가 아예 못 뜨는 거 아닌가요?</a:t>
            </a:r>
          </a:p>
          <a:p>
            <a:r>
              <a:t>A. 맞는 지적입니다. 이는 실제 트레이드오프입니다. Secret Manager는 Google의 고가용성 관리형 서비스로 SLA가 매우 높지만, 이론적 의존성은 존재합니다. 이를 완화하기 위해 WAS 시작 스크립트에 재시도(retry) 로직을 넣어 일시적 장애에는 자동 재시도하도록 구성할 예정입니다.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IAP 자체가 뚫리면 전체 VM이 다 뚫리는 거 아닌가요?</a:t>
            </a:r>
          </a:p>
          <a:p>
            <a:r>
              <a:t>A. IAP는 Google의 BeyondCorp Zero Trust 모델에 기반한 서비스로, Google 자체 인프라의 최상위 보안 수준에 의존합니다. 또한 IAP를 통과했다고 바로 VM에 root로 들어가는 게 아니라, 개별 사람 계정에 IAM으로 부여된 접근 권한 범위 내에서만 터널이 열립니다.</a:t>
            </a:r>
          </a:p>
          <a:p>
            <a:endParaRPr/>
          </a:p>
          <a:p>
            <a:r>
              <a:t>Q. 인터넷이 느린 곳에서는 SSH 접속이 안 되나요?</a:t>
            </a:r>
          </a:p>
          <a:p>
            <a:r>
              <a:t>A. IAP 터널은 HTTPS(443번 포트) 기반으로 동작하기 때문에 일반적인 웹 브라우징이 되는 환경이면 어디서든 접속 가능합니다. 오히려 기존 방식보다 접속 가능한 환경이 넓어집니다.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매니지드 DB인데 왜 굳이 HA(고가용성)를 안 켰나요? 돈 아끼려고 그런 거 아닌가요?</a:t>
            </a:r>
          </a:p>
          <a:p>
            <a:r>
              <a:t>A. 정확히는 비용과 '이번 단계의 목적'을 함께 고려한 결정입니다. 지금은 9/20 완료 시연을 위한 첫 구축 단계이고, 프로덕션 정식 오픈 시점에 리전 HA(장애 조치 복제본)를 추가하는 것으로 로드맵에 넣었습니다. Cloud SQL은 HA를 나중에 '추가'하는 것이 인스턴스 재구축 없이 가능해서, 지금 켜지 않는다고 나중에 손해 보는 구조가 아닙니다.</a:t>
            </a:r>
          </a:p>
          <a:p>
            <a:endParaRPr/>
          </a:p>
          <a:p>
            <a:r>
              <a:t>Q. Cloud SQL이 다운되면 병원 전체 시스템이 멈추는 거 아닌가요? 매니지드라도 SPOF(단일 장애점) 아닌가요?</a:t>
            </a:r>
          </a:p>
          <a:p>
            <a:r>
              <a:t>A. 맞습니다, 현재 단일 영역 구성에서는 DB가 SPOF입니다. 이 리스크는 인지하고 있고, 장애 시나리오 3번(DB Primary 장애)에 대한 대응 절차(자동 백업 기반 신속 복구)를 별도로 준비해뒀습니다. 프로덕션 전환 시점에는 HA 구성(자동 장애조치, 수 초~수십 초 내 전환)으로 업그레이드할 예정입니다.</a:t>
            </a:r>
          </a:p>
          <a:p>
            <a:endParaRPr/>
          </a:p>
          <a:p>
            <a:r>
              <a:t>Q. MySQL 드라이버 8.0.19도 오래된 버전 아닌가요? CVE 없나요?</a:t>
            </a:r>
          </a:p>
          <a:p>
            <a:r>
              <a:t>A. 예리한 지적입니다. 8.0.19는 2019년 릴리스로 이후 보고된 CVE가 있는 것은 사실입니다. PostgreSQL 드라이버보다는 최신이라 '이번 단계의 상대적 리스크'는 낮지만, 프로덕션 전환 전 8.0.28 이상으로 업그레이드할 것을 권고사항으로 이미 보고서에 명시했습니다.</a:t>
            </a:r>
          </a:p>
          <a:p>
            <a:endParaRPr/>
          </a:p>
          <a:p>
            <a:r>
              <a:t>Q. Cloud SQL 사용료는 VM에 직접 설치하는 것보다 비싸지 않나요?</a:t>
            </a:r>
          </a:p>
          <a:p>
            <a:r>
              <a:t>A. 시간당 단가만 보면 매니지드 서비스가 더 비쌀 수 있지만, 백업 자동화·패치·장애조치를 담당자가 수동으로 하는 인건비·장애 리스크 비용까지 고려하면 소규모 팀에게는 총소유비용(TCO) 관점에서 유리합니다. 특히 이번처럼 7일 내 구축해야 하는 일정에서는 '직접 구성할 시간이 없다'는 점이 결정적입니다.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시작 스크립트가 실패하면 애플리케이션이 안 뜬 채로 트래픽을 받는 거 아닌가요?</a:t>
            </a:r>
          </a:p>
          <a:p>
            <a:r>
              <a:t>A. 아닙니다. MIG에 등록된 Health Check가 애플리케이션 포트(Web 80, WAS 8080)의 응답을 주기적으로 확인합니다. 스크립트 실패로 앱이 뜨지 않으면 Health Check가 실패로 판정하고, 해당 인스턴스는 로드밸런서의 트래픽 분배 대상에서 자동 제외되며 MIG가 새 인스턴스로 교체를 시도합니다.</a:t>
            </a:r>
          </a:p>
          <a:p>
            <a:endParaRPr/>
          </a:p>
          <a:p>
            <a:r>
              <a:t>Q. Custom Image를 안 쓰고 매번 시작 스크립트로 패키지를 설치하면 스케일아웃할 때 느리지 않나요?</a:t>
            </a:r>
          </a:p>
          <a:p>
            <a:r>
              <a:t>A. 맞는 지적입니다. 실제로 스케일아웃 시 부팅+패키지 설치 시간(수 분)이 소요되는 트레이드오프가 있습니다. 7일 구축 일정 안에는 시작 스크립트 방식을 채택했고, 이후 운영 안정화 단계에서 Packer 등으로 사전 빌드된 Custom Image로 전환해 스케일아웃 속도를 개선하는 것을 로드맵에 포함했습니다.</a:t>
            </a:r>
          </a:p>
          <a:p>
            <a:endParaRPr/>
          </a:p>
          <a:p>
            <a:r>
              <a:t>Q. 왜 Web과 WAS를 같은 사양으로 통일하지 않고 다르게 뒀나요? 관리가 더 복잡해지지 않나요?</a:t>
            </a:r>
          </a:p>
          <a:p>
            <a:r>
              <a:t>A. 관리 포인트가 하나 늘어나는 대신, 리소스 낭비를 막을 수 있습니다. Web에 WAS급 사양을 주면 필요 없는 메모리에 비용을 지불하는 것이고, 반대로 WAS에 Web급 사양을 주면 JVM 힙 부족으로 OutOfMemory가 날 수 있습니다. 두 계층의 워크로드 특성이 명확히 다르기 때문에 분리 사양이 합리적입니다.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오토스케일이 폭주해서 갑자기 요금이 크게 나오면 어떡하나요?</a:t>
            </a:r>
          </a:p>
          <a:p>
            <a:r>
              <a:t>A. 최대 6대라는 상한선을 걸어뒀기 때문에 무한정 늘어날 수 없습니다. 추가로 결제 예산(Budget Alert)을 별도로 설정해 월 예상 비용을 초과하면 즉시 이메일로 알림을 받도록 구성했습니다(모니터링 섹션 참고).</a:t>
            </a:r>
          </a:p>
          <a:p>
            <a:endParaRPr/>
          </a:p>
          <a:p>
            <a:r>
              <a:t>Q. 스케일인(서버를 줄일 때) 그 순간 접속 중이던 사용자 요청이 갑자기 끊기지는 않나요?</a:t>
            </a:r>
          </a:p>
          <a:p>
            <a:r>
              <a:t>A. Connection Draining(연결 드레이닝) 기능을 사용합니다. 인스턴스를 제거하기 전에 새로운 요청은 다른 인스턴스로 보내되, 이미 진행 중인 연결은 일정 시간(기본 60초) 동안 마무리할 시간을 준 뒤에 종료합니다.</a:t>
            </a:r>
          </a:p>
          <a:p>
            <a:endParaRPr/>
          </a:p>
          <a:p>
            <a:r>
              <a:t>Q. CPU 60%라는 숫자는 누가 어떻게 정한 건가요? 우리 병원 트래픽에 맞는 값인가요?</a:t>
            </a:r>
          </a:p>
          <a:p>
            <a:r>
              <a:t>A. 업계 통상값으로 초기 설정했으며, 실제 운영 데이터가 1개월 정도 쌓이면 실측 트래픽 패턴(예약 몰림 시간대의 실제 CPU 변화)을 보고 재조정할 예정입니다. 이는 보고서의 '향후 계획'에도 명시되어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그냥 WAS 서버 IP 여러 개를 Web 서버 코드에 나열하면 안 되나요? LB를 꼭 써야 하나요?</a:t>
            </a:r>
          </a:p>
          <a:p>
            <a:r>
              <a:t>A. 가능은 하지만, WAS가 스케일 아웃/인 될 때마다 Web 서버 설정 파일을 계속 바꿔줘야 해서 '자동 확장'이라는 요구사항 자체가 깨집니다. Internal LB는 MIG와 자동으로 연동되어 이런 수동 갱신 자체가 필요 없게 만들어줍니다.</a:t>
            </a:r>
          </a:p>
          <a:p>
            <a:endParaRPr/>
          </a:p>
          <a:p>
            <a:r>
              <a:t>Q. Internal LB가 다운되면 Web은 살아있는데 WAS에 아예 도달을 못 하는 거 아닌가요?</a:t>
            </a:r>
          </a:p>
          <a:p>
            <a:r>
              <a:t>A. Internal LB는 GCP가 관리하는 소프트웨어 정의 네트워킹 기능이라 '서버 한 대가 죽는' 개념의 장애가 발생하지 않습니다. Google 인프라 자체의 매우 높은 가용성 SLA에 의존합니다.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인증서가 자동 갱신이 안 되면 어떻게 되나요?</a:t>
            </a:r>
          </a:p>
          <a:p>
            <a:r>
              <a:t>A. Google 관리형 인증서는 도메인 소유 확인(DNS 레코드)이 유지되는 한 자동으로 갱신됩니다. 만에 하나 도메인 설정이 바뀌어 갱신에 실패하면 Cloud Monitoring에 인증서 상태 지표가 노출되어 사전에 알림을 받을 수 있도록 구성할 수 있습니다.</a:t>
            </a:r>
          </a:p>
          <a:p>
            <a:endParaRPr/>
          </a:p>
          <a:p>
            <a:r>
              <a:t>Q. 왜 리전 LB가 아니라 전역(Global) LB인가요? 병원은 국내에만 있는데 괜히 과한 것 아닌가요?</a:t>
            </a:r>
          </a:p>
          <a:p>
            <a:r>
              <a:t>A. 전역 LB라도 실제 백엔드(Web VM)는 서울 리전에만 두면 되므로 비용 구조는 크게 다르지 않습니다. 오히려 전역 anycast IP 자체가 사용자와 가장 가까운 Google 엣지로 먼저 진입시켜주는 라우팅 최적화 효과가 있어 국내 사용자 체감 속도에도 유리합니다.</a:t>
            </a:r>
          </a:p>
          <a:p>
            <a:endParaRPr/>
          </a:p>
          <a:p>
            <a:r>
              <a:t>Q. LB가 뚫리면 병원 시스템 전체가 다 뚫리는 거 아닌가요? 단일 진입점이 오히려 위험하지 않나요?</a:t>
            </a:r>
          </a:p>
          <a:p>
            <a:r>
              <a:t>A. 단일 진입점이기 때문에 오히려 이 지점 하나만 집중적으로 방어하면 됩니다(Cloud Armor가 바로 다음 서비스입니다). 진입점이 여러 개(각 서버 개별 노출)였다면 방어해야 할 지점도 그만큼 늘어나 실질적인 보안 수준은 더 낮아집니다.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Rate Limit 100회/분이 진짜 사용자를 막을 수도 있지 않나요? 가족이 같은 와이파이를 쓴다면요?</a:t>
            </a:r>
          </a:p>
          <a:p>
            <a:r>
              <a:t>A. 이론적으로 같은 공인 IP(NAT)를 공유하는 환경에서 여러 사용자가 동시에 몰리면 영향을 받을 가능성이 있습니다. 다만 100회/분은 정상적인 웹 브라우징 기준으로 매우 관대한 값(일반 사용자는 분당 수 회 수준)이라 실제 영향은 거의 없을 것으로 예상되며, 운영 초기 실제 트래픽 데이터를 보고 임계치를 재조정할 예정입니다.</a:t>
            </a:r>
          </a:p>
          <a:p>
            <a:endParaRPr/>
          </a:p>
          <a:p>
            <a:r>
              <a:t>Q. Cloud Armor가 모든 공격을 다 막아주나요?</a:t>
            </a:r>
          </a:p>
          <a:p>
            <a:r>
              <a:t>A. 아닙니다. Cloud Armor는 알려진 공격 패턴(OWASP 상위 위협)과 트래픽 패턴 기반 공격(DDoS, 과도한 요청)을 방어하는 데 특화되어 있습니다. 애플리케이션 코드 자체의 취약점(예: 잘못된 입력 검증 로직)까지 대신 막아주지는 않으므로, 코드 레벨 보안 점검도 별도로 필요합니다.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그냥 기존에 쓰던 도메인 업체 DNS에 A레코드만 추가하면 안 되나요? 꼭 이관해야 하나요?</a:t>
            </a:r>
          </a:p>
          <a:p>
            <a:r>
              <a:t>A. 필수는 아닙니다. 일정이 촉박하다면 기존 DNS 업체 관리 콘솔에서 External LB의 고정 IP로 A레코드만 추가해도 완전히 동일하게 동작합니다. 이번 프로젝트는 향후 인프라 변경 시 관리 편의를 위해 Cloud DNS로 이관하는 것을 권장 사항으로 제안한 것입니다.</a:t>
            </a:r>
          </a:p>
          <a:p>
            <a:endParaRPr/>
          </a:p>
          <a:p>
            <a:r>
              <a:t>Q. 네임서버를 바꾸면 사이트가 한동안 접속이 안 되는 거 아닌가요?</a:t>
            </a:r>
          </a:p>
          <a:p>
            <a:r>
              <a:t>A. 네임서버 전파(propagation)에는 이론상 최대 48시간까지 걸릴 수 있어, 반드시 서비스 오픈 예정일보다 며칠 전에 미리 전환 작업을 해둬야 합니다. 이 작업계획서에서도 D-day 전에 미리 처리하도록 순서를 배치했습니다.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[예상 날카로운 질문 대응 — 발표자용]</a:t>
            </a:r>
          </a:p>
          <a:p>
            <a:endParaRPr/>
          </a:p>
          <a:p>
            <a:r>
              <a:t>Q. 새벽에 장애가 나면 누가 알아차리나요?</a:t>
            </a:r>
          </a:p>
          <a:p>
            <a:r>
              <a:t>A. 현재는 알림 채널을 이메일로 구성했습니다. 향후 운영 단계에서는 Slack 연동이나 문자 알림, 온콜(당직) 담당자 로테이션 체계를 별도로 수립할 것을 제안합니다. 지금 단계에서는 4인 팀 전원이 알림을 받는 구조로 최소한의 대응 체계를 확보했습니다.</a:t>
            </a:r>
          </a:p>
          <a:p>
            <a:endParaRPr/>
          </a:p>
          <a:p>
            <a:r>
              <a:t>Q. 알림이 너무 자주 오면 결국 무시하게 되지 않나요('알림 피로')?</a:t>
            </a:r>
          </a:p>
          <a:p>
            <a:r>
              <a:t>A. 그래서 임계치를 '순간값'이 아닌 '5분 지속' 등 일정 시간 유지되는 경우로 설정해 일시적인 스파이크에는 반응하지 않도록 했습니다. 운영 데이터가 쌓이면 임계치를 실측 기반으로 재조정해 불필요한 알림을 줄일 예정입니다.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4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686800" y="-2286000"/>
            <a:ext cx="6400800" cy="6400800"/>
          </a:xfrm>
          <a:prstGeom prst="ellipse">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640080"/>
            <a:ext cx="2240280" cy="329184"/>
          </a:xfrm>
          <a:prstGeom prst="rect">
            <a:avLst/>
          </a:prstGeom>
          <a:solidFill>
            <a:srgbClr val="1C5C52"/>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FFFFFF"/>
                </a:solidFill>
                <a:latin typeface="Malgun Gothic"/>
              </a:rPr>
              <a:t>🐾 GCP 콘솔 실전 가이드</a:t>
            </a:r>
          </a:p>
        </p:txBody>
      </p:sp>
      <p:sp>
        <p:nvSpPr>
          <p:cNvPr id="5" name="TextBox 4"/>
          <p:cNvSpPr txBox="1"/>
          <p:nvPr/>
        </p:nvSpPr>
        <p:spPr>
          <a:xfrm>
            <a:off x="594360" y="1371600"/>
            <a:ext cx="10515600" cy="1828800"/>
          </a:xfrm>
          <a:prstGeom prst="rect">
            <a:avLst/>
          </a:prstGeom>
          <a:noFill/>
        </p:spPr>
        <p:txBody>
          <a:bodyPr wrap="square">
            <a:spAutoFit/>
          </a:bodyPr>
          <a:lstStyle/>
          <a:p>
            <a:pPr algn="l">
              <a:lnSpc>
                <a:spcPct val="115000"/>
              </a:lnSpc>
            </a:pPr>
            <a:r>
              <a:rPr sz="4000" b="1">
                <a:solidFill>
                  <a:srgbClr val="FFFFFF"/>
                </a:solidFill>
                <a:latin typeface="Malgun Gothic"/>
              </a:rPr>
              <a:t>GCP 콘솔 작업 실전 가이드</a:t>
            </a:r>
          </a:p>
        </p:txBody>
      </p:sp>
      <p:sp>
        <p:nvSpPr>
          <p:cNvPr id="6" name="TextBox 5"/>
          <p:cNvSpPr txBox="1"/>
          <p:nvPr/>
        </p:nvSpPr>
        <p:spPr>
          <a:xfrm>
            <a:off x="621792" y="2880360"/>
            <a:ext cx="9601200" cy="1097280"/>
          </a:xfrm>
          <a:prstGeom prst="rect">
            <a:avLst/>
          </a:prstGeom>
          <a:noFill/>
        </p:spPr>
        <p:txBody>
          <a:bodyPr wrap="square">
            <a:spAutoFit/>
          </a:bodyPr>
          <a:lstStyle/>
          <a:p>
            <a:pPr algn="l">
              <a:lnSpc>
                <a:spcPct val="115000"/>
              </a:lnSpc>
            </a:pPr>
            <a:r>
              <a:rPr sz="1600" b="0">
                <a:solidFill>
                  <a:srgbClr val="DCF3EE"/>
                </a:solidFill>
                <a:latin typeface="Malgun Gothic"/>
              </a:rPr>
              <a:t>온누리 동물병원 PetClinic 인프라 구축 — 서비스별 개념·선정 근거·예상 Q&amp;A·화면 클릭 순서까지 담은 팀 전용 슬라이드입니다.</a:t>
            </a:r>
          </a:p>
        </p:txBody>
      </p:sp>
      <p:sp>
        <p:nvSpPr>
          <p:cNvPr id="7" name="TextBox 6"/>
          <p:cNvSpPr txBox="1"/>
          <p:nvPr/>
        </p:nvSpPr>
        <p:spPr>
          <a:xfrm>
            <a:off x="621792" y="4297680"/>
            <a:ext cx="2011680" cy="274320"/>
          </a:xfrm>
          <a:prstGeom prst="rect">
            <a:avLst/>
          </a:prstGeom>
          <a:noFill/>
        </p:spPr>
        <p:txBody>
          <a:bodyPr wrap="square">
            <a:spAutoFit/>
          </a:bodyPr>
          <a:lstStyle/>
          <a:p>
            <a:pPr algn="l">
              <a:lnSpc>
                <a:spcPct val="115000"/>
              </a:lnSpc>
            </a:pPr>
            <a:r>
              <a:rPr sz="1050" b="0">
                <a:solidFill>
                  <a:srgbClr val="BEE7DE"/>
                </a:solidFill>
                <a:latin typeface="Malgun Gothic"/>
              </a:rPr>
              <a:t>구축 기간</a:t>
            </a:r>
          </a:p>
        </p:txBody>
      </p:sp>
      <p:sp>
        <p:nvSpPr>
          <p:cNvPr id="8" name="TextBox 7"/>
          <p:cNvSpPr txBox="1"/>
          <p:nvPr/>
        </p:nvSpPr>
        <p:spPr>
          <a:xfrm>
            <a:off x="621792" y="4553712"/>
            <a:ext cx="4114800" cy="365760"/>
          </a:xfrm>
          <a:prstGeom prst="rect">
            <a:avLst/>
          </a:prstGeom>
          <a:noFill/>
        </p:spPr>
        <p:txBody>
          <a:bodyPr wrap="square">
            <a:spAutoFit/>
          </a:bodyPr>
          <a:lstStyle/>
          <a:p>
            <a:pPr algn="l">
              <a:lnSpc>
                <a:spcPct val="115000"/>
              </a:lnSpc>
            </a:pPr>
            <a:r>
              <a:rPr sz="1400" b="1">
                <a:solidFill>
                  <a:srgbClr val="FFFFFF"/>
                </a:solidFill>
                <a:latin typeface="Malgun Gothic"/>
              </a:rPr>
              <a:t>2026-09-14 ~ 2026-09-20 (7일)</a:t>
            </a:r>
          </a:p>
        </p:txBody>
      </p:sp>
      <p:sp>
        <p:nvSpPr>
          <p:cNvPr id="9" name="TextBox 8"/>
          <p:cNvSpPr txBox="1"/>
          <p:nvPr/>
        </p:nvSpPr>
        <p:spPr>
          <a:xfrm>
            <a:off x="621792" y="4864608"/>
            <a:ext cx="2011680" cy="274320"/>
          </a:xfrm>
          <a:prstGeom prst="rect">
            <a:avLst/>
          </a:prstGeom>
          <a:noFill/>
        </p:spPr>
        <p:txBody>
          <a:bodyPr wrap="square">
            <a:spAutoFit/>
          </a:bodyPr>
          <a:lstStyle/>
          <a:p>
            <a:pPr algn="l">
              <a:lnSpc>
                <a:spcPct val="115000"/>
              </a:lnSpc>
            </a:pPr>
            <a:r>
              <a:rPr sz="1050" b="0">
                <a:solidFill>
                  <a:srgbClr val="BEE7DE"/>
                </a:solidFill>
                <a:latin typeface="Malgun Gothic"/>
              </a:rPr>
              <a:t>작업 방식</a:t>
            </a:r>
          </a:p>
        </p:txBody>
      </p:sp>
      <p:sp>
        <p:nvSpPr>
          <p:cNvPr id="10" name="TextBox 9"/>
          <p:cNvSpPr txBox="1"/>
          <p:nvPr/>
        </p:nvSpPr>
        <p:spPr>
          <a:xfrm>
            <a:off x="621792" y="5120640"/>
            <a:ext cx="4693158" cy="317331"/>
          </a:xfrm>
          <a:prstGeom prst="rect">
            <a:avLst/>
          </a:prstGeom>
          <a:noFill/>
        </p:spPr>
        <p:txBody>
          <a:bodyPr wrap="square">
            <a:spAutoFit/>
          </a:bodyPr>
          <a:lstStyle/>
          <a:p>
            <a:pPr algn="l">
              <a:lnSpc>
                <a:spcPct val="115000"/>
              </a:lnSpc>
            </a:pPr>
            <a:r>
              <a:rPr sz="1400" b="1" dirty="0">
                <a:solidFill>
                  <a:srgbClr val="FFFFFF"/>
                </a:solidFill>
                <a:latin typeface="Malgun Gothic"/>
              </a:rPr>
              <a:t>GCP Web Console </a:t>
            </a:r>
            <a:r>
              <a:rPr sz="1400" b="1" dirty="0" err="1">
                <a:solidFill>
                  <a:srgbClr val="FFFFFF"/>
                </a:solidFill>
                <a:latin typeface="Malgun Gothic"/>
              </a:rPr>
              <a:t>수동</a:t>
            </a:r>
            <a:r>
              <a:rPr sz="1400" b="1" dirty="0">
                <a:solidFill>
                  <a:srgbClr val="FFFFFF"/>
                </a:solidFill>
                <a:latin typeface="Malgun Gothic"/>
              </a:rPr>
              <a:t> </a:t>
            </a:r>
            <a:r>
              <a:rPr sz="1400" b="1" dirty="0" err="1">
                <a:solidFill>
                  <a:srgbClr val="FFFFFF"/>
                </a:solidFill>
                <a:latin typeface="Malgun Gothic"/>
              </a:rPr>
              <a:t>구성</a:t>
            </a:r>
            <a:r>
              <a:rPr sz="1400" b="1" dirty="0">
                <a:solidFill>
                  <a:srgbClr val="FFFFFF"/>
                </a:solidFill>
                <a:latin typeface="Malgun Gothic"/>
              </a:rPr>
              <a:t> (CLI/Terraform </a:t>
            </a:r>
            <a:r>
              <a:rPr sz="1400" b="1" dirty="0" err="1">
                <a:solidFill>
                  <a:srgbClr val="FFFFFF"/>
                </a:solidFill>
                <a:latin typeface="Malgun Gothic"/>
              </a:rPr>
              <a:t>미사용</a:t>
            </a:r>
            <a:r>
              <a:rPr sz="1400" b="1" dirty="0">
                <a:solidFill>
                  <a:srgbClr val="FFFFFF"/>
                </a:solidFill>
                <a:latin typeface="Malgun Gothic"/>
              </a:rPr>
              <a:t>)</a:t>
            </a:r>
          </a:p>
        </p:txBody>
      </p:sp>
      <p:sp>
        <p:nvSpPr>
          <p:cNvPr id="11" name="TextBox 10"/>
          <p:cNvSpPr txBox="1"/>
          <p:nvPr/>
        </p:nvSpPr>
        <p:spPr>
          <a:xfrm>
            <a:off x="621792" y="5431536"/>
            <a:ext cx="2011680" cy="274320"/>
          </a:xfrm>
          <a:prstGeom prst="rect">
            <a:avLst/>
          </a:prstGeom>
          <a:noFill/>
        </p:spPr>
        <p:txBody>
          <a:bodyPr wrap="square">
            <a:spAutoFit/>
          </a:bodyPr>
          <a:lstStyle/>
          <a:p>
            <a:pPr algn="l">
              <a:lnSpc>
                <a:spcPct val="115000"/>
              </a:lnSpc>
            </a:pPr>
            <a:r>
              <a:rPr sz="1050" b="0">
                <a:solidFill>
                  <a:srgbClr val="BEE7DE"/>
                </a:solidFill>
                <a:latin typeface="Malgun Gothic"/>
              </a:rPr>
              <a:t>대상</a:t>
            </a:r>
          </a:p>
        </p:txBody>
      </p:sp>
      <p:sp>
        <p:nvSpPr>
          <p:cNvPr id="12" name="TextBox 11"/>
          <p:cNvSpPr txBox="1"/>
          <p:nvPr/>
        </p:nvSpPr>
        <p:spPr>
          <a:xfrm>
            <a:off x="621792" y="5687568"/>
            <a:ext cx="4114800" cy="365760"/>
          </a:xfrm>
          <a:prstGeom prst="rect">
            <a:avLst/>
          </a:prstGeom>
          <a:noFill/>
        </p:spPr>
        <p:txBody>
          <a:bodyPr wrap="square">
            <a:spAutoFit/>
          </a:bodyPr>
          <a:lstStyle/>
          <a:p>
            <a:pPr algn="l">
              <a:lnSpc>
                <a:spcPct val="115000"/>
              </a:lnSpc>
            </a:pPr>
            <a:r>
              <a:rPr sz="1400" b="1">
                <a:solidFill>
                  <a:srgbClr val="FFFFFF"/>
                </a:solidFill>
                <a:latin typeface="Malgun Gothic"/>
              </a:rPr>
              <a:t>클라우드 엔지니어링 4인 팀 전원 (실습 + 발표 대비 Q&amp;A 학습용)</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1289304"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가이드 사용법</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이 슬라이드를 이렇게 활용하세요</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737360"/>
            <a:ext cx="5394960" cy="42062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828800"/>
            <a:ext cx="3657600" cy="274320"/>
          </a:xfrm>
          <a:prstGeom prst="rect">
            <a:avLst/>
          </a:prstGeom>
          <a:noFill/>
        </p:spPr>
        <p:txBody>
          <a:bodyPr wrap="square">
            <a:spAutoFit/>
          </a:bodyPr>
          <a:lstStyle/>
          <a:p>
            <a:pPr algn="l">
              <a:lnSpc>
                <a:spcPct val="115000"/>
              </a:lnSpc>
            </a:pPr>
            <a:r>
              <a:rPr sz="1300" b="1">
                <a:solidFill>
                  <a:srgbClr val="0A4E47"/>
                </a:solidFill>
                <a:latin typeface="Malgun Gothic"/>
              </a:rPr>
              <a:t>① 개념·근거·Q&amp;A 슬라이드</a:t>
            </a:r>
          </a:p>
        </p:txBody>
      </p:sp>
      <p:sp>
        <p:nvSpPr>
          <p:cNvPr id="7" name="TextBox 6"/>
          <p:cNvSpPr txBox="1"/>
          <p:nvPr/>
        </p:nvSpPr>
        <p:spPr>
          <a:xfrm>
            <a:off x="685800" y="2194560"/>
            <a:ext cx="5029200" cy="3657600"/>
          </a:xfrm>
          <a:prstGeom prst="rect">
            <a:avLst/>
          </a:prstGeom>
          <a:noFill/>
        </p:spPr>
        <p:txBody>
          <a:bodyPr wrap="square">
            <a:spAutoFit/>
          </a:bodyPr>
          <a:lstStyle/>
          <a:p>
            <a:pPr>
              <a:lnSpc>
                <a:spcPct val="118000"/>
              </a:lnSpc>
              <a:spcAft>
                <a:spcPts val="700"/>
              </a:spcAft>
            </a:pPr>
            <a:r>
              <a:rPr sz="1250" b="0">
                <a:solidFill>
                  <a:srgbClr val="44585A"/>
                </a:solidFill>
                <a:latin typeface="Malgun Gothic"/>
              </a:rPr>
              <a:t>▸ 이 서비스가 정확히 무엇인지 기술적으로 설명</a:t>
            </a:r>
          </a:p>
          <a:p>
            <a:pPr>
              <a:lnSpc>
                <a:spcPct val="118000"/>
              </a:lnSpc>
              <a:spcAft>
                <a:spcPts val="700"/>
              </a:spcAft>
            </a:pPr>
            <a:r>
              <a:rPr sz="1250" b="0">
                <a:solidFill>
                  <a:srgbClr val="44585A"/>
                </a:solidFill>
                <a:latin typeface="Malgun Gothic"/>
              </a:rPr>
              <a:t>▸ 왜 다른 대안이 아니라 이걸 골랐는지 '근거'까지 설명</a:t>
            </a:r>
          </a:p>
          <a:p>
            <a:pPr>
              <a:lnSpc>
                <a:spcPct val="118000"/>
              </a:lnSpc>
              <a:spcAft>
                <a:spcPts val="700"/>
              </a:spcAft>
            </a:pPr>
            <a:r>
              <a:rPr sz="1250" b="0">
                <a:solidFill>
                  <a:srgbClr val="44585A"/>
                </a:solidFill>
                <a:latin typeface="Malgun Gothic"/>
              </a:rPr>
              <a:t>▸ 기각한 대안을 별도 박스로 표시 — 동물병원 측이 '왜 이건 안 썼나요?'라고 물으면 바로 이 박스를 보고 답변</a:t>
            </a:r>
          </a:p>
          <a:p>
            <a:pPr>
              <a:lnSpc>
                <a:spcPct val="118000"/>
              </a:lnSpc>
              <a:spcAft>
                <a:spcPts val="700"/>
              </a:spcAft>
            </a:pPr>
            <a:r>
              <a:rPr sz="1250" b="0">
                <a:solidFill>
                  <a:srgbClr val="44585A"/>
                </a:solidFill>
                <a:latin typeface="Malgun Gothic"/>
              </a:rPr>
              <a:t>▸ 슬라이드 노트(발표자 보기)에 예상 질문 3~5개 + 상세 답변이 미리 준비되어 있음. 발표 전 반드시 노트까지 정독할 것</a:t>
            </a:r>
          </a:p>
        </p:txBody>
      </p:sp>
      <p:sp>
        <p:nvSpPr>
          <p:cNvPr id="8" name="Rectangle 7"/>
          <p:cNvSpPr/>
          <p:nvPr/>
        </p:nvSpPr>
        <p:spPr>
          <a:xfrm>
            <a:off x="6172200" y="1737360"/>
            <a:ext cx="5532120" cy="42062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1828800"/>
            <a:ext cx="3657600" cy="274320"/>
          </a:xfrm>
          <a:prstGeom prst="rect">
            <a:avLst/>
          </a:prstGeom>
          <a:noFill/>
        </p:spPr>
        <p:txBody>
          <a:bodyPr wrap="square">
            <a:spAutoFit/>
          </a:bodyPr>
          <a:lstStyle/>
          <a:p>
            <a:pPr algn="l">
              <a:lnSpc>
                <a:spcPct val="115000"/>
              </a:lnSpc>
            </a:pPr>
            <a:r>
              <a:rPr sz="1300" b="1">
                <a:solidFill>
                  <a:srgbClr val="0A4E47"/>
                </a:solidFill>
                <a:latin typeface="Malgun Gothic"/>
              </a:rPr>
              <a:t>② 콘솔 클릭 순서 슬라이드</a:t>
            </a:r>
          </a:p>
        </p:txBody>
      </p:sp>
      <p:sp>
        <p:nvSpPr>
          <p:cNvPr id="10" name="TextBox 9"/>
          <p:cNvSpPr txBox="1"/>
          <p:nvPr/>
        </p:nvSpPr>
        <p:spPr>
          <a:xfrm>
            <a:off x="6355080" y="2194560"/>
            <a:ext cx="5120640" cy="3657600"/>
          </a:xfrm>
          <a:prstGeom prst="rect">
            <a:avLst/>
          </a:prstGeom>
          <a:noFill/>
        </p:spPr>
        <p:txBody>
          <a:bodyPr wrap="square">
            <a:spAutoFit/>
          </a:bodyPr>
          <a:lstStyle/>
          <a:p>
            <a:pPr>
              <a:lnSpc>
                <a:spcPct val="118000"/>
              </a:lnSpc>
              <a:spcAft>
                <a:spcPts val="700"/>
              </a:spcAft>
            </a:pPr>
            <a:r>
              <a:rPr sz="1250" b="0">
                <a:solidFill>
                  <a:srgbClr val="44585A"/>
                </a:solidFill>
                <a:latin typeface="Malgun Gothic"/>
              </a:rPr>
              <a:t>▸ 번호가 매겨진 각 단계를 '그대로' 따라가면 완료되도록 설계 — 판단이 필요한 부분은 없음</a:t>
            </a:r>
          </a:p>
          <a:p>
            <a:pPr>
              <a:lnSpc>
                <a:spcPct val="118000"/>
              </a:lnSpc>
              <a:spcAft>
                <a:spcPts val="700"/>
              </a:spcAft>
            </a:pPr>
            <a:r>
              <a:rPr sz="1250" b="0">
                <a:solidFill>
                  <a:srgbClr val="44585A"/>
                </a:solidFill>
                <a:latin typeface="Malgun Gothic"/>
              </a:rPr>
              <a:t>▸ 입력값(이름, 포트 번호, 리전 등)은 실제로 쓸 값을 그대로 적어뒀습니다. 다른 값으로 임의 변경 금지(다른 서비스와 연동이 깨짐)</a:t>
            </a:r>
          </a:p>
          <a:p>
            <a:pPr>
              <a:lnSpc>
                <a:spcPct val="118000"/>
              </a:lnSpc>
              <a:spcAft>
                <a:spcPts val="700"/>
              </a:spcAft>
            </a:pPr>
            <a:r>
              <a:rPr sz="1250" b="0">
                <a:solidFill>
                  <a:srgbClr val="44585A"/>
                </a:solidFill>
                <a:latin typeface="Malgun Gothic"/>
              </a:rPr>
              <a:t>▸ 노란 박스 '실수 방지 팁'은 실제로 가장 많이 틀리는 지점이니 특히 주의</a:t>
            </a:r>
          </a:p>
          <a:p>
            <a:pPr>
              <a:lnSpc>
                <a:spcPct val="118000"/>
              </a:lnSpc>
              <a:spcAft>
                <a:spcPts val="700"/>
              </a:spcAft>
            </a:pPr>
            <a:r>
              <a:rPr sz="1250" b="0">
                <a:solidFill>
                  <a:srgbClr val="44585A"/>
                </a:solidFill>
                <a:latin typeface="Malgun Gothic"/>
              </a:rPr>
              <a:t>▸ 7단계를 넘는 세부 단계는 슬라이드 노트에 이어서 정리되어 있음</a:t>
            </a:r>
          </a:p>
        </p:txBody>
      </p:sp>
      <p:sp>
        <p:nvSpPr>
          <p:cNvPr id="11" name="TextBox 10"/>
          <p:cNvSpPr txBox="1"/>
          <p:nvPr/>
        </p:nvSpPr>
        <p:spPr>
          <a:xfrm>
            <a:off x="502920" y="6537960"/>
            <a:ext cx="9144000" cy="274320"/>
          </a:xfrm>
          <a:prstGeom prst="rect">
            <a:avLst/>
          </a:prstGeom>
          <a:noFill/>
        </p:spPr>
        <p:txBody>
          <a:bodyPr wrap="square">
            <a:spAutoFit/>
          </a:bodyPr>
          <a:lstStyle/>
          <a:p>
            <a:pPr algn="l">
              <a:lnSpc>
                <a:spcPct val="115000"/>
              </a:lnSpc>
            </a:pPr>
            <a:r>
              <a:rPr sz="900" b="0">
                <a:solidFill>
                  <a:srgbClr val="44585A"/>
                </a:solidFill>
                <a:latin typeface="Malgun Gothic"/>
              </a:rPr>
              <a:t>온누리 동물병원 GCP 구축 · 콘솔 작업 실전 가이드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4E47"/>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2743200" cy="1280160"/>
          </a:xfrm>
          <a:prstGeom prst="rect">
            <a:avLst/>
          </a:prstGeom>
          <a:noFill/>
        </p:spPr>
        <p:txBody>
          <a:bodyPr wrap="square">
            <a:spAutoFit/>
          </a:bodyPr>
          <a:lstStyle/>
          <a:p>
            <a:pPr algn="l">
              <a:lnSpc>
                <a:spcPct val="115000"/>
              </a:lnSpc>
            </a:pPr>
            <a:r>
              <a:rPr sz="7200" b="1">
                <a:solidFill>
                  <a:srgbClr val="3F9A88"/>
                </a:solidFill>
                <a:latin typeface="Malgun Gothic"/>
              </a:rPr>
              <a:t>01</a:t>
            </a:r>
          </a:p>
        </p:txBody>
      </p:sp>
      <p:sp>
        <p:nvSpPr>
          <p:cNvPr id="3" name="TextBox 2"/>
          <p:cNvSpPr txBox="1"/>
          <p:nvPr/>
        </p:nvSpPr>
        <p:spPr>
          <a:xfrm>
            <a:off x="777240" y="3566160"/>
            <a:ext cx="10058400" cy="914400"/>
          </a:xfrm>
          <a:prstGeom prst="rect">
            <a:avLst/>
          </a:prstGeom>
          <a:noFill/>
        </p:spPr>
        <p:txBody>
          <a:bodyPr wrap="square">
            <a:spAutoFit/>
          </a:bodyPr>
          <a:lstStyle/>
          <a:p>
            <a:pPr algn="l">
              <a:lnSpc>
                <a:spcPct val="115000"/>
              </a:lnSpc>
            </a:pPr>
            <a:r>
              <a:rPr sz="3400" b="1">
                <a:solidFill>
                  <a:srgbClr val="FFFFFF"/>
                </a:solidFill>
                <a:latin typeface="Malgun Gothic"/>
              </a:rPr>
              <a:t>네트워크·보안 기반</a:t>
            </a:r>
          </a:p>
        </p:txBody>
      </p:sp>
      <p:sp>
        <p:nvSpPr>
          <p:cNvPr id="4" name="TextBox 3"/>
          <p:cNvSpPr txBox="1"/>
          <p:nvPr/>
        </p:nvSpPr>
        <p:spPr>
          <a:xfrm>
            <a:off x="804672" y="4343400"/>
            <a:ext cx="9939528" cy="333361"/>
          </a:xfrm>
          <a:prstGeom prst="rect">
            <a:avLst/>
          </a:prstGeom>
          <a:noFill/>
        </p:spPr>
        <p:txBody>
          <a:bodyPr wrap="square">
            <a:spAutoFit/>
          </a:bodyPr>
          <a:lstStyle/>
          <a:p>
            <a:pPr algn="l">
              <a:lnSpc>
                <a:spcPct val="115000"/>
              </a:lnSpc>
            </a:pPr>
            <a:r>
              <a:rPr sz="1500" b="0" dirty="0">
                <a:solidFill>
                  <a:srgbClr val="DCF3EE"/>
                </a:solidFill>
                <a:latin typeface="Malgun Gothic"/>
              </a:rPr>
              <a:t>이 </a:t>
            </a:r>
            <a:r>
              <a:rPr sz="1500" b="0" dirty="0" err="1">
                <a:solidFill>
                  <a:srgbClr val="DCF3EE"/>
                </a:solidFill>
                <a:latin typeface="Malgun Gothic"/>
              </a:rPr>
              <a:t>구간이</a:t>
            </a:r>
            <a:r>
              <a:rPr sz="1500" b="0" dirty="0">
                <a:solidFill>
                  <a:srgbClr val="DCF3EE"/>
                </a:solidFill>
                <a:latin typeface="Malgun Gothic"/>
              </a:rPr>
              <a:t> </a:t>
            </a:r>
            <a:r>
              <a:rPr sz="1500" b="0" dirty="0" err="1">
                <a:solidFill>
                  <a:srgbClr val="DCF3EE"/>
                </a:solidFill>
                <a:latin typeface="Malgun Gothic"/>
              </a:rPr>
              <a:t>전체</a:t>
            </a:r>
            <a:r>
              <a:rPr sz="1500" b="0" dirty="0">
                <a:solidFill>
                  <a:srgbClr val="DCF3EE"/>
                </a:solidFill>
                <a:latin typeface="Malgun Gothic"/>
              </a:rPr>
              <a:t> </a:t>
            </a:r>
            <a:r>
              <a:rPr sz="1500" b="0" dirty="0" err="1">
                <a:solidFill>
                  <a:srgbClr val="DCF3EE"/>
                </a:solidFill>
                <a:latin typeface="Malgun Gothic"/>
              </a:rPr>
              <a:t>아키텍처의</a:t>
            </a:r>
            <a:r>
              <a:rPr sz="1500" b="0" dirty="0">
                <a:solidFill>
                  <a:srgbClr val="DCF3EE"/>
                </a:solidFill>
                <a:latin typeface="Malgun Gothic"/>
              </a:rPr>
              <a:t> '</a:t>
            </a:r>
            <a:r>
              <a:rPr sz="1500" b="0" dirty="0" err="1">
                <a:solidFill>
                  <a:srgbClr val="DCF3EE"/>
                </a:solidFill>
                <a:latin typeface="Malgun Gothic"/>
              </a:rPr>
              <a:t>경계'를</a:t>
            </a:r>
            <a:r>
              <a:rPr sz="1500" b="0" dirty="0">
                <a:solidFill>
                  <a:srgbClr val="DCF3EE"/>
                </a:solidFill>
                <a:latin typeface="Malgun Gothic"/>
              </a:rPr>
              <a:t> </a:t>
            </a:r>
            <a:r>
              <a:rPr sz="1500" b="0" dirty="0" err="1">
                <a:solidFill>
                  <a:srgbClr val="DCF3EE"/>
                </a:solidFill>
                <a:latin typeface="Malgun Gothic"/>
              </a:rPr>
              <a:t>만듭니다</a:t>
            </a:r>
            <a:r>
              <a:rPr sz="1500" b="0" dirty="0">
                <a:solidFill>
                  <a:srgbClr val="DCF3EE"/>
                </a:solidFill>
                <a:latin typeface="Malgun Gothic"/>
              </a:rPr>
              <a:t>. Web/WAS/</a:t>
            </a:r>
            <a:r>
              <a:rPr sz="1500" b="0" dirty="0" err="1">
                <a:solidFill>
                  <a:srgbClr val="DCF3EE"/>
                </a:solidFill>
                <a:latin typeface="Malgun Gothic"/>
              </a:rPr>
              <a:t>DB가</a:t>
            </a:r>
            <a:r>
              <a:rPr sz="1500" b="0" dirty="0">
                <a:solidFill>
                  <a:srgbClr val="DCF3EE"/>
                </a:solidFill>
                <a:latin typeface="Malgun Gothic"/>
              </a:rPr>
              <a:t> </a:t>
            </a:r>
            <a:r>
              <a:rPr sz="1500" b="0" dirty="0" err="1">
                <a:solidFill>
                  <a:srgbClr val="DCF3EE"/>
                </a:solidFill>
                <a:latin typeface="Malgun Gothic"/>
              </a:rPr>
              <a:t>서로</a:t>
            </a:r>
            <a:r>
              <a:rPr sz="1500" b="0" dirty="0">
                <a:solidFill>
                  <a:srgbClr val="DCF3EE"/>
                </a:solidFill>
                <a:latin typeface="Malgun Gothic"/>
              </a:rPr>
              <a:t> </a:t>
            </a:r>
            <a:r>
              <a:rPr sz="1500" b="0" dirty="0" err="1">
                <a:solidFill>
                  <a:srgbClr val="DCF3EE"/>
                </a:solidFill>
                <a:latin typeface="Malgun Gothic"/>
              </a:rPr>
              <a:t>어디까지</a:t>
            </a:r>
            <a:r>
              <a:rPr sz="1500" b="0" dirty="0">
                <a:solidFill>
                  <a:srgbClr val="DCF3EE"/>
                </a:solidFill>
                <a:latin typeface="Malgun Gothic"/>
              </a:rPr>
              <a:t> 볼 수 </a:t>
            </a:r>
            <a:r>
              <a:rPr sz="1500" b="0" dirty="0" err="1">
                <a:solidFill>
                  <a:srgbClr val="DCF3EE"/>
                </a:solidFill>
                <a:latin typeface="Malgun Gothic"/>
              </a:rPr>
              <a:t>있는지가</a:t>
            </a:r>
            <a:r>
              <a:rPr sz="1500" b="0" dirty="0">
                <a:solidFill>
                  <a:srgbClr val="DCF3EE"/>
                </a:solidFill>
                <a:latin typeface="Malgun Gothic"/>
              </a:rPr>
              <a:t> </a:t>
            </a:r>
            <a:r>
              <a:rPr sz="1500" b="0" dirty="0" err="1">
                <a:solidFill>
                  <a:srgbClr val="DCF3EE"/>
                </a:solidFill>
                <a:latin typeface="Malgun Gothic"/>
              </a:rPr>
              <a:t>여기서</a:t>
            </a:r>
            <a:r>
              <a:rPr sz="1500" b="0" dirty="0">
                <a:solidFill>
                  <a:srgbClr val="DCF3EE"/>
                </a:solidFill>
                <a:latin typeface="Malgun Gothic"/>
              </a:rPr>
              <a:t> </a:t>
            </a:r>
            <a:r>
              <a:rPr sz="1500" b="0" dirty="0" err="1">
                <a:solidFill>
                  <a:srgbClr val="DCF3EE"/>
                </a:solidFill>
                <a:latin typeface="Malgun Gothic"/>
              </a:rPr>
              <a:t>결정됩니다</a:t>
            </a:r>
            <a:r>
              <a:rPr sz="1500" b="0" dirty="0">
                <a:solidFill>
                  <a:srgbClr val="DCF3EE"/>
                </a:solidFill>
                <a:latin typeface="Malgun Gothic"/>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VPC + 커스텀 서브넷 (3계층 분리)</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01</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14436"/>
          </a:xfrm>
          <a:prstGeom prst="rect">
            <a:avLst/>
          </a:prstGeom>
          <a:noFill/>
        </p:spPr>
        <p:txBody>
          <a:bodyPr wrap="square">
            <a:spAutoFit/>
          </a:bodyPr>
          <a:lstStyle/>
          <a:p>
            <a:pPr algn="l">
              <a:lnSpc>
                <a:spcPct val="115000"/>
              </a:lnSpc>
            </a:pPr>
            <a:r>
              <a:rPr sz="1250" b="0" dirty="0" err="1">
                <a:solidFill>
                  <a:srgbClr val="44585A"/>
                </a:solidFill>
                <a:latin typeface="Malgun Gothic"/>
              </a:rPr>
              <a:t>VPC는</a:t>
            </a:r>
            <a:r>
              <a:rPr sz="1250" b="0" dirty="0">
                <a:solidFill>
                  <a:srgbClr val="44585A"/>
                </a:solidFill>
                <a:latin typeface="Malgun Gothic"/>
              </a:rPr>
              <a:t> </a:t>
            </a:r>
            <a:r>
              <a:rPr sz="1250" b="0" dirty="0" err="1">
                <a:solidFill>
                  <a:srgbClr val="44585A"/>
                </a:solidFill>
                <a:latin typeface="Malgun Gothic"/>
              </a:rPr>
              <a:t>병원</a:t>
            </a:r>
            <a:r>
              <a:rPr sz="1250" b="0" dirty="0">
                <a:solidFill>
                  <a:srgbClr val="44585A"/>
                </a:solidFill>
                <a:latin typeface="Malgun Gothic"/>
              </a:rPr>
              <a:t> </a:t>
            </a:r>
            <a:r>
              <a:rPr sz="1250" b="0" dirty="0" err="1">
                <a:solidFill>
                  <a:srgbClr val="44585A"/>
                </a:solidFill>
                <a:latin typeface="Malgun Gothic"/>
              </a:rPr>
              <a:t>전용으로</a:t>
            </a:r>
            <a:r>
              <a:rPr sz="1250" b="0" dirty="0">
                <a:solidFill>
                  <a:srgbClr val="44585A"/>
                </a:solidFill>
                <a:latin typeface="Malgun Gothic"/>
              </a:rPr>
              <a:t> </a:t>
            </a:r>
            <a:r>
              <a:rPr sz="1250" b="0" dirty="0" err="1">
                <a:solidFill>
                  <a:srgbClr val="44585A"/>
                </a:solidFill>
                <a:latin typeface="Malgun Gothic"/>
              </a:rPr>
              <a:t>완전히</a:t>
            </a:r>
            <a:r>
              <a:rPr sz="1250" b="0" dirty="0">
                <a:solidFill>
                  <a:srgbClr val="44585A"/>
                </a:solidFill>
                <a:latin typeface="Malgun Gothic"/>
              </a:rPr>
              <a:t> </a:t>
            </a:r>
            <a:r>
              <a:rPr sz="1250" b="0" dirty="0" err="1">
                <a:solidFill>
                  <a:srgbClr val="44585A"/>
                </a:solidFill>
                <a:latin typeface="Malgun Gothic"/>
              </a:rPr>
              <a:t>격리된</a:t>
            </a:r>
            <a:r>
              <a:rPr sz="1250" b="0" dirty="0">
                <a:solidFill>
                  <a:srgbClr val="44585A"/>
                </a:solidFill>
                <a:latin typeface="Malgun Gothic"/>
              </a:rPr>
              <a:t> </a:t>
            </a:r>
            <a:r>
              <a:rPr sz="1250" b="0" dirty="0" err="1">
                <a:solidFill>
                  <a:srgbClr val="44585A"/>
                </a:solidFill>
                <a:latin typeface="Malgun Gothic"/>
              </a:rPr>
              <a:t>가상</a:t>
            </a:r>
            <a:r>
              <a:rPr sz="1250" b="0" dirty="0">
                <a:solidFill>
                  <a:srgbClr val="44585A"/>
                </a:solidFill>
                <a:latin typeface="Malgun Gothic"/>
              </a:rPr>
              <a:t> </a:t>
            </a:r>
            <a:r>
              <a:rPr sz="1250" b="0" dirty="0" err="1">
                <a:solidFill>
                  <a:srgbClr val="44585A"/>
                </a:solidFill>
                <a:latin typeface="Malgun Gothic"/>
              </a:rPr>
              <a:t>사설망입니다</a:t>
            </a:r>
            <a:r>
              <a:rPr sz="1250" b="0" dirty="0">
                <a:solidFill>
                  <a:srgbClr val="44585A"/>
                </a:solidFill>
                <a:latin typeface="Malgun Gothic"/>
              </a:rPr>
              <a:t>. </a:t>
            </a:r>
            <a:r>
              <a:rPr sz="1250" b="0" dirty="0" err="1">
                <a:solidFill>
                  <a:srgbClr val="44585A"/>
                </a:solidFill>
                <a:latin typeface="Malgun Gothic"/>
              </a:rPr>
              <a:t>서브넷은</a:t>
            </a:r>
            <a:r>
              <a:rPr sz="1250" b="0" dirty="0">
                <a:solidFill>
                  <a:srgbClr val="44585A"/>
                </a:solidFill>
                <a:latin typeface="Malgun Gothic"/>
              </a:rPr>
              <a:t> 그 </a:t>
            </a:r>
            <a:r>
              <a:rPr sz="1250" b="0" dirty="0" err="1">
                <a:solidFill>
                  <a:srgbClr val="44585A"/>
                </a:solidFill>
                <a:latin typeface="Malgun Gothic"/>
              </a:rPr>
              <a:t>안에서</a:t>
            </a:r>
            <a:r>
              <a:rPr sz="1250" b="0" dirty="0">
                <a:solidFill>
                  <a:srgbClr val="44585A"/>
                </a:solidFill>
                <a:latin typeface="Malgun Gothic"/>
              </a:rPr>
              <a:t> </a:t>
            </a:r>
            <a:r>
              <a:rPr sz="1250" b="0" dirty="0" err="1">
                <a:solidFill>
                  <a:srgbClr val="44585A"/>
                </a:solidFill>
                <a:latin typeface="Malgun Gothic"/>
              </a:rPr>
              <a:t>리전별로</a:t>
            </a:r>
            <a:r>
              <a:rPr sz="1250" b="0" dirty="0">
                <a:solidFill>
                  <a:srgbClr val="44585A"/>
                </a:solidFill>
                <a:latin typeface="Malgun Gothic"/>
              </a:rPr>
              <a:t> IP </a:t>
            </a:r>
            <a:r>
              <a:rPr sz="1250" b="0" dirty="0" err="1">
                <a:solidFill>
                  <a:srgbClr val="44585A"/>
                </a:solidFill>
                <a:latin typeface="Malgun Gothic"/>
              </a:rPr>
              <a:t>대역을</a:t>
            </a:r>
            <a:r>
              <a:rPr sz="1250" b="0" dirty="0">
                <a:solidFill>
                  <a:srgbClr val="44585A"/>
                </a:solidFill>
                <a:latin typeface="Malgun Gothic"/>
              </a:rPr>
              <a:t> </a:t>
            </a:r>
            <a:r>
              <a:rPr sz="1250" b="0" dirty="0" err="1">
                <a:solidFill>
                  <a:srgbClr val="44585A"/>
                </a:solidFill>
                <a:latin typeface="Malgun Gothic"/>
              </a:rPr>
              <a:t>구획한</a:t>
            </a:r>
            <a:r>
              <a:rPr sz="1250" b="0" dirty="0">
                <a:solidFill>
                  <a:srgbClr val="44585A"/>
                </a:solidFill>
                <a:latin typeface="Malgun Gothic"/>
              </a:rPr>
              <a:t> </a:t>
            </a:r>
            <a:r>
              <a:rPr sz="1250" b="0" dirty="0" err="1">
                <a:solidFill>
                  <a:srgbClr val="44585A"/>
                </a:solidFill>
                <a:latin typeface="Malgun Gothic"/>
              </a:rPr>
              <a:t>것으로</a:t>
            </a:r>
            <a:r>
              <a:rPr sz="1250" b="0" dirty="0">
                <a:solidFill>
                  <a:srgbClr val="44585A"/>
                </a:solidFill>
                <a:latin typeface="Malgun Gothic"/>
              </a:rPr>
              <a:t>, </a:t>
            </a:r>
            <a:endParaRPr lang="en-US" sz="1250" b="0" dirty="0">
              <a:solidFill>
                <a:srgbClr val="44585A"/>
              </a:solidFill>
              <a:latin typeface="Malgun Gothic"/>
            </a:endParaRPr>
          </a:p>
          <a:p>
            <a:pPr algn="l">
              <a:lnSpc>
                <a:spcPct val="115000"/>
              </a:lnSpc>
            </a:pPr>
            <a:r>
              <a:rPr sz="1250" b="0" dirty="0" err="1">
                <a:solidFill>
                  <a:srgbClr val="44585A"/>
                </a:solidFill>
                <a:latin typeface="Malgun Gothic"/>
              </a:rPr>
              <a:t>우리는</a:t>
            </a:r>
            <a:r>
              <a:rPr sz="1250" b="0" dirty="0">
                <a:solidFill>
                  <a:srgbClr val="44585A"/>
                </a:solidFill>
                <a:latin typeface="Malgun Gothic"/>
              </a:rPr>
              <a:t> Web/WAS/DB </a:t>
            </a:r>
            <a:r>
              <a:rPr sz="1250" b="0" dirty="0" err="1">
                <a:solidFill>
                  <a:srgbClr val="44585A"/>
                </a:solidFill>
                <a:latin typeface="Malgun Gothic"/>
              </a:rPr>
              <a:t>계층마다</a:t>
            </a:r>
            <a:r>
              <a:rPr sz="1250" b="0" dirty="0">
                <a:solidFill>
                  <a:srgbClr val="44585A"/>
                </a:solidFill>
                <a:latin typeface="Malgun Gothic"/>
              </a:rPr>
              <a:t> </a:t>
            </a:r>
            <a:r>
              <a:rPr sz="1250" b="0" dirty="0" err="1">
                <a:solidFill>
                  <a:srgbClr val="44585A"/>
                </a:solidFill>
                <a:latin typeface="Malgun Gothic"/>
              </a:rPr>
              <a:t>서로</a:t>
            </a:r>
            <a:r>
              <a:rPr sz="1250" b="0" dirty="0">
                <a:solidFill>
                  <a:srgbClr val="44585A"/>
                </a:solidFill>
                <a:latin typeface="Malgun Gothic"/>
              </a:rPr>
              <a:t> </a:t>
            </a:r>
            <a:r>
              <a:rPr sz="1250" b="0" dirty="0" err="1">
                <a:solidFill>
                  <a:srgbClr val="44585A"/>
                </a:solidFill>
                <a:latin typeface="Malgun Gothic"/>
              </a:rPr>
              <a:t>다른</a:t>
            </a:r>
            <a:r>
              <a:rPr sz="1250" b="0" dirty="0">
                <a:solidFill>
                  <a:srgbClr val="44585A"/>
                </a:solidFill>
                <a:latin typeface="Malgun Gothic"/>
              </a:rPr>
              <a:t> </a:t>
            </a:r>
            <a:r>
              <a:rPr sz="1250" b="0" dirty="0" err="1">
                <a:solidFill>
                  <a:srgbClr val="44585A"/>
                </a:solidFill>
                <a:latin typeface="Malgun Gothic"/>
              </a:rPr>
              <a:t>서브넷</a:t>
            </a:r>
            <a:r>
              <a:rPr sz="1250" b="0" dirty="0">
                <a:solidFill>
                  <a:srgbClr val="44585A"/>
                </a:solidFill>
                <a:latin typeface="Malgun Gothic"/>
              </a:rPr>
              <a:t>(IP </a:t>
            </a:r>
            <a:r>
              <a:rPr sz="1250" b="0" dirty="0" err="1">
                <a:solidFill>
                  <a:srgbClr val="44585A"/>
                </a:solidFill>
                <a:latin typeface="Malgun Gothic"/>
              </a:rPr>
              <a:t>대역</a:t>
            </a:r>
            <a:r>
              <a:rPr sz="1250" b="0" dirty="0">
                <a:solidFill>
                  <a:srgbClr val="44585A"/>
                </a:solidFill>
                <a:latin typeface="Malgun Gothic"/>
              </a:rPr>
              <a:t>)을 </a:t>
            </a:r>
            <a:r>
              <a:rPr sz="1250" b="0" dirty="0" err="1">
                <a:solidFill>
                  <a:srgbClr val="44585A"/>
                </a:solidFill>
                <a:latin typeface="Malgun Gothic"/>
              </a:rPr>
              <a:t>부여해</a:t>
            </a:r>
            <a:r>
              <a:rPr sz="1250" b="0" dirty="0">
                <a:solidFill>
                  <a:srgbClr val="44585A"/>
                </a:solidFill>
                <a:latin typeface="Malgun Gothic"/>
              </a:rPr>
              <a:t> </a:t>
            </a:r>
            <a:r>
              <a:rPr sz="1250" b="0" dirty="0" err="1">
                <a:solidFill>
                  <a:srgbClr val="44585A"/>
                </a:solidFill>
                <a:latin typeface="Malgun Gothic"/>
              </a:rPr>
              <a:t>물리적으로</a:t>
            </a:r>
            <a:r>
              <a:rPr sz="1250" b="0" dirty="0">
                <a:solidFill>
                  <a:srgbClr val="44585A"/>
                </a:solidFill>
                <a:latin typeface="Malgun Gothic"/>
              </a:rPr>
              <a:t> </a:t>
            </a:r>
            <a:r>
              <a:rPr sz="1250" b="0" dirty="0" err="1">
                <a:solidFill>
                  <a:srgbClr val="44585A"/>
                </a:solidFill>
                <a:latin typeface="Malgun Gothic"/>
              </a:rPr>
              <a:t>통신</a:t>
            </a:r>
            <a:r>
              <a:rPr sz="1250" b="0" dirty="0">
                <a:solidFill>
                  <a:srgbClr val="44585A"/>
                </a:solidFill>
                <a:latin typeface="Malgun Gothic"/>
              </a:rPr>
              <a:t> </a:t>
            </a:r>
            <a:r>
              <a:rPr sz="1250" b="0" dirty="0" err="1">
                <a:solidFill>
                  <a:srgbClr val="44585A"/>
                </a:solidFill>
                <a:latin typeface="Malgun Gothic"/>
              </a:rPr>
              <a:t>경로를</a:t>
            </a:r>
            <a:r>
              <a:rPr sz="1250" b="0" dirty="0">
                <a:solidFill>
                  <a:srgbClr val="44585A"/>
                </a:solidFill>
                <a:latin typeface="Malgun Gothic"/>
              </a:rPr>
              <a:t> </a:t>
            </a:r>
            <a:r>
              <a:rPr sz="1250" b="0" dirty="0" err="1">
                <a:solidFill>
                  <a:srgbClr val="44585A"/>
                </a:solidFill>
                <a:latin typeface="Malgun Gothic"/>
              </a:rPr>
              <a:t>분리합니다</a:t>
            </a:r>
            <a:r>
              <a:rPr sz="1250" b="0" dirty="0">
                <a:solidFill>
                  <a:srgbClr val="44585A"/>
                </a:solidFill>
                <a:latin typeface="Malgun Gothic"/>
              </a:rPr>
              <a:t>.</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dirty="0">
                <a:solidFill>
                  <a:srgbClr val="44585A"/>
                </a:solidFill>
                <a:latin typeface="Malgun Gothic"/>
              </a:rPr>
              <a:t>▸ Auto </a:t>
            </a:r>
            <a:r>
              <a:rPr sz="1230" b="0" dirty="0" err="1">
                <a:solidFill>
                  <a:srgbClr val="44585A"/>
                </a:solidFill>
                <a:latin typeface="Malgun Gothic"/>
              </a:rPr>
              <a:t>모드</a:t>
            </a:r>
            <a:r>
              <a:rPr sz="1230" b="0" dirty="0">
                <a:solidFill>
                  <a:srgbClr val="44585A"/>
                </a:solidFill>
                <a:latin typeface="Malgun Gothic"/>
              </a:rPr>
              <a:t>(</a:t>
            </a:r>
            <a:r>
              <a:rPr sz="1230" b="0" dirty="0" err="1">
                <a:solidFill>
                  <a:srgbClr val="44585A"/>
                </a:solidFill>
                <a:latin typeface="Malgun Gothic"/>
              </a:rPr>
              <a:t>리전마다</a:t>
            </a:r>
            <a:r>
              <a:rPr sz="1230" b="0" dirty="0">
                <a:solidFill>
                  <a:srgbClr val="44585A"/>
                </a:solidFill>
                <a:latin typeface="Malgun Gothic"/>
              </a:rPr>
              <a:t> </a:t>
            </a:r>
            <a:r>
              <a:rPr sz="1230" b="0" dirty="0" err="1">
                <a:solidFill>
                  <a:srgbClr val="44585A"/>
                </a:solidFill>
                <a:latin typeface="Malgun Gothic"/>
              </a:rPr>
              <a:t>자동으로</a:t>
            </a:r>
            <a:r>
              <a:rPr sz="1230" b="0" dirty="0">
                <a:solidFill>
                  <a:srgbClr val="44585A"/>
                </a:solidFill>
                <a:latin typeface="Malgun Gothic"/>
              </a:rPr>
              <a:t> </a:t>
            </a:r>
            <a:r>
              <a:rPr sz="1230" b="0" dirty="0" err="1">
                <a:solidFill>
                  <a:srgbClr val="44585A"/>
                </a:solidFill>
                <a:latin typeface="Malgun Gothic"/>
              </a:rPr>
              <a:t>동일</a:t>
            </a:r>
            <a:r>
              <a:rPr sz="1230" b="0" dirty="0">
                <a:solidFill>
                  <a:srgbClr val="44585A"/>
                </a:solidFill>
                <a:latin typeface="Malgun Gothic"/>
              </a:rPr>
              <a:t> </a:t>
            </a:r>
            <a:r>
              <a:rPr sz="1230" b="0" dirty="0" err="1">
                <a:solidFill>
                  <a:srgbClr val="44585A"/>
                </a:solidFill>
                <a:latin typeface="Malgun Gothic"/>
              </a:rPr>
              <a:t>대역</a:t>
            </a:r>
            <a:r>
              <a:rPr sz="1230" b="0" dirty="0">
                <a:solidFill>
                  <a:srgbClr val="44585A"/>
                </a:solidFill>
                <a:latin typeface="Malgun Gothic"/>
              </a:rPr>
              <a:t> </a:t>
            </a:r>
            <a:r>
              <a:rPr sz="1230" b="0" dirty="0" err="1">
                <a:solidFill>
                  <a:srgbClr val="44585A"/>
                </a:solidFill>
                <a:latin typeface="Malgun Gothic"/>
              </a:rPr>
              <a:t>서브넷</a:t>
            </a:r>
            <a:r>
              <a:rPr sz="1230" b="0" dirty="0">
                <a:solidFill>
                  <a:srgbClr val="44585A"/>
                </a:solidFill>
                <a:latin typeface="Malgun Gothic"/>
              </a:rPr>
              <a:t> </a:t>
            </a:r>
            <a:r>
              <a:rPr sz="1230" b="0" dirty="0" err="1">
                <a:solidFill>
                  <a:srgbClr val="44585A"/>
                </a:solidFill>
                <a:latin typeface="Malgun Gothic"/>
              </a:rPr>
              <a:t>생성</a:t>
            </a:r>
            <a:r>
              <a:rPr sz="1230" b="0" dirty="0">
                <a:solidFill>
                  <a:srgbClr val="44585A"/>
                </a:solidFill>
                <a:latin typeface="Malgun Gothic"/>
              </a:rPr>
              <a:t>)가 </a:t>
            </a:r>
            <a:r>
              <a:rPr sz="1230" b="0" dirty="0" err="1">
                <a:solidFill>
                  <a:srgbClr val="44585A"/>
                </a:solidFill>
                <a:latin typeface="Malgun Gothic"/>
              </a:rPr>
              <a:t>아닌</a:t>
            </a:r>
            <a:r>
              <a:rPr sz="1230" b="0" dirty="0">
                <a:solidFill>
                  <a:srgbClr val="44585A"/>
                </a:solidFill>
                <a:latin typeface="Malgun Gothic"/>
              </a:rPr>
              <a:t> 'Custom </a:t>
            </a:r>
            <a:r>
              <a:rPr sz="1230" b="0" dirty="0" err="1">
                <a:solidFill>
                  <a:srgbClr val="44585A"/>
                </a:solidFill>
                <a:latin typeface="Malgun Gothic"/>
              </a:rPr>
              <a:t>모드'를</a:t>
            </a:r>
            <a:r>
              <a:rPr sz="1230" b="0" dirty="0">
                <a:solidFill>
                  <a:srgbClr val="44585A"/>
                </a:solidFill>
                <a:latin typeface="Malgun Gothic"/>
              </a:rPr>
              <a:t> </a:t>
            </a:r>
            <a:r>
              <a:rPr sz="1230" b="0" dirty="0" err="1">
                <a:solidFill>
                  <a:srgbClr val="44585A"/>
                </a:solidFill>
                <a:latin typeface="Malgun Gothic"/>
              </a:rPr>
              <a:t>선택</a:t>
            </a:r>
            <a:r>
              <a:rPr sz="1230" b="0" dirty="0">
                <a:solidFill>
                  <a:srgbClr val="44585A"/>
                </a:solidFill>
                <a:latin typeface="Malgun Gothic"/>
              </a:rPr>
              <a:t> — </a:t>
            </a:r>
            <a:r>
              <a:rPr sz="1230" b="0" dirty="0" err="1">
                <a:solidFill>
                  <a:srgbClr val="44585A"/>
                </a:solidFill>
                <a:latin typeface="Malgun Gothic"/>
              </a:rPr>
              <a:t>계층별로</a:t>
            </a:r>
            <a:r>
              <a:rPr sz="1230" b="0" dirty="0">
                <a:solidFill>
                  <a:srgbClr val="44585A"/>
                </a:solidFill>
                <a:latin typeface="Malgun Gothic"/>
              </a:rPr>
              <a:t> </a:t>
            </a:r>
            <a:r>
              <a:rPr sz="1230" b="0" dirty="0" err="1">
                <a:solidFill>
                  <a:srgbClr val="44585A"/>
                </a:solidFill>
                <a:latin typeface="Malgun Gothic"/>
              </a:rPr>
              <a:t>별도</a:t>
            </a:r>
            <a:r>
              <a:rPr sz="1230" b="0" dirty="0">
                <a:solidFill>
                  <a:srgbClr val="44585A"/>
                </a:solidFill>
                <a:latin typeface="Malgun Gothic"/>
              </a:rPr>
              <a:t> </a:t>
            </a:r>
            <a:r>
              <a:rPr sz="1230" b="0" dirty="0" err="1">
                <a:solidFill>
                  <a:srgbClr val="44585A"/>
                </a:solidFill>
                <a:latin typeface="Malgun Gothic"/>
              </a:rPr>
              <a:t>대역을</a:t>
            </a:r>
            <a:r>
              <a:rPr sz="1230" b="0" dirty="0">
                <a:solidFill>
                  <a:srgbClr val="44585A"/>
                </a:solidFill>
                <a:latin typeface="Malgun Gothic"/>
              </a:rPr>
              <a:t> </a:t>
            </a:r>
            <a:r>
              <a:rPr sz="1230" b="0" dirty="0" err="1">
                <a:solidFill>
                  <a:srgbClr val="44585A"/>
                </a:solidFill>
                <a:latin typeface="Malgun Gothic"/>
              </a:rPr>
              <a:t>직접</a:t>
            </a:r>
            <a:r>
              <a:rPr sz="1230" b="0" dirty="0">
                <a:solidFill>
                  <a:srgbClr val="44585A"/>
                </a:solidFill>
                <a:latin typeface="Malgun Gothic"/>
              </a:rPr>
              <a:t> </a:t>
            </a:r>
            <a:r>
              <a:rPr sz="1230" b="0" dirty="0" err="1">
                <a:solidFill>
                  <a:srgbClr val="44585A"/>
                </a:solidFill>
                <a:latin typeface="Malgun Gothic"/>
              </a:rPr>
              <a:t>설계해야</a:t>
            </a:r>
            <a:r>
              <a:rPr sz="1230" b="0" dirty="0">
                <a:solidFill>
                  <a:srgbClr val="44585A"/>
                </a:solidFill>
                <a:latin typeface="Malgun Gothic"/>
              </a:rPr>
              <a:t> </a:t>
            </a:r>
            <a:r>
              <a:rPr sz="1230" b="0" dirty="0" err="1">
                <a:solidFill>
                  <a:srgbClr val="44585A"/>
                </a:solidFill>
                <a:latin typeface="Malgun Gothic"/>
              </a:rPr>
              <a:t>방화벽</a:t>
            </a:r>
            <a:r>
              <a:rPr sz="1230" b="0" dirty="0">
                <a:solidFill>
                  <a:srgbClr val="44585A"/>
                </a:solidFill>
                <a:latin typeface="Malgun Gothic"/>
              </a:rPr>
              <a:t> </a:t>
            </a:r>
            <a:r>
              <a:rPr sz="1230" b="0" dirty="0" err="1">
                <a:solidFill>
                  <a:srgbClr val="44585A"/>
                </a:solidFill>
                <a:latin typeface="Malgun Gothic"/>
              </a:rPr>
              <a:t>규칙을</a:t>
            </a:r>
            <a:r>
              <a:rPr sz="1230" b="0" dirty="0">
                <a:solidFill>
                  <a:srgbClr val="44585A"/>
                </a:solidFill>
                <a:latin typeface="Malgun Gothic"/>
              </a:rPr>
              <a:t> '</a:t>
            </a:r>
            <a:r>
              <a:rPr sz="1230" b="0" dirty="0" err="1">
                <a:solidFill>
                  <a:srgbClr val="44585A"/>
                </a:solidFill>
                <a:latin typeface="Malgun Gothic"/>
              </a:rPr>
              <a:t>서브넷</a:t>
            </a:r>
            <a:r>
              <a:rPr sz="1230" b="0" dirty="0">
                <a:solidFill>
                  <a:srgbClr val="44585A"/>
                </a:solidFill>
                <a:latin typeface="Malgun Gothic"/>
              </a:rPr>
              <a:t> </a:t>
            </a:r>
            <a:r>
              <a:rPr sz="1230" b="0" dirty="0" err="1">
                <a:solidFill>
                  <a:srgbClr val="44585A"/>
                </a:solidFill>
                <a:latin typeface="Malgun Gothic"/>
              </a:rPr>
              <a:t>단위'로도</a:t>
            </a:r>
            <a:r>
              <a:rPr sz="1230" b="0" dirty="0">
                <a:solidFill>
                  <a:srgbClr val="44585A"/>
                </a:solidFill>
                <a:latin typeface="Malgun Gothic"/>
              </a:rPr>
              <a:t> </a:t>
            </a:r>
            <a:r>
              <a:rPr sz="1230" b="0" dirty="0" err="1">
                <a:solidFill>
                  <a:srgbClr val="44585A"/>
                </a:solidFill>
                <a:latin typeface="Malgun Gothic"/>
              </a:rPr>
              <a:t>이중</a:t>
            </a:r>
            <a:r>
              <a:rPr sz="1230" b="0" dirty="0">
                <a:solidFill>
                  <a:srgbClr val="44585A"/>
                </a:solidFill>
                <a:latin typeface="Malgun Gothic"/>
              </a:rPr>
              <a:t> </a:t>
            </a:r>
            <a:r>
              <a:rPr sz="1230" b="0" dirty="0" err="1">
                <a:solidFill>
                  <a:srgbClr val="44585A"/>
                </a:solidFill>
                <a:latin typeface="Malgun Gothic"/>
              </a:rPr>
              <a:t>적용할</a:t>
            </a:r>
            <a:r>
              <a:rPr sz="1230" b="0" dirty="0">
                <a:solidFill>
                  <a:srgbClr val="44585A"/>
                </a:solidFill>
                <a:latin typeface="Malgun Gothic"/>
              </a:rPr>
              <a:t> 수 </a:t>
            </a:r>
            <a:r>
              <a:rPr sz="1230" b="0" dirty="0" err="1">
                <a:solidFill>
                  <a:srgbClr val="44585A"/>
                </a:solidFill>
                <a:latin typeface="Malgun Gothic"/>
              </a:rPr>
              <a:t>있음</a:t>
            </a:r>
            <a:endParaRPr sz="1230" b="0" dirty="0">
              <a:solidFill>
                <a:srgbClr val="44585A"/>
              </a:solidFill>
              <a:latin typeface="Malgun Gothic"/>
            </a:endParaRPr>
          </a:p>
          <a:p>
            <a:pPr>
              <a:lnSpc>
                <a:spcPct val="118000"/>
              </a:lnSpc>
              <a:spcAft>
                <a:spcPts val="700"/>
              </a:spcAft>
            </a:pPr>
            <a:r>
              <a:rPr sz="1230" b="0" dirty="0">
                <a:solidFill>
                  <a:srgbClr val="44585A"/>
                </a:solidFill>
                <a:latin typeface="Malgun Gothic"/>
              </a:rPr>
              <a:t>▸ CIDR: web 10.0.1.0/24, was 10.0.2.0/24, </a:t>
            </a:r>
            <a:r>
              <a:rPr sz="1230" b="0" dirty="0" err="1">
                <a:solidFill>
                  <a:srgbClr val="44585A"/>
                </a:solidFill>
                <a:latin typeface="Malgun Gothic"/>
              </a:rPr>
              <a:t>db</a:t>
            </a:r>
            <a:r>
              <a:rPr sz="1230" b="0" dirty="0">
                <a:solidFill>
                  <a:srgbClr val="44585A"/>
                </a:solidFill>
                <a:latin typeface="Malgun Gothic"/>
              </a:rPr>
              <a:t> 10.0.3.0/24 — 각 /24는 254개의 </a:t>
            </a:r>
            <a:r>
              <a:rPr sz="1230" b="0" dirty="0" err="1">
                <a:solidFill>
                  <a:srgbClr val="44585A"/>
                </a:solidFill>
                <a:latin typeface="Malgun Gothic"/>
              </a:rPr>
              <a:t>사용</a:t>
            </a:r>
            <a:r>
              <a:rPr sz="1230" b="0" dirty="0">
                <a:solidFill>
                  <a:srgbClr val="44585A"/>
                </a:solidFill>
                <a:latin typeface="Malgun Gothic"/>
              </a:rPr>
              <a:t> </a:t>
            </a:r>
            <a:r>
              <a:rPr sz="1230" b="0" dirty="0" err="1">
                <a:solidFill>
                  <a:srgbClr val="44585A"/>
                </a:solidFill>
                <a:latin typeface="Malgun Gothic"/>
              </a:rPr>
              <a:t>가능</a:t>
            </a:r>
            <a:r>
              <a:rPr sz="1230" b="0" dirty="0">
                <a:solidFill>
                  <a:srgbClr val="44585A"/>
                </a:solidFill>
                <a:latin typeface="Malgun Gothic"/>
              </a:rPr>
              <a:t> </a:t>
            </a:r>
            <a:r>
              <a:rPr sz="1230" b="0" dirty="0" err="1">
                <a:solidFill>
                  <a:srgbClr val="44585A"/>
                </a:solidFill>
                <a:latin typeface="Malgun Gothic"/>
              </a:rPr>
              <a:t>IP를</a:t>
            </a:r>
            <a:r>
              <a:rPr sz="1230" b="0" dirty="0">
                <a:solidFill>
                  <a:srgbClr val="44585A"/>
                </a:solidFill>
                <a:latin typeface="Malgun Gothic"/>
              </a:rPr>
              <a:t> </a:t>
            </a:r>
            <a:r>
              <a:rPr sz="1230" b="0" dirty="0" err="1">
                <a:solidFill>
                  <a:srgbClr val="44585A"/>
                </a:solidFill>
                <a:latin typeface="Malgun Gothic"/>
              </a:rPr>
              <a:t>제공</a:t>
            </a:r>
            <a:r>
              <a:rPr sz="1230" b="0" dirty="0">
                <a:solidFill>
                  <a:srgbClr val="44585A"/>
                </a:solidFill>
                <a:latin typeface="Malgun Gothic"/>
              </a:rPr>
              <a:t>, MIG </a:t>
            </a:r>
            <a:r>
              <a:rPr sz="1230" b="0" dirty="0" err="1">
                <a:solidFill>
                  <a:srgbClr val="44585A"/>
                </a:solidFill>
                <a:latin typeface="Malgun Gothic"/>
              </a:rPr>
              <a:t>최대</a:t>
            </a:r>
            <a:r>
              <a:rPr sz="1230" b="0" dirty="0">
                <a:solidFill>
                  <a:srgbClr val="44585A"/>
                </a:solidFill>
                <a:latin typeface="Malgun Gothic"/>
              </a:rPr>
              <a:t> 6대 </a:t>
            </a:r>
            <a:r>
              <a:rPr sz="1230" b="0" dirty="0" err="1">
                <a:solidFill>
                  <a:srgbClr val="44585A"/>
                </a:solidFill>
                <a:latin typeface="Malgun Gothic"/>
              </a:rPr>
              <a:t>확장</a:t>
            </a:r>
            <a:r>
              <a:rPr sz="1230" b="0" dirty="0">
                <a:solidFill>
                  <a:srgbClr val="44585A"/>
                </a:solidFill>
                <a:latin typeface="Malgun Gothic"/>
              </a:rPr>
              <a:t> + </a:t>
            </a:r>
            <a:r>
              <a:rPr sz="1230" b="0" dirty="0" err="1">
                <a:solidFill>
                  <a:srgbClr val="44585A"/>
                </a:solidFill>
                <a:latin typeface="Malgun Gothic"/>
              </a:rPr>
              <a:t>향후</a:t>
            </a:r>
            <a:r>
              <a:rPr sz="1230" b="0" dirty="0">
                <a:solidFill>
                  <a:srgbClr val="44585A"/>
                </a:solidFill>
                <a:latin typeface="Malgun Gothic"/>
              </a:rPr>
              <a:t> </a:t>
            </a:r>
            <a:r>
              <a:rPr sz="1230" b="0" dirty="0" err="1">
                <a:solidFill>
                  <a:srgbClr val="44585A"/>
                </a:solidFill>
                <a:latin typeface="Malgun Gothic"/>
              </a:rPr>
              <a:t>증설</a:t>
            </a:r>
            <a:r>
              <a:rPr sz="1230" b="0" dirty="0">
                <a:solidFill>
                  <a:srgbClr val="44585A"/>
                </a:solidFill>
                <a:latin typeface="Malgun Gothic"/>
              </a:rPr>
              <a:t> </a:t>
            </a:r>
            <a:r>
              <a:rPr sz="1230" b="0" dirty="0" err="1">
                <a:solidFill>
                  <a:srgbClr val="44585A"/>
                </a:solidFill>
                <a:latin typeface="Malgun Gothic"/>
              </a:rPr>
              <a:t>여유분까지</a:t>
            </a:r>
            <a:r>
              <a:rPr sz="1230" b="0" dirty="0">
                <a:solidFill>
                  <a:srgbClr val="44585A"/>
                </a:solidFill>
                <a:latin typeface="Malgun Gothic"/>
              </a:rPr>
              <a:t> </a:t>
            </a:r>
            <a:r>
              <a:rPr sz="1230" b="0" dirty="0" err="1">
                <a:solidFill>
                  <a:srgbClr val="44585A"/>
                </a:solidFill>
                <a:latin typeface="Malgun Gothic"/>
              </a:rPr>
              <a:t>고려</a:t>
            </a:r>
            <a:endParaRPr sz="1230" b="0" dirty="0">
              <a:solidFill>
                <a:srgbClr val="44585A"/>
              </a:solidFill>
              <a:latin typeface="Malgun Gothic"/>
            </a:endParaRPr>
          </a:p>
          <a:p>
            <a:pPr>
              <a:lnSpc>
                <a:spcPct val="118000"/>
              </a:lnSpc>
              <a:spcAft>
                <a:spcPts val="700"/>
              </a:spcAft>
            </a:pPr>
            <a:r>
              <a:rPr sz="1230" b="0" dirty="0">
                <a:solidFill>
                  <a:srgbClr val="44585A"/>
                </a:solidFill>
                <a:latin typeface="Malgun Gothic"/>
              </a:rPr>
              <a:t>▸ </a:t>
            </a:r>
            <a:r>
              <a:rPr sz="1230" b="0" dirty="0" err="1">
                <a:solidFill>
                  <a:srgbClr val="44585A"/>
                </a:solidFill>
                <a:latin typeface="Malgun Gothic"/>
              </a:rPr>
              <a:t>리전은</a:t>
            </a:r>
            <a:r>
              <a:rPr sz="1230" b="0" dirty="0">
                <a:solidFill>
                  <a:srgbClr val="44585A"/>
                </a:solidFill>
                <a:latin typeface="Malgun Gothic"/>
              </a:rPr>
              <a:t> asia-northeast3(</a:t>
            </a:r>
            <a:r>
              <a:rPr sz="1230" b="0" dirty="0" err="1">
                <a:solidFill>
                  <a:srgbClr val="44585A"/>
                </a:solidFill>
                <a:latin typeface="Malgun Gothic"/>
              </a:rPr>
              <a:t>서울</a:t>
            </a:r>
            <a:r>
              <a:rPr sz="1230" b="0" dirty="0">
                <a:solidFill>
                  <a:srgbClr val="44585A"/>
                </a:solidFill>
                <a:latin typeface="Malgun Gothic"/>
              </a:rPr>
              <a:t>) </a:t>
            </a:r>
            <a:r>
              <a:rPr sz="1230" b="0" dirty="0" err="1">
                <a:solidFill>
                  <a:srgbClr val="44585A"/>
                </a:solidFill>
                <a:latin typeface="Malgun Gothic"/>
              </a:rPr>
              <a:t>단일</a:t>
            </a:r>
            <a:r>
              <a:rPr sz="1230" b="0" dirty="0">
                <a:solidFill>
                  <a:srgbClr val="44585A"/>
                </a:solidFill>
                <a:latin typeface="Malgun Gothic"/>
              </a:rPr>
              <a:t> </a:t>
            </a:r>
            <a:r>
              <a:rPr sz="1230" b="0" dirty="0" err="1">
                <a:solidFill>
                  <a:srgbClr val="44585A"/>
                </a:solidFill>
                <a:latin typeface="Malgun Gothic"/>
              </a:rPr>
              <a:t>리전</a:t>
            </a:r>
            <a:r>
              <a:rPr sz="1230" b="0" dirty="0">
                <a:solidFill>
                  <a:srgbClr val="44585A"/>
                </a:solidFill>
                <a:latin typeface="Malgun Gothic"/>
              </a:rPr>
              <a:t> </a:t>
            </a:r>
            <a:r>
              <a:rPr sz="1230" b="0" dirty="0" err="1">
                <a:solidFill>
                  <a:srgbClr val="44585A"/>
                </a:solidFill>
                <a:latin typeface="Malgun Gothic"/>
              </a:rPr>
              <a:t>채택</a:t>
            </a:r>
            <a:r>
              <a:rPr sz="1230" b="0" dirty="0">
                <a:solidFill>
                  <a:srgbClr val="44585A"/>
                </a:solidFill>
                <a:latin typeface="Malgun Gothic"/>
              </a:rPr>
              <a:t> — </a:t>
            </a:r>
            <a:r>
              <a:rPr sz="1230" b="0" dirty="0" err="1">
                <a:solidFill>
                  <a:srgbClr val="44585A"/>
                </a:solidFill>
                <a:latin typeface="Malgun Gothic"/>
              </a:rPr>
              <a:t>병원이</a:t>
            </a:r>
            <a:r>
              <a:rPr sz="1230" b="0" dirty="0">
                <a:solidFill>
                  <a:srgbClr val="44585A"/>
                </a:solidFill>
                <a:latin typeface="Malgun Gothic"/>
              </a:rPr>
              <a:t> </a:t>
            </a:r>
            <a:r>
              <a:rPr sz="1230" b="0" dirty="0" err="1">
                <a:solidFill>
                  <a:srgbClr val="44585A"/>
                </a:solidFill>
                <a:latin typeface="Malgun Gothic"/>
              </a:rPr>
              <a:t>국내</a:t>
            </a:r>
            <a:r>
              <a:rPr sz="1230" b="0" dirty="0">
                <a:solidFill>
                  <a:srgbClr val="44585A"/>
                </a:solidFill>
                <a:latin typeface="Malgun Gothic"/>
              </a:rPr>
              <a:t> </a:t>
            </a:r>
            <a:r>
              <a:rPr sz="1230" b="0" dirty="0" err="1">
                <a:solidFill>
                  <a:srgbClr val="44585A"/>
                </a:solidFill>
                <a:latin typeface="Malgun Gothic"/>
              </a:rPr>
              <a:t>소재라</a:t>
            </a:r>
            <a:r>
              <a:rPr sz="1230" b="0" dirty="0">
                <a:solidFill>
                  <a:srgbClr val="44585A"/>
                </a:solidFill>
                <a:latin typeface="Malgun Gothic"/>
              </a:rPr>
              <a:t> </a:t>
            </a:r>
            <a:r>
              <a:rPr sz="1230" b="0" dirty="0" err="1">
                <a:solidFill>
                  <a:srgbClr val="44585A"/>
                </a:solidFill>
                <a:latin typeface="Malgun Gothic"/>
              </a:rPr>
              <a:t>지연시간이</a:t>
            </a:r>
            <a:r>
              <a:rPr sz="1230" b="0" dirty="0">
                <a:solidFill>
                  <a:srgbClr val="44585A"/>
                </a:solidFill>
                <a:latin typeface="Malgun Gothic"/>
              </a:rPr>
              <a:t> </a:t>
            </a:r>
            <a:r>
              <a:rPr sz="1230" b="0" dirty="0" err="1">
                <a:solidFill>
                  <a:srgbClr val="44585A"/>
                </a:solidFill>
                <a:latin typeface="Malgun Gothic"/>
              </a:rPr>
              <a:t>가장</a:t>
            </a:r>
            <a:r>
              <a:rPr sz="1230" b="0" dirty="0">
                <a:solidFill>
                  <a:srgbClr val="44585A"/>
                </a:solidFill>
                <a:latin typeface="Malgun Gothic"/>
              </a:rPr>
              <a:t> </a:t>
            </a:r>
            <a:r>
              <a:rPr sz="1230" b="0" dirty="0" err="1">
                <a:solidFill>
                  <a:srgbClr val="44585A"/>
                </a:solidFill>
                <a:latin typeface="Malgun Gothic"/>
              </a:rPr>
              <a:t>중요하고</a:t>
            </a:r>
            <a:r>
              <a:rPr sz="1230" b="0" dirty="0">
                <a:solidFill>
                  <a:srgbClr val="44585A"/>
                </a:solidFill>
                <a:latin typeface="Malgun Gothic"/>
              </a:rPr>
              <a:t>, </a:t>
            </a:r>
            <a:r>
              <a:rPr sz="1230" b="0" dirty="0" err="1">
                <a:solidFill>
                  <a:srgbClr val="44585A"/>
                </a:solidFill>
                <a:latin typeface="Malgun Gothic"/>
              </a:rPr>
              <a:t>의료</a:t>
            </a:r>
            <a:r>
              <a:rPr sz="1230" b="0" dirty="0">
                <a:solidFill>
                  <a:srgbClr val="44585A"/>
                </a:solidFill>
                <a:latin typeface="Malgun Gothic"/>
              </a:rPr>
              <a:t> </a:t>
            </a:r>
            <a:r>
              <a:rPr sz="1230" b="0" dirty="0" err="1">
                <a:solidFill>
                  <a:srgbClr val="44585A"/>
                </a:solidFill>
                <a:latin typeface="Malgun Gothic"/>
              </a:rPr>
              <a:t>데이터</a:t>
            </a:r>
            <a:r>
              <a:rPr sz="1230" b="0" dirty="0">
                <a:solidFill>
                  <a:srgbClr val="44585A"/>
                </a:solidFill>
                <a:latin typeface="Malgun Gothic"/>
              </a:rPr>
              <a:t> </a:t>
            </a:r>
            <a:r>
              <a:rPr sz="1230" b="0" dirty="0" err="1">
                <a:solidFill>
                  <a:srgbClr val="44585A"/>
                </a:solidFill>
                <a:latin typeface="Malgun Gothic"/>
              </a:rPr>
              <a:t>성격상</a:t>
            </a:r>
            <a:r>
              <a:rPr sz="1230" b="0" dirty="0">
                <a:solidFill>
                  <a:srgbClr val="44585A"/>
                </a:solidFill>
                <a:latin typeface="Malgun Gothic"/>
              </a:rPr>
              <a:t> </a:t>
            </a:r>
            <a:r>
              <a:rPr sz="1230" b="0" dirty="0" err="1">
                <a:solidFill>
                  <a:srgbClr val="44585A"/>
                </a:solidFill>
                <a:latin typeface="Malgun Gothic"/>
              </a:rPr>
              <a:t>국내</a:t>
            </a:r>
            <a:r>
              <a:rPr sz="1230" b="0" dirty="0">
                <a:solidFill>
                  <a:srgbClr val="44585A"/>
                </a:solidFill>
                <a:latin typeface="Malgun Gothic"/>
              </a:rPr>
              <a:t> </a:t>
            </a:r>
            <a:r>
              <a:rPr sz="1230" b="0" dirty="0" err="1">
                <a:solidFill>
                  <a:srgbClr val="44585A"/>
                </a:solidFill>
                <a:latin typeface="Malgun Gothic"/>
              </a:rPr>
              <a:t>리전</a:t>
            </a:r>
            <a:r>
              <a:rPr sz="1230" b="0" dirty="0">
                <a:solidFill>
                  <a:srgbClr val="44585A"/>
                </a:solidFill>
                <a:latin typeface="Malgun Gothic"/>
              </a:rPr>
              <a:t> </a:t>
            </a:r>
            <a:r>
              <a:rPr sz="1230" b="0" dirty="0" err="1">
                <a:solidFill>
                  <a:srgbClr val="44585A"/>
                </a:solidFill>
                <a:latin typeface="Malgun Gothic"/>
              </a:rPr>
              <a:t>보관이</a:t>
            </a:r>
            <a:r>
              <a:rPr sz="1230" b="0" dirty="0">
                <a:solidFill>
                  <a:srgbClr val="44585A"/>
                </a:solidFill>
                <a:latin typeface="Malgun Gothic"/>
              </a:rPr>
              <a:t> </a:t>
            </a:r>
            <a:r>
              <a:rPr sz="1230" b="0" dirty="0" err="1">
                <a:solidFill>
                  <a:srgbClr val="44585A"/>
                </a:solidFill>
                <a:latin typeface="Malgun Gothic"/>
              </a:rPr>
              <a:t>규제</a:t>
            </a:r>
            <a:r>
              <a:rPr sz="1230" b="0" dirty="0">
                <a:solidFill>
                  <a:srgbClr val="44585A"/>
                </a:solidFill>
                <a:latin typeface="Malgun Gothic"/>
              </a:rPr>
              <a:t> </a:t>
            </a:r>
            <a:r>
              <a:rPr sz="1230" b="0" dirty="0" err="1">
                <a:solidFill>
                  <a:srgbClr val="44585A"/>
                </a:solidFill>
                <a:latin typeface="Malgun Gothic"/>
              </a:rPr>
              <a:t>대응에도</a:t>
            </a:r>
            <a:r>
              <a:rPr sz="1230" b="0" dirty="0">
                <a:solidFill>
                  <a:srgbClr val="44585A"/>
                </a:solidFill>
                <a:latin typeface="Malgun Gothic"/>
              </a:rPr>
              <a:t> </a:t>
            </a:r>
            <a:r>
              <a:rPr sz="1230" b="0" dirty="0" err="1">
                <a:solidFill>
                  <a:srgbClr val="44585A"/>
                </a:solidFill>
                <a:latin typeface="Malgun Gothic"/>
              </a:rPr>
              <a:t>유리</a:t>
            </a:r>
            <a:endParaRPr sz="1230" b="0" dirty="0">
              <a:solidFill>
                <a:srgbClr val="44585A"/>
              </a:solidFill>
              <a:latin typeface="Malgun Gothic"/>
            </a:endParaRPr>
          </a:p>
          <a:p>
            <a:pPr>
              <a:lnSpc>
                <a:spcPct val="118000"/>
              </a:lnSpc>
              <a:spcAft>
                <a:spcPts val="700"/>
              </a:spcAft>
            </a:pPr>
            <a:r>
              <a:rPr sz="1230" b="0" dirty="0">
                <a:solidFill>
                  <a:srgbClr val="44585A"/>
                </a:solidFill>
                <a:latin typeface="Malgun Gothic"/>
              </a:rPr>
              <a:t>▸ </a:t>
            </a:r>
            <a:r>
              <a:rPr sz="1230" b="0" dirty="0" err="1">
                <a:solidFill>
                  <a:srgbClr val="44585A"/>
                </a:solidFill>
                <a:latin typeface="Malgun Gothic"/>
              </a:rPr>
              <a:t>서브넷</a:t>
            </a:r>
            <a:r>
              <a:rPr sz="1230" b="0" dirty="0">
                <a:solidFill>
                  <a:srgbClr val="44585A"/>
                </a:solidFill>
                <a:latin typeface="Malgun Gothic"/>
              </a:rPr>
              <a:t> </a:t>
            </a:r>
            <a:r>
              <a:rPr sz="1230" b="0" dirty="0" err="1">
                <a:solidFill>
                  <a:srgbClr val="44585A"/>
                </a:solidFill>
                <a:latin typeface="Malgun Gothic"/>
              </a:rPr>
              <a:t>분리</a:t>
            </a:r>
            <a:r>
              <a:rPr sz="1230" b="0" dirty="0">
                <a:solidFill>
                  <a:srgbClr val="44585A"/>
                </a:solidFill>
                <a:latin typeface="Malgun Gothic"/>
              </a:rPr>
              <a:t> </a:t>
            </a:r>
            <a:r>
              <a:rPr sz="1230" b="0" dirty="0" err="1">
                <a:solidFill>
                  <a:srgbClr val="44585A"/>
                </a:solidFill>
                <a:latin typeface="Malgun Gothic"/>
              </a:rPr>
              <a:t>자체가</a:t>
            </a:r>
            <a:r>
              <a:rPr sz="1230" b="0" dirty="0">
                <a:solidFill>
                  <a:srgbClr val="44585A"/>
                </a:solidFill>
                <a:latin typeface="Malgun Gothic"/>
              </a:rPr>
              <a:t> '2차 </a:t>
            </a:r>
            <a:r>
              <a:rPr sz="1230" b="0" dirty="0" err="1">
                <a:solidFill>
                  <a:srgbClr val="44585A"/>
                </a:solidFill>
                <a:latin typeface="Malgun Gothic"/>
              </a:rPr>
              <a:t>방어선</a:t>
            </a:r>
            <a:r>
              <a:rPr sz="1230" b="0" dirty="0">
                <a:solidFill>
                  <a:srgbClr val="44585A"/>
                </a:solidFill>
                <a:latin typeface="Malgun Gothic"/>
              </a:rPr>
              <a:t>' </a:t>
            </a:r>
            <a:r>
              <a:rPr sz="1230" b="0" dirty="0" err="1">
                <a:solidFill>
                  <a:srgbClr val="44585A"/>
                </a:solidFill>
                <a:latin typeface="Malgun Gothic"/>
              </a:rPr>
              <a:t>역할</a:t>
            </a:r>
            <a:r>
              <a:rPr sz="1230" b="0" dirty="0">
                <a:solidFill>
                  <a:srgbClr val="44585A"/>
                </a:solidFill>
                <a:latin typeface="Malgun Gothic"/>
              </a:rPr>
              <a:t> — </a:t>
            </a:r>
            <a:r>
              <a:rPr sz="1230" b="0" dirty="0" err="1">
                <a:solidFill>
                  <a:srgbClr val="44585A"/>
                </a:solidFill>
                <a:latin typeface="Malgun Gothic"/>
              </a:rPr>
              <a:t>방화벽</a:t>
            </a:r>
            <a:r>
              <a:rPr sz="1230" b="0" dirty="0">
                <a:solidFill>
                  <a:srgbClr val="44585A"/>
                </a:solidFill>
                <a:latin typeface="Malgun Gothic"/>
              </a:rPr>
              <a:t> </a:t>
            </a:r>
            <a:r>
              <a:rPr sz="1230" b="0" dirty="0" err="1">
                <a:solidFill>
                  <a:srgbClr val="44585A"/>
                </a:solidFill>
                <a:latin typeface="Malgun Gothic"/>
              </a:rPr>
              <a:t>태그가</a:t>
            </a:r>
            <a:r>
              <a:rPr sz="1230" b="0" dirty="0">
                <a:solidFill>
                  <a:srgbClr val="44585A"/>
                </a:solidFill>
                <a:latin typeface="Malgun Gothic"/>
              </a:rPr>
              <a:t> </a:t>
            </a:r>
            <a:r>
              <a:rPr sz="1230" b="0" dirty="0" err="1">
                <a:solidFill>
                  <a:srgbClr val="44585A"/>
                </a:solidFill>
                <a:latin typeface="Malgun Gothic"/>
              </a:rPr>
              <a:t>실수로</a:t>
            </a:r>
            <a:r>
              <a:rPr sz="1230" b="0" dirty="0">
                <a:solidFill>
                  <a:srgbClr val="44585A"/>
                </a:solidFill>
                <a:latin typeface="Malgun Gothic"/>
              </a:rPr>
              <a:t> </a:t>
            </a:r>
            <a:r>
              <a:rPr sz="1230" b="0" dirty="0" err="1">
                <a:solidFill>
                  <a:srgbClr val="44585A"/>
                </a:solidFill>
                <a:latin typeface="Malgun Gothic"/>
              </a:rPr>
              <a:t>잘못</a:t>
            </a:r>
            <a:r>
              <a:rPr sz="1230" b="0" dirty="0">
                <a:solidFill>
                  <a:srgbClr val="44585A"/>
                </a:solidFill>
                <a:latin typeface="Malgun Gothic"/>
              </a:rPr>
              <a:t> </a:t>
            </a:r>
            <a:r>
              <a:rPr sz="1230" b="0" dirty="0" err="1">
                <a:solidFill>
                  <a:srgbClr val="44585A"/>
                </a:solidFill>
                <a:latin typeface="Malgun Gothic"/>
              </a:rPr>
              <a:t>붙어도</a:t>
            </a:r>
            <a:r>
              <a:rPr sz="1230" b="0" dirty="0">
                <a:solidFill>
                  <a:srgbClr val="44585A"/>
                </a:solidFill>
                <a:latin typeface="Malgun Gothic"/>
              </a:rPr>
              <a:t> </a:t>
            </a:r>
            <a:r>
              <a:rPr sz="1230" b="0" dirty="0" err="1">
                <a:solidFill>
                  <a:srgbClr val="44585A"/>
                </a:solidFill>
                <a:latin typeface="Malgun Gothic"/>
              </a:rPr>
              <a:t>서브넷</a:t>
            </a:r>
            <a:r>
              <a:rPr sz="1230" b="0" dirty="0">
                <a:solidFill>
                  <a:srgbClr val="44585A"/>
                </a:solidFill>
                <a:latin typeface="Malgun Gothic"/>
              </a:rPr>
              <a:t> </a:t>
            </a:r>
            <a:r>
              <a:rPr sz="1230" b="0" dirty="0" err="1">
                <a:solidFill>
                  <a:srgbClr val="44585A"/>
                </a:solidFill>
                <a:latin typeface="Malgun Gothic"/>
              </a:rPr>
              <a:t>경계</a:t>
            </a:r>
            <a:r>
              <a:rPr sz="1230" b="0" dirty="0">
                <a:solidFill>
                  <a:srgbClr val="44585A"/>
                </a:solidFill>
                <a:latin typeface="Malgun Gothic"/>
              </a:rPr>
              <a:t>(</a:t>
            </a:r>
            <a:r>
              <a:rPr sz="1230" b="0" dirty="0" err="1">
                <a:solidFill>
                  <a:srgbClr val="44585A"/>
                </a:solidFill>
                <a:latin typeface="Malgun Gothic"/>
              </a:rPr>
              <a:t>라우팅</a:t>
            </a:r>
            <a:r>
              <a:rPr sz="1230" b="0" dirty="0">
                <a:solidFill>
                  <a:srgbClr val="44585A"/>
                </a:solidFill>
                <a:latin typeface="Malgun Gothic"/>
              </a:rPr>
              <a:t>) </a:t>
            </a:r>
            <a:r>
              <a:rPr sz="1230" b="0" dirty="0" err="1">
                <a:solidFill>
                  <a:srgbClr val="44585A"/>
                </a:solidFill>
                <a:latin typeface="Malgun Gothic"/>
              </a:rPr>
              <a:t>자체가</a:t>
            </a:r>
            <a:r>
              <a:rPr sz="1230" b="0" dirty="0">
                <a:solidFill>
                  <a:srgbClr val="44585A"/>
                </a:solidFill>
                <a:latin typeface="Malgun Gothic"/>
              </a:rPr>
              <a:t> </a:t>
            </a:r>
            <a:r>
              <a:rPr sz="1230" b="0" dirty="0" err="1">
                <a:solidFill>
                  <a:srgbClr val="44585A"/>
                </a:solidFill>
                <a:latin typeface="Malgun Gothic"/>
              </a:rPr>
              <a:t>다른</a:t>
            </a:r>
            <a:r>
              <a:rPr sz="1230" b="0" dirty="0">
                <a:solidFill>
                  <a:srgbClr val="44585A"/>
                </a:solidFill>
                <a:latin typeface="Malgun Gothic"/>
              </a:rPr>
              <a:t> </a:t>
            </a:r>
            <a:r>
              <a:rPr sz="1230" b="0" dirty="0" err="1">
                <a:solidFill>
                  <a:srgbClr val="44585A"/>
                </a:solidFill>
                <a:latin typeface="Malgun Gothic"/>
              </a:rPr>
              <a:t>계층</a:t>
            </a:r>
            <a:r>
              <a:rPr sz="1230" b="0" dirty="0">
                <a:solidFill>
                  <a:srgbClr val="44585A"/>
                </a:solidFill>
                <a:latin typeface="Malgun Gothic"/>
              </a:rPr>
              <a:t> </a:t>
            </a:r>
            <a:r>
              <a:rPr sz="1230" b="0" dirty="0" err="1">
                <a:solidFill>
                  <a:srgbClr val="44585A"/>
                </a:solidFill>
                <a:latin typeface="Malgun Gothic"/>
              </a:rPr>
              <a:t>접근을</a:t>
            </a:r>
            <a:r>
              <a:rPr sz="1230" b="0" dirty="0">
                <a:solidFill>
                  <a:srgbClr val="44585A"/>
                </a:solidFill>
                <a:latin typeface="Malgun Gothic"/>
              </a:rPr>
              <a:t> </a:t>
            </a:r>
            <a:r>
              <a:rPr sz="1230" b="0" dirty="0" err="1">
                <a:solidFill>
                  <a:srgbClr val="44585A"/>
                </a:solidFill>
                <a:latin typeface="Malgun Gothic"/>
              </a:rPr>
              <a:t>물리적으로</a:t>
            </a:r>
            <a:r>
              <a:rPr sz="1230" b="0" dirty="0">
                <a:solidFill>
                  <a:srgbClr val="44585A"/>
                </a:solidFill>
                <a:latin typeface="Malgun Gothic"/>
              </a:rPr>
              <a:t> </a:t>
            </a:r>
            <a:r>
              <a:rPr sz="1230" b="0" dirty="0" err="1">
                <a:solidFill>
                  <a:srgbClr val="44585A"/>
                </a:solidFill>
                <a:latin typeface="Malgun Gothic"/>
              </a:rPr>
              <a:t>막아줌</a:t>
            </a:r>
            <a:endParaRPr sz="1230" b="0" dirty="0">
              <a:solidFill>
                <a:srgbClr val="44585A"/>
              </a:solidFill>
              <a:latin typeface="Malgun Gothic"/>
            </a:endParaRP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dirty="0">
                <a:solidFill>
                  <a:srgbClr val="44585A"/>
                </a:solidFill>
                <a:latin typeface="Malgun Gothic"/>
              </a:rPr>
              <a:t>▸ </a:t>
            </a:r>
            <a:r>
              <a:rPr sz="1180" b="0" dirty="0" err="1">
                <a:solidFill>
                  <a:srgbClr val="44585A"/>
                </a:solidFill>
                <a:latin typeface="Malgun Gothic"/>
              </a:rPr>
              <a:t>단일</a:t>
            </a:r>
            <a:r>
              <a:rPr sz="1180" b="0" dirty="0">
                <a:solidFill>
                  <a:srgbClr val="44585A"/>
                </a:solidFill>
                <a:latin typeface="Malgun Gothic"/>
              </a:rPr>
              <a:t> Flat </a:t>
            </a:r>
            <a:r>
              <a:rPr sz="1180" b="0" dirty="0" err="1">
                <a:solidFill>
                  <a:srgbClr val="44585A"/>
                </a:solidFill>
                <a:latin typeface="Malgun Gothic"/>
              </a:rPr>
              <a:t>네트워크</a:t>
            </a:r>
            <a:r>
              <a:rPr sz="1180" b="0" dirty="0">
                <a:solidFill>
                  <a:srgbClr val="44585A"/>
                </a:solidFill>
                <a:latin typeface="Malgun Gothic"/>
              </a:rPr>
              <a:t>(</a:t>
            </a:r>
            <a:r>
              <a:rPr sz="1180" b="0" dirty="0" err="1">
                <a:solidFill>
                  <a:srgbClr val="44585A"/>
                </a:solidFill>
                <a:latin typeface="Malgun Gothic"/>
              </a:rPr>
              <a:t>온프레미스</a:t>
            </a:r>
            <a:r>
              <a:rPr sz="1180" b="0" dirty="0">
                <a:solidFill>
                  <a:srgbClr val="44585A"/>
                </a:solidFill>
                <a:latin typeface="Malgun Gothic"/>
              </a:rPr>
              <a:t> </a:t>
            </a:r>
            <a:r>
              <a:rPr sz="1180" b="0" dirty="0" err="1">
                <a:solidFill>
                  <a:srgbClr val="44585A"/>
                </a:solidFill>
                <a:latin typeface="Malgun Gothic"/>
              </a:rPr>
              <a:t>방식</a:t>
            </a:r>
            <a:r>
              <a:rPr sz="1180" b="0" dirty="0">
                <a:solidFill>
                  <a:srgbClr val="44585A"/>
                </a:solidFill>
                <a:latin typeface="Malgun Gothic"/>
              </a:rPr>
              <a:t> </a:t>
            </a:r>
            <a:r>
              <a:rPr sz="1180" b="0" dirty="0" err="1">
                <a:solidFill>
                  <a:srgbClr val="44585A"/>
                </a:solidFill>
                <a:latin typeface="Malgun Gothic"/>
              </a:rPr>
              <a:t>그대로</a:t>
            </a:r>
            <a:r>
              <a:rPr sz="1180" b="0" dirty="0">
                <a:solidFill>
                  <a:srgbClr val="44585A"/>
                </a:solidFill>
                <a:latin typeface="Malgun Gothic"/>
              </a:rPr>
              <a:t>) — </a:t>
            </a:r>
            <a:r>
              <a:rPr sz="1180" b="0" dirty="0" err="1">
                <a:solidFill>
                  <a:srgbClr val="44585A"/>
                </a:solidFill>
                <a:latin typeface="Malgun Gothic"/>
              </a:rPr>
              <a:t>계층</a:t>
            </a:r>
            <a:r>
              <a:rPr sz="1180" b="0" dirty="0">
                <a:solidFill>
                  <a:srgbClr val="44585A"/>
                </a:solidFill>
                <a:latin typeface="Malgun Gothic"/>
              </a:rPr>
              <a:t> 간 </a:t>
            </a:r>
            <a:r>
              <a:rPr sz="1180" b="0" dirty="0" err="1">
                <a:solidFill>
                  <a:srgbClr val="44585A"/>
                </a:solidFill>
                <a:latin typeface="Malgun Gothic"/>
              </a:rPr>
              <a:t>경계가</a:t>
            </a:r>
            <a:r>
              <a:rPr sz="1180" b="0" dirty="0">
                <a:solidFill>
                  <a:srgbClr val="44585A"/>
                </a:solidFill>
                <a:latin typeface="Malgun Gothic"/>
              </a:rPr>
              <a:t> </a:t>
            </a:r>
            <a:r>
              <a:rPr sz="1180" b="0" dirty="0" err="1">
                <a:solidFill>
                  <a:srgbClr val="44585A"/>
                </a:solidFill>
                <a:latin typeface="Malgun Gothic"/>
              </a:rPr>
              <a:t>없어</a:t>
            </a:r>
            <a:r>
              <a:rPr sz="1180" b="0" dirty="0">
                <a:solidFill>
                  <a:srgbClr val="44585A"/>
                </a:solidFill>
                <a:latin typeface="Malgun Gothic"/>
              </a:rPr>
              <a:t> </a:t>
            </a:r>
            <a:r>
              <a:rPr sz="1180" b="0" dirty="0" err="1">
                <a:solidFill>
                  <a:srgbClr val="44585A"/>
                </a:solidFill>
                <a:latin typeface="Malgun Gothic"/>
              </a:rPr>
              <a:t>요구사항</a:t>
            </a:r>
            <a:r>
              <a:rPr sz="1180" b="0" dirty="0">
                <a:solidFill>
                  <a:srgbClr val="44585A"/>
                </a:solidFill>
                <a:latin typeface="Malgun Gothic"/>
              </a:rPr>
              <a:t> 8(</a:t>
            </a:r>
            <a:r>
              <a:rPr sz="1180" b="0" dirty="0" err="1">
                <a:solidFill>
                  <a:srgbClr val="44585A"/>
                </a:solidFill>
                <a:latin typeface="Malgun Gothic"/>
              </a:rPr>
              <a:t>최소권한</a:t>
            </a:r>
            <a:r>
              <a:rPr sz="1180" b="0" dirty="0">
                <a:solidFill>
                  <a:srgbClr val="44585A"/>
                </a:solidFill>
                <a:latin typeface="Malgun Gothic"/>
              </a:rPr>
              <a:t>) </a:t>
            </a:r>
            <a:r>
              <a:rPr sz="1180" b="0" dirty="0" err="1">
                <a:solidFill>
                  <a:srgbClr val="44585A"/>
                </a:solidFill>
                <a:latin typeface="Malgun Gothic"/>
              </a:rPr>
              <a:t>정면</a:t>
            </a:r>
            <a:r>
              <a:rPr sz="1180" b="0" dirty="0">
                <a:solidFill>
                  <a:srgbClr val="44585A"/>
                </a:solidFill>
                <a:latin typeface="Malgun Gothic"/>
              </a:rPr>
              <a:t> </a:t>
            </a:r>
            <a:r>
              <a:rPr sz="1180" b="0" dirty="0" err="1">
                <a:solidFill>
                  <a:srgbClr val="44585A"/>
                </a:solidFill>
                <a:latin typeface="Malgun Gothic"/>
              </a:rPr>
              <a:t>위반</a:t>
            </a:r>
            <a:r>
              <a:rPr sz="1180" b="0" dirty="0">
                <a:solidFill>
                  <a:srgbClr val="44585A"/>
                </a:solidFill>
                <a:latin typeface="Malgun Gothic"/>
              </a:rPr>
              <a:t>, 한 </a:t>
            </a:r>
            <a:r>
              <a:rPr sz="1180" b="0" dirty="0" err="1">
                <a:solidFill>
                  <a:srgbClr val="44585A"/>
                </a:solidFill>
                <a:latin typeface="Malgun Gothic"/>
              </a:rPr>
              <a:t>서버가</a:t>
            </a:r>
            <a:r>
              <a:rPr sz="1180" b="0" dirty="0">
                <a:solidFill>
                  <a:srgbClr val="44585A"/>
                </a:solidFill>
                <a:latin typeface="Malgun Gothic"/>
              </a:rPr>
              <a:t> </a:t>
            </a:r>
            <a:r>
              <a:rPr sz="1180" b="0" dirty="0" err="1">
                <a:solidFill>
                  <a:srgbClr val="44585A"/>
                </a:solidFill>
                <a:latin typeface="Malgun Gothic"/>
              </a:rPr>
              <a:t>뚫리면</a:t>
            </a:r>
            <a:r>
              <a:rPr sz="1180" b="0" dirty="0">
                <a:solidFill>
                  <a:srgbClr val="44585A"/>
                </a:solidFill>
                <a:latin typeface="Malgun Gothic"/>
              </a:rPr>
              <a:t> </a:t>
            </a:r>
            <a:r>
              <a:rPr sz="1180" b="0" dirty="0" err="1">
                <a:solidFill>
                  <a:srgbClr val="44585A"/>
                </a:solidFill>
                <a:latin typeface="Malgun Gothic"/>
              </a:rPr>
              <a:t>전체</a:t>
            </a:r>
            <a:r>
              <a:rPr sz="1180" b="0" dirty="0">
                <a:solidFill>
                  <a:srgbClr val="44585A"/>
                </a:solidFill>
                <a:latin typeface="Malgun Gothic"/>
              </a:rPr>
              <a:t> </a:t>
            </a:r>
            <a:r>
              <a:rPr sz="1180" b="0" dirty="0" err="1">
                <a:solidFill>
                  <a:srgbClr val="44585A"/>
                </a:solidFill>
                <a:latin typeface="Malgun Gothic"/>
              </a:rPr>
              <a:t>서버가</a:t>
            </a:r>
            <a:r>
              <a:rPr sz="1180" b="0" dirty="0">
                <a:solidFill>
                  <a:srgbClr val="44585A"/>
                </a:solidFill>
                <a:latin typeface="Malgun Gothic"/>
              </a:rPr>
              <a:t> 다 </a:t>
            </a:r>
            <a:r>
              <a:rPr sz="1180" b="0" dirty="0" err="1">
                <a:solidFill>
                  <a:srgbClr val="44585A"/>
                </a:solidFill>
                <a:latin typeface="Malgun Gothic"/>
              </a:rPr>
              <a:t>보임</a:t>
            </a:r>
            <a:endParaRPr sz="1180" b="0" dirty="0">
              <a:solidFill>
                <a:srgbClr val="44585A"/>
              </a:solidFill>
              <a:latin typeface="Malgun Gothic"/>
            </a:endParaRPr>
          </a:p>
          <a:p>
            <a:pPr>
              <a:lnSpc>
                <a:spcPct val="118000"/>
              </a:lnSpc>
              <a:spcAft>
                <a:spcPts val="700"/>
              </a:spcAft>
            </a:pPr>
            <a:r>
              <a:rPr sz="1180" b="0" dirty="0">
                <a:solidFill>
                  <a:srgbClr val="44585A"/>
                </a:solidFill>
                <a:latin typeface="Malgun Gothic"/>
              </a:rPr>
              <a:t>▸ Auto </a:t>
            </a:r>
            <a:r>
              <a:rPr sz="1180" b="0" dirty="0" err="1">
                <a:solidFill>
                  <a:srgbClr val="44585A"/>
                </a:solidFill>
                <a:latin typeface="Malgun Gothic"/>
              </a:rPr>
              <a:t>모드</a:t>
            </a:r>
            <a:r>
              <a:rPr sz="1180" b="0" dirty="0">
                <a:solidFill>
                  <a:srgbClr val="44585A"/>
                </a:solidFill>
                <a:latin typeface="Malgun Gothic"/>
              </a:rPr>
              <a:t> VPC — </a:t>
            </a:r>
            <a:r>
              <a:rPr sz="1180" b="0" dirty="0" err="1">
                <a:solidFill>
                  <a:srgbClr val="44585A"/>
                </a:solidFill>
                <a:latin typeface="Malgun Gothic"/>
              </a:rPr>
              <a:t>관리는</a:t>
            </a:r>
            <a:r>
              <a:rPr sz="1180" b="0" dirty="0">
                <a:solidFill>
                  <a:srgbClr val="44585A"/>
                </a:solidFill>
                <a:latin typeface="Malgun Gothic"/>
              </a:rPr>
              <a:t> </a:t>
            </a:r>
            <a:r>
              <a:rPr sz="1180" b="0" dirty="0" err="1">
                <a:solidFill>
                  <a:srgbClr val="44585A"/>
                </a:solidFill>
                <a:latin typeface="Malgun Gothic"/>
              </a:rPr>
              <a:t>편하지만</a:t>
            </a:r>
            <a:r>
              <a:rPr sz="1180" b="0" dirty="0">
                <a:solidFill>
                  <a:srgbClr val="44585A"/>
                </a:solidFill>
                <a:latin typeface="Malgun Gothic"/>
              </a:rPr>
              <a:t> </a:t>
            </a:r>
            <a:r>
              <a:rPr sz="1180" b="0" dirty="0" err="1">
                <a:solidFill>
                  <a:srgbClr val="44585A"/>
                </a:solidFill>
                <a:latin typeface="Malgun Gothic"/>
              </a:rPr>
              <a:t>서브넷</a:t>
            </a:r>
            <a:r>
              <a:rPr sz="1180" b="0" dirty="0">
                <a:solidFill>
                  <a:srgbClr val="44585A"/>
                </a:solidFill>
                <a:latin typeface="Malgun Gothic"/>
              </a:rPr>
              <a:t> </a:t>
            </a:r>
            <a:r>
              <a:rPr sz="1180" b="0" dirty="0" err="1">
                <a:solidFill>
                  <a:srgbClr val="44585A"/>
                </a:solidFill>
                <a:latin typeface="Malgun Gothic"/>
              </a:rPr>
              <a:t>대역을</a:t>
            </a:r>
            <a:r>
              <a:rPr sz="1180" b="0" dirty="0">
                <a:solidFill>
                  <a:srgbClr val="44585A"/>
                </a:solidFill>
                <a:latin typeface="Malgun Gothic"/>
              </a:rPr>
              <a:t> </a:t>
            </a:r>
            <a:r>
              <a:rPr sz="1180" b="0" dirty="0" err="1">
                <a:solidFill>
                  <a:srgbClr val="44585A"/>
                </a:solidFill>
                <a:latin typeface="Malgun Gothic"/>
              </a:rPr>
              <a:t>우리가</a:t>
            </a:r>
            <a:r>
              <a:rPr sz="1180" b="0" dirty="0">
                <a:solidFill>
                  <a:srgbClr val="44585A"/>
                </a:solidFill>
                <a:latin typeface="Malgun Gothic"/>
              </a:rPr>
              <a:t> </a:t>
            </a:r>
            <a:r>
              <a:rPr sz="1180" b="0" dirty="0" err="1">
                <a:solidFill>
                  <a:srgbClr val="44585A"/>
                </a:solidFill>
                <a:latin typeface="Malgun Gothic"/>
              </a:rPr>
              <a:t>설계할</a:t>
            </a:r>
            <a:r>
              <a:rPr sz="1180" b="0" dirty="0">
                <a:solidFill>
                  <a:srgbClr val="44585A"/>
                </a:solidFill>
                <a:latin typeface="Malgun Gothic"/>
              </a:rPr>
              <a:t> 수 </a:t>
            </a:r>
            <a:r>
              <a:rPr sz="1180" b="0" dirty="0" err="1">
                <a:solidFill>
                  <a:srgbClr val="44585A"/>
                </a:solidFill>
                <a:latin typeface="Malgun Gothic"/>
              </a:rPr>
              <a:t>없어</a:t>
            </a:r>
            <a:r>
              <a:rPr sz="1180" b="0" dirty="0">
                <a:solidFill>
                  <a:srgbClr val="44585A"/>
                </a:solidFill>
                <a:latin typeface="Malgun Gothic"/>
              </a:rPr>
              <a:t> </a:t>
            </a:r>
            <a:r>
              <a:rPr sz="1180" b="0" dirty="0" err="1">
                <a:solidFill>
                  <a:srgbClr val="44585A"/>
                </a:solidFill>
                <a:latin typeface="Malgun Gothic"/>
              </a:rPr>
              <a:t>계층</a:t>
            </a:r>
            <a:r>
              <a:rPr sz="1180" b="0" dirty="0">
                <a:solidFill>
                  <a:srgbClr val="44585A"/>
                </a:solidFill>
                <a:latin typeface="Malgun Gothic"/>
              </a:rPr>
              <a:t> </a:t>
            </a:r>
            <a:r>
              <a:rPr sz="1180" b="0" dirty="0" err="1">
                <a:solidFill>
                  <a:srgbClr val="44585A"/>
                </a:solidFill>
                <a:latin typeface="Malgun Gothic"/>
              </a:rPr>
              <a:t>분리</a:t>
            </a:r>
            <a:r>
              <a:rPr sz="1180" b="0" dirty="0">
                <a:solidFill>
                  <a:srgbClr val="44585A"/>
                </a:solidFill>
                <a:latin typeface="Malgun Gothic"/>
              </a:rPr>
              <a:t> </a:t>
            </a:r>
            <a:r>
              <a:rPr sz="1180" b="0" dirty="0" err="1">
                <a:solidFill>
                  <a:srgbClr val="44585A"/>
                </a:solidFill>
                <a:latin typeface="Malgun Gothic"/>
              </a:rPr>
              <a:t>자체가</a:t>
            </a:r>
            <a:r>
              <a:rPr sz="1180" b="0" dirty="0">
                <a:solidFill>
                  <a:srgbClr val="44585A"/>
                </a:solidFill>
                <a:latin typeface="Malgun Gothic"/>
              </a:rPr>
              <a:t> </a:t>
            </a:r>
            <a:r>
              <a:rPr sz="1180" b="0" dirty="0" err="1">
                <a:solidFill>
                  <a:srgbClr val="44585A"/>
                </a:solidFill>
                <a:latin typeface="Malgun Gothic"/>
              </a:rPr>
              <a:t>불가능</a:t>
            </a:r>
            <a:endParaRPr sz="1180" b="0" dirty="0">
              <a:solidFill>
                <a:srgbClr val="44585A"/>
              </a:solidFill>
              <a:latin typeface="Malgun Gothic"/>
            </a:endParaRPr>
          </a:p>
          <a:p>
            <a:pPr>
              <a:lnSpc>
                <a:spcPct val="118000"/>
              </a:lnSpc>
              <a:spcAft>
                <a:spcPts val="700"/>
              </a:spcAft>
            </a:pPr>
            <a:r>
              <a:rPr sz="1180" b="0" dirty="0">
                <a:solidFill>
                  <a:srgbClr val="44585A"/>
                </a:solidFill>
                <a:latin typeface="Malgun Gothic"/>
              </a:rPr>
              <a:t>▸ </a:t>
            </a:r>
            <a:r>
              <a:rPr sz="1180" b="0" dirty="0" err="1">
                <a:solidFill>
                  <a:srgbClr val="44585A"/>
                </a:solidFill>
                <a:latin typeface="Malgun Gothic"/>
              </a:rPr>
              <a:t>멀티</a:t>
            </a:r>
            <a:r>
              <a:rPr sz="1180" b="0" dirty="0">
                <a:solidFill>
                  <a:srgbClr val="44585A"/>
                </a:solidFill>
                <a:latin typeface="Malgun Gothic"/>
              </a:rPr>
              <a:t> </a:t>
            </a:r>
            <a:r>
              <a:rPr sz="1180" b="0" dirty="0" err="1">
                <a:solidFill>
                  <a:srgbClr val="44585A"/>
                </a:solidFill>
                <a:latin typeface="Malgun Gothic"/>
              </a:rPr>
              <a:t>리전</a:t>
            </a:r>
            <a:r>
              <a:rPr sz="1180" b="0" dirty="0">
                <a:solidFill>
                  <a:srgbClr val="44585A"/>
                </a:solidFill>
                <a:latin typeface="Malgun Gothic"/>
              </a:rPr>
              <a:t>(</a:t>
            </a:r>
            <a:r>
              <a:rPr sz="1180" b="0" dirty="0" err="1">
                <a:solidFill>
                  <a:srgbClr val="44585A"/>
                </a:solidFill>
                <a:latin typeface="Malgun Gothic"/>
              </a:rPr>
              <a:t>서울+도쿄</a:t>
            </a:r>
            <a:r>
              <a:rPr sz="1180" b="0" dirty="0">
                <a:solidFill>
                  <a:srgbClr val="44585A"/>
                </a:solidFill>
                <a:latin typeface="Malgun Gothic"/>
              </a:rPr>
              <a:t> 등) — </a:t>
            </a:r>
            <a:r>
              <a:rPr sz="1180" b="0" dirty="0" err="1">
                <a:solidFill>
                  <a:srgbClr val="44585A"/>
                </a:solidFill>
                <a:latin typeface="Malgun Gothic"/>
              </a:rPr>
              <a:t>이번</a:t>
            </a:r>
            <a:r>
              <a:rPr sz="1180" b="0" dirty="0">
                <a:solidFill>
                  <a:srgbClr val="44585A"/>
                </a:solidFill>
                <a:latin typeface="Malgun Gothic"/>
              </a:rPr>
              <a:t> 1차 </a:t>
            </a:r>
            <a:r>
              <a:rPr sz="1180" b="0" dirty="0" err="1">
                <a:solidFill>
                  <a:srgbClr val="44585A"/>
                </a:solidFill>
                <a:latin typeface="Malgun Gothic"/>
              </a:rPr>
              <a:t>구축</a:t>
            </a:r>
            <a:r>
              <a:rPr sz="1180" b="0" dirty="0">
                <a:solidFill>
                  <a:srgbClr val="44585A"/>
                </a:solidFill>
                <a:latin typeface="Malgun Gothic"/>
              </a:rPr>
              <a:t> </a:t>
            </a:r>
            <a:r>
              <a:rPr sz="1180" b="0" dirty="0" err="1">
                <a:solidFill>
                  <a:srgbClr val="44585A"/>
                </a:solidFill>
                <a:latin typeface="Malgun Gothic"/>
              </a:rPr>
              <a:t>범위</a:t>
            </a:r>
            <a:r>
              <a:rPr sz="1180" b="0" dirty="0">
                <a:solidFill>
                  <a:srgbClr val="44585A"/>
                </a:solidFill>
                <a:latin typeface="Malgun Gothic"/>
              </a:rPr>
              <a:t> 밖. </a:t>
            </a:r>
            <a:r>
              <a:rPr sz="1180" b="0" dirty="0" err="1">
                <a:solidFill>
                  <a:srgbClr val="44585A"/>
                </a:solidFill>
                <a:latin typeface="Malgun Gothic"/>
              </a:rPr>
              <a:t>국내</a:t>
            </a:r>
            <a:r>
              <a:rPr sz="1180" b="0" dirty="0">
                <a:solidFill>
                  <a:srgbClr val="44585A"/>
                </a:solidFill>
                <a:latin typeface="Malgun Gothic"/>
              </a:rPr>
              <a:t> </a:t>
            </a:r>
            <a:r>
              <a:rPr sz="1180" b="0" dirty="0" err="1">
                <a:solidFill>
                  <a:srgbClr val="44585A"/>
                </a:solidFill>
                <a:latin typeface="Malgun Gothic"/>
              </a:rPr>
              <a:t>단일</a:t>
            </a:r>
            <a:r>
              <a:rPr sz="1180" b="0" dirty="0">
                <a:solidFill>
                  <a:srgbClr val="44585A"/>
                </a:solidFill>
                <a:latin typeface="Malgun Gothic"/>
              </a:rPr>
              <a:t> </a:t>
            </a:r>
            <a:r>
              <a:rPr sz="1180" b="0" dirty="0" err="1">
                <a:solidFill>
                  <a:srgbClr val="44585A"/>
                </a:solidFill>
                <a:latin typeface="Malgun Gothic"/>
              </a:rPr>
              <a:t>병원</a:t>
            </a:r>
            <a:r>
              <a:rPr sz="1180" b="0" dirty="0">
                <a:solidFill>
                  <a:srgbClr val="44585A"/>
                </a:solidFill>
                <a:latin typeface="Malgun Gothic"/>
              </a:rPr>
              <a:t> </a:t>
            </a:r>
            <a:r>
              <a:rPr sz="1180" b="0" dirty="0" err="1">
                <a:solidFill>
                  <a:srgbClr val="44585A"/>
                </a:solidFill>
                <a:latin typeface="Malgun Gothic"/>
              </a:rPr>
              <a:t>트래픽에</a:t>
            </a:r>
            <a:r>
              <a:rPr sz="1180" b="0" dirty="0">
                <a:solidFill>
                  <a:srgbClr val="44585A"/>
                </a:solidFill>
                <a:latin typeface="Malgun Gothic"/>
              </a:rPr>
              <a:t> </a:t>
            </a:r>
            <a:r>
              <a:rPr sz="1180" b="0" dirty="0" err="1">
                <a:solidFill>
                  <a:srgbClr val="44585A"/>
                </a:solidFill>
                <a:latin typeface="Malgun Gothic"/>
              </a:rPr>
              <a:t>과설계이며</a:t>
            </a:r>
            <a:r>
              <a:rPr sz="1180" b="0" dirty="0">
                <a:solidFill>
                  <a:srgbClr val="44585A"/>
                </a:solidFill>
                <a:latin typeface="Malgun Gothic"/>
              </a:rPr>
              <a:t> </a:t>
            </a:r>
            <a:r>
              <a:rPr sz="1180" b="0" dirty="0" err="1">
                <a:solidFill>
                  <a:srgbClr val="44585A"/>
                </a:solidFill>
                <a:latin typeface="Malgun Gothic"/>
              </a:rPr>
              <a:t>비용·복잡도만</a:t>
            </a:r>
            <a:r>
              <a:rPr sz="1180" b="0" dirty="0">
                <a:solidFill>
                  <a:srgbClr val="44585A"/>
                </a:solidFill>
                <a:latin typeface="Malgun Gothic"/>
              </a:rPr>
              <a:t> </a:t>
            </a:r>
            <a:r>
              <a:rPr sz="1180" b="0" dirty="0" err="1">
                <a:solidFill>
                  <a:srgbClr val="44585A"/>
                </a:solidFill>
                <a:latin typeface="Malgun Gothic"/>
              </a:rPr>
              <a:t>증가</a:t>
            </a:r>
            <a:endParaRPr sz="1180" b="0" dirty="0">
              <a:solidFill>
                <a:srgbClr val="44585A"/>
              </a:solidFill>
              <a:latin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VPC + 서브넷 — 화면 클릭 가이드</a:t>
            </a:r>
          </a:p>
        </p:txBody>
      </p:sp>
      <p:sp>
        <p:nvSpPr>
          <p:cNvPr id="4" name="Rectangle 3"/>
          <p:cNvSpPr/>
          <p:nvPr/>
        </p:nvSpPr>
        <p:spPr>
          <a:xfrm>
            <a:off x="502920" y="11765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01</a:t>
            </a:r>
          </a:p>
        </p:txBody>
      </p:sp>
      <p:sp>
        <p:nvSpPr>
          <p:cNvPr id="6" name="Rectangle 5"/>
          <p:cNvSpPr/>
          <p:nvPr/>
        </p:nvSpPr>
        <p:spPr>
          <a:xfrm>
            <a:off x="502920" y="138684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8684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38684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414272"/>
            <a:ext cx="10424160" cy="566928"/>
          </a:xfrm>
          <a:prstGeom prst="rect">
            <a:avLst/>
          </a:prstGeom>
          <a:noFill/>
        </p:spPr>
        <p:txBody>
          <a:bodyPr wrap="square" anchor="ctr">
            <a:spAutoFit/>
          </a:bodyPr>
          <a:lstStyle/>
          <a:p>
            <a:r>
              <a:rPr sz="1200">
                <a:solidFill>
                  <a:srgbClr val="132422"/>
                </a:solidFill>
                <a:latin typeface="Malgun Gothic"/>
              </a:rPr>
              <a:t>GCP 콘솔 좌측 메뉴 ▸ VPC 네트워크 ▸ 'VPC 네트워크 만들기' 클릭</a:t>
            </a:r>
          </a:p>
        </p:txBody>
      </p:sp>
      <p:sp>
        <p:nvSpPr>
          <p:cNvPr id="10" name="Rectangle 9"/>
          <p:cNvSpPr/>
          <p:nvPr/>
        </p:nvSpPr>
        <p:spPr>
          <a:xfrm>
            <a:off x="502920" y="208178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08178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08178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109216"/>
            <a:ext cx="10424160" cy="566928"/>
          </a:xfrm>
          <a:prstGeom prst="rect">
            <a:avLst/>
          </a:prstGeom>
          <a:noFill/>
        </p:spPr>
        <p:txBody>
          <a:bodyPr wrap="square" anchor="ctr">
            <a:spAutoFit/>
          </a:bodyPr>
          <a:lstStyle/>
          <a:p>
            <a:r>
              <a:rPr sz="1200">
                <a:solidFill>
                  <a:srgbClr val="132422"/>
                </a:solidFill>
                <a:latin typeface="Malgun Gothic"/>
              </a:rPr>
              <a:t>이름: petclinic-vpc 입력, 서브넷 생성 모드는 반드시 '커스텀'으로 선택 (자동 아님)</a:t>
            </a:r>
          </a:p>
        </p:txBody>
      </p:sp>
      <p:sp>
        <p:nvSpPr>
          <p:cNvPr id="14" name="Rectangle 13"/>
          <p:cNvSpPr/>
          <p:nvPr/>
        </p:nvSpPr>
        <p:spPr>
          <a:xfrm>
            <a:off x="502920" y="277672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77672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277672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2804160"/>
            <a:ext cx="10424160" cy="566928"/>
          </a:xfrm>
          <a:prstGeom prst="rect">
            <a:avLst/>
          </a:prstGeom>
          <a:noFill/>
        </p:spPr>
        <p:txBody>
          <a:bodyPr wrap="square" anchor="ctr">
            <a:spAutoFit/>
          </a:bodyPr>
          <a:lstStyle/>
          <a:p>
            <a:r>
              <a:rPr sz="1200">
                <a:solidFill>
                  <a:srgbClr val="132422"/>
                </a:solidFill>
                <a:latin typeface="Malgun Gothic"/>
              </a:rPr>
              <a:t>서브넷 추가 ① 이름 web-subnet, 리전 asia-northeast3, IP 범위 10.0.1.0/24 입력 후 '완료'</a:t>
            </a:r>
          </a:p>
        </p:txBody>
      </p:sp>
      <p:sp>
        <p:nvSpPr>
          <p:cNvPr id="18" name="Rectangle 17"/>
          <p:cNvSpPr/>
          <p:nvPr/>
        </p:nvSpPr>
        <p:spPr>
          <a:xfrm>
            <a:off x="502920" y="347167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47167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47167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499104"/>
            <a:ext cx="10424160" cy="566928"/>
          </a:xfrm>
          <a:prstGeom prst="rect">
            <a:avLst/>
          </a:prstGeom>
          <a:noFill/>
        </p:spPr>
        <p:txBody>
          <a:bodyPr wrap="square" anchor="ctr">
            <a:spAutoFit/>
          </a:bodyPr>
          <a:lstStyle/>
          <a:p>
            <a:r>
              <a:rPr sz="1200">
                <a:solidFill>
                  <a:srgbClr val="132422"/>
                </a:solidFill>
                <a:latin typeface="Malgun Gothic"/>
              </a:rPr>
              <a:t>서브넷 추가 ② 이름 was-subnet, 같은 리전, IP 범위 10.0.2.0/24 입력 후 '완료'</a:t>
            </a:r>
          </a:p>
        </p:txBody>
      </p:sp>
      <p:sp>
        <p:nvSpPr>
          <p:cNvPr id="22" name="Rectangle 21"/>
          <p:cNvSpPr/>
          <p:nvPr/>
        </p:nvSpPr>
        <p:spPr>
          <a:xfrm>
            <a:off x="502920" y="416661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16661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16661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194048"/>
            <a:ext cx="10424160" cy="566928"/>
          </a:xfrm>
          <a:prstGeom prst="rect">
            <a:avLst/>
          </a:prstGeom>
          <a:noFill/>
        </p:spPr>
        <p:txBody>
          <a:bodyPr wrap="square" anchor="ctr">
            <a:spAutoFit/>
          </a:bodyPr>
          <a:lstStyle/>
          <a:p>
            <a:r>
              <a:rPr sz="1200">
                <a:solidFill>
                  <a:srgbClr val="132422"/>
                </a:solidFill>
                <a:latin typeface="Malgun Gothic"/>
              </a:rPr>
              <a:t>서브넷 추가 ③ 이름 db-subnet, 같은 리전, IP 범위 10.0.3.0/24 입력 후 '완료'</a:t>
            </a:r>
          </a:p>
        </p:txBody>
      </p:sp>
      <p:sp>
        <p:nvSpPr>
          <p:cNvPr id="26" name="Rectangle 25"/>
          <p:cNvSpPr/>
          <p:nvPr/>
        </p:nvSpPr>
        <p:spPr>
          <a:xfrm>
            <a:off x="502920" y="486156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86156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486156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4888992"/>
            <a:ext cx="10424160" cy="566928"/>
          </a:xfrm>
          <a:prstGeom prst="rect">
            <a:avLst/>
          </a:prstGeom>
          <a:noFill/>
        </p:spPr>
        <p:txBody>
          <a:bodyPr wrap="square" anchor="ctr">
            <a:spAutoFit/>
          </a:bodyPr>
          <a:lstStyle/>
          <a:p>
            <a:r>
              <a:rPr sz="1200">
                <a:solidFill>
                  <a:srgbClr val="132422"/>
                </a:solidFill>
                <a:latin typeface="Malgun Gothic"/>
              </a:rPr>
              <a:t>동적 라우팅 모드는 '리전' 선택(기본값 유지), 하단 '만들기' 클릭</a:t>
            </a:r>
          </a:p>
        </p:txBody>
      </p:sp>
      <p:sp>
        <p:nvSpPr>
          <p:cNvPr id="30" name="Rectangle 29"/>
          <p:cNvSpPr/>
          <p:nvPr/>
        </p:nvSpPr>
        <p:spPr>
          <a:xfrm>
            <a:off x="502920" y="555650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55650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7</a:t>
            </a:r>
          </a:p>
        </p:txBody>
      </p:sp>
      <p:sp>
        <p:nvSpPr>
          <p:cNvPr id="32" name="Rectangle 31"/>
          <p:cNvSpPr/>
          <p:nvPr/>
        </p:nvSpPr>
        <p:spPr>
          <a:xfrm>
            <a:off x="1005840" y="555650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70432" y="5583936"/>
            <a:ext cx="10424160" cy="566928"/>
          </a:xfrm>
          <a:prstGeom prst="rect">
            <a:avLst/>
          </a:prstGeom>
          <a:noFill/>
        </p:spPr>
        <p:txBody>
          <a:bodyPr wrap="square" anchor="ctr">
            <a:spAutoFit/>
          </a:bodyPr>
          <a:lstStyle/>
          <a:p>
            <a:r>
              <a:rPr sz="1200">
                <a:solidFill>
                  <a:srgbClr val="132422"/>
                </a:solidFill>
                <a:latin typeface="Malgun Gothic"/>
              </a:rPr>
              <a:t>생성 완료까지 약 30초~1분 대기 → VPC 네트워크 목록에서 petclinic-vpc와 서브넷 3개가 보이면 성공</a:t>
            </a:r>
          </a:p>
        </p:txBody>
      </p:sp>
      <p:sp>
        <p:nvSpPr>
          <p:cNvPr id="34" name="Rectangle 33"/>
          <p:cNvSpPr/>
          <p:nvPr/>
        </p:nvSpPr>
        <p:spPr>
          <a:xfrm>
            <a:off x="502920" y="6297168"/>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6324600"/>
            <a:ext cx="10789920" cy="457200"/>
          </a:xfrm>
          <a:prstGeom prst="rect">
            <a:avLst/>
          </a:prstGeom>
          <a:noFill/>
        </p:spPr>
        <p:txBody>
          <a:bodyPr wrap="square" anchor="ctr">
            <a:spAutoFit/>
          </a:bodyPr>
          <a:lstStyle/>
          <a:p>
            <a:r>
              <a:rPr sz="1100" b="1">
                <a:solidFill>
                  <a:srgbClr val="B4791F"/>
                </a:solidFill>
                <a:latin typeface="Malgun Gothic"/>
              </a:rPr>
              <a:t>💡 실수 방지 팁: 서브넷 3개를 한 화면에서 순서대로 추가할 수 있습니다('서브넷 추가' 버튼을 눌러 계속 이어서 입력). 하나씩 따로 '만들기'를 누르지 않아도 됩니다.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2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방화벽 규칙 (최소 권한 5종)</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02</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VPC 레벨에서 어떤 트래픽을 허용/차단할지 정하는 규칙입니다. GCP는 기본적으로 '모든 인바운드 차단, 모든 아웃바운드 허용'이 기본값이며, 우리는 여기에 딱 필요한 만큼만 구멍을 뚫습니다.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5개 규칙만 생성: ①IAP SSH만 허용 ②LB→Web(80) ③Web→WAS(8080) ④WAS→DB(3306) ⑤나머지 전부 거부 — '허용해야 할 것만 나열'하는 화이트리스트 방식</a:t>
            </a:r>
          </a:p>
          <a:p>
            <a:pPr>
              <a:lnSpc>
                <a:spcPct val="118000"/>
              </a:lnSpc>
              <a:spcAft>
                <a:spcPts val="700"/>
              </a:spcAft>
            </a:pPr>
            <a:r>
              <a:rPr sz="1230" b="0">
                <a:solidFill>
                  <a:srgbClr val="44585A"/>
                </a:solidFill>
                <a:latin typeface="Malgun Gothic"/>
              </a:rPr>
              <a:t>▸ 소스를 IP가 아닌 '네트워크 태그'와 '서브넷 대역' 기준으로 지정 — 어떤 VM이 어떤 역할인지 태그(web-tier, was-tier)로 식별해 MIG가 VM을 새로 만들어도 규칙이 자동으로 적용됨</a:t>
            </a:r>
          </a:p>
          <a:p>
            <a:pPr>
              <a:lnSpc>
                <a:spcPct val="118000"/>
              </a:lnSpc>
              <a:spcAft>
                <a:spcPts val="700"/>
              </a:spcAft>
            </a:pPr>
            <a:r>
              <a:rPr sz="1230" b="0">
                <a:solidFill>
                  <a:srgbClr val="44585A"/>
                </a:solidFill>
                <a:latin typeface="Malgun Gothic"/>
              </a:rPr>
              <a:t>▸ 우선순위(priority) 개념: 숫자가 낮을수록 먼저 적용 — 명시적 허용 규칙(우선순위 1000)이 기본 거부 규칙(우선순위 65535, 더 낮은 우선순위)보다 먼저 평가됨</a:t>
            </a:r>
          </a:p>
          <a:p>
            <a:pPr>
              <a:lnSpc>
                <a:spcPct val="118000"/>
              </a:lnSpc>
              <a:spcAft>
                <a:spcPts val="700"/>
              </a:spcAft>
            </a:pPr>
            <a:r>
              <a:rPr sz="1230" b="0">
                <a:solidFill>
                  <a:srgbClr val="44585A"/>
                </a:solidFill>
                <a:latin typeface="Malgun Gothic"/>
              </a:rPr>
              <a:t>▸ '모든 내부 IP 허용(0.0.0.0/8 all)' 같은 편의 규칙은 절대 쓰지 않음 — 이게 요구사항 8(최소권한)의 핵심 실천 지점</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허용 규칙 없이 GCP 기본값만 사용 — 기본값은 외부 접근이 전부 막히는 대신 내부 서비스 간 통신도 막혀 애플리케이션 자체가 동작하지 않음</a:t>
            </a:r>
          </a:p>
          <a:p>
            <a:pPr>
              <a:lnSpc>
                <a:spcPct val="118000"/>
              </a:lnSpc>
              <a:spcAft>
                <a:spcPts val="700"/>
              </a:spcAft>
            </a:pPr>
            <a:r>
              <a:rPr sz="1180" b="0">
                <a:solidFill>
                  <a:srgbClr val="44585A"/>
                </a:solidFill>
                <a:latin typeface="Malgun Gothic"/>
              </a:rPr>
              <a:t>▸ 포트 범위를 넓게(예: 1-65535) 열어 관리 편의성 확보 — 필요 포트만 여는 것 대비 공격 표면이 수백 배 커짐, 최소권한 원칙 위반</a:t>
            </a:r>
          </a:p>
          <a:p>
            <a:pPr>
              <a:lnSpc>
                <a:spcPct val="118000"/>
              </a:lnSpc>
              <a:spcAft>
                <a:spcPts val="700"/>
              </a:spcAft>
            </a:pPr>
            <a:r>
              <a:rPr sz="1180" b="0">
                <a:solidFill>
                  <a:srgbClr val="44585A"/>
                </a:solidFill>
                <a:latin typeface="Malgun Gothic"/>
              </a:rPr>
              <a:t>▸ 소스를 '전체(0.0.0.0/0)'로 설정해 WAS→DB 규칙 적용 — 인터넷 전체에서 3306 포트로 시도 가능해져 DB가 직접 공격 대상이 됨</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2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방화벽 규칙 5종 — 화면 클릭 가이드</a:t>
            </a:r>
          </a:p>
        </p:txBody>
      </p:sp>
      <p:sp>
        <p:nvSpPr>
          <p:cNvPr id="4" name="Rectangle 3"/>
          <p:cNvSpPr/>
          <p:nvPr/>
        </p:nvSpPr>
        <p:spPr>
          <a:xfrm>
            <a:off x="502920" y="119557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02</a:t>
            </a:r>
          </a:p>
        </p:txBody>
      </p:sp>
      <p:sp>
        <p:nvSpPr>
          <p:cNvPr id="6" name="Rectangle 5"/>
          <p:cNvSpPr/>
          <p:nvPr/>
        </p:nvSpPr>
        <p:spPr>
          <a:xfrm>
            <a:off x="502920" y="140589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0589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40589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433322"/>
            <a:ext cx="10424160" cy="566928"/>
          </a:xfrm>
          <a:prstGeom prst="rect">
            <a:avLst/>
          </a:prstGeom>
          <a:noFill/>
        </p:spPr>
        <p:txBody>
          <a:bodyPr wrap="square" anchor="ctr">
            <a:spAutoFit/>
          </a:bodyPr>
          <a:lstStyle/>
          <a:p>
            <a:r>
              <a:rPr sz="1200">
                <a:solidFill>
                  <a:srgbClr val="132422"/>
                </a:solidFill>
                <a:latin typeface="Malgun Gothic"/>
              </a:rPr>
              <a:t>VPC 네트워크 ▸ 방화벽 ▸ '방화벽 규칙 만들기'</a:t>
            </a:r>
          </a:p>
        </p:txBody>
      </p:sp>
      <p:sp>
        <p:nvSpPr>
          <p:cNvPr id="10" name="Rectangle 9"/>
          <p:cNvSpPr/>
          <p:nvPr/>
        </p:nvSpPr>
        <p:spPr>
          <a:xfrm>
            <a:off x="502920" y="210083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10083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10083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128266"/>
            <a:ext cx="10424160" cy="566928"/>
          </a:xfrm>
          <a:prstGeom prst="rect">
            <a:avLst/>
          </a:prstGeom>
          <a:noFill/>
        </p:spPr>
        <p:txBody>
          <a:bodyPr wrap="square" anchor="ctr">
            <a:spAutoFit/>
          </a:bodyPr>
          <a:lstStyle/>
          <a:p>
            <a:r>
              <a:rPr sz="1200">
                <a:solidFill>
                  <a:srgbClr val="132422"/>
                </a:solidFill>
                <a:latin typeface="Malgun Gothic"/>
              </a:rPr>
              <a:t>① allow-iap-ssh: 대상 태그 없음(전체 VM), 소스 IP 범위 35.235.240.0/20(IAP 고정 대역), 프로토콜/포트 tcp:22, 작업 '허용'</a:t>
            </a:r>
          </a:p>
        </p:txBody>
      </p:sp>
      <p:sp>
        <p:nvSpPr>
          <p:cNvPr id="14" name="Rectangle 13"/>
          <p:cNvSpPr/>
          <p:nvPr/>
        </p:nvSpPr>
        <p:spPr>
          <a:xfrm>
            <a:off x="502920" y="279577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79577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279577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2823210"/>
            <a:ext cx="10424160" cy="566928"/>
          </a:xfrm>
          <a:prstGeom prst="rect">
            <a:avLst/>
          </a:prstGeom>
          <a:noFill/>
        </p:spPr>
        <p:txBody>
          <a:bodyPr wrap="square" anchor="ctr">
            <a:spAutoFit/>
          </a:bodyPr>
          <a:lstStyle/>
          <a:p>
            <a:r>
              <a:rPr sz="1200">
                <a:solidFill>
                  <a:srgbClr val="132422"/>
                </a:solidFill>
                <a:latin typeface="Malgun Gothic"/>
              </a:rPr>
              <a:t>② allow-lb-to-web: 대상 태그 web-tier, 소스 IP 범위 130.211.0.0/22,35.191.0.0/16(GCP LB 헬스체크 전용 대역), tcp:80</a:t>
            </a:r>
          </a:p>
        </p:txBody>
      </p:sp>
      <p:sp>
        <p:nvSpPr>
          <p:cNvPr id="18" name="Rectangle 17"/>
          <p:cNvSpPr/>
          <p:nvPr/>
        </p:nvSpPr>
        <p:spPr>
          <a:xfrm>
            <a:off x="502920" y="349072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49072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49072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518154"/>
            <a:ext cx="10424160" cy="566928"/>
          </a:xfrm>
          <a:prstGeom prst="rect">
            <a:avLst/>
          </a:prstGeom>
          <a:noFill/>
        </p:spPr>
        <p:txBody>
          <a:bodyPr wrap="square" anchor="ctr">
            <a:spAutoFit/>
          </a:bodyPr>
          <a:lstStyle/>
          <a:p>
            <a:r>
              <a:rPr sz="1200">
                <a:solidFill>
                  <a:srgbClr val="132422"/>
                </a:solidFill>
                <a:latin typeface="Malgun Gothic"/>
              </a:rPr>
              <a:t>③ allow-web-to-was: 대상 태그 was-tier, 소스 IP 범위 10.0.1.0/24(web-subnet), tcp:8080</a:t>
            </a:r>
          </a:p>
        </p:txBody>
      </p:sp>
      <p:sp>
        <p:nvSpPr>
          <p:cNvPr id="22" name="Rectangle 21"/>
          <p:cNvSpPr/>
          <p:nvPr/>
        </p:nvSpPr>
        <p:spPr>
          <a:xfrm>
            <a:off x="502920" y="418566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18566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18566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213098"/>
            <a:ext cx="10424160" cy="566928"/>
          </a:xfrm>
          <a:prstGeom prst="rect">
            <a:avLst/>
          </a:prstGeom>
          <a:noFill/>
        </p:spPr>
        <p:txBody>
          <a:bodyPr wrap="square" anchor="ctr">
            <a:spAutoFit/>
          </a:bodyPr>
          <a:lstStyle/>
          <a:p>
            <a:r>
              <a:rPr sz="1200">
                <a:solidFill>
                  <a:srgbClr val="132422"/>
                </a:solidFill>
                <a:latin typeface="Malgun Gothic"/>
              </a:rPr>
              <a:t>④ allow-was-to-db: 대상 태그 없음(Cloud SQL Private IP 대상), 소스 IP 범위 10.0.2.0/24(was-subnet), tcp:3306 — 실제 적용은 Cloud SQL '승인된 네트워크'에서 별도 설정(7번 서비스 슬라이드 참고)</a:t>
            </a:r>
          </a:p>
        </p:txBody>
      </p:sp>
      <p:sp>
        <p:nvSpPr>
          <p:cNvPr id="26" name="Rectangle 25"/>
          <p:cNvSpPr/>
          <p:nvPr/>
        </p:nvSpPr>
        <p:spPr>
          <a:xfrm>
            <a:off x="502920" y="488061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88061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488061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4908042"/>
            <a:ext cx="10424160" cy="566928"/>
          </a:xfrm>
          <a:prstGeom prst="rect">
            <a:avLst/>
          </a:prstGeom>
          <a:noFill/>
        </p:spPr>
        <p:txBody>
          <a:bodyPr wrap="square" anchor="ctr">
            <a:spAutoFit/>
          </a:bodyPr>
          <a:lstStyle/>
          <a:p>
            <a:r>
              <a:rPr sz="1200">
                <a:solidFill>
                  <a:srgbClr val="132422"/>
                </a:solidFill>
                <a:latin typeface="Malgun Gothic"/>
              </a:rPr>
              <a:t>⑤ deny-all-ingress: 대상 전체, 소스 0.0.0.0/0, 모든 포트, 작업 '거부', 우선순위를 가장 높은 숫자(예: 65534)로 설정해 마지막에 평가되도록 함</a:t>
            </a:r>
          </a:p>
        </p:txBody>
      </p:sp>
      <p:sp>
        <p:nvSpPr>
          <p:cNvPr id="30" name="Rectangle 29"/>
          <p:cNvSpPr/>
          <p:nvPr/>
        </p:nvSpPr>
        <p:spPr>
          <a:xfrm>
            <a:off x="502920" y="557555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57555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7</a:t>
            </a:r>
          </a:p>
        </p:txBody>
      </p:sp>
      <p:sp>
        <p:nvSpPr>
          <p:cNvPr id="32" name="Rectangle 31"/>
          <p:cNvSpPr/>
          <p:nvPr/>
        </p:nvSpPr>
        <p:spPr>
          <a:xfrm>
            <a:off x="1005840" y="557555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70432" y="5602986"/>
            <a:ext cx="10424160" cy="566928"/>
          </a:xfrm>
          <a:prstGeom prst="rect">
            <a:avLst/>
          </a:prstGeom>
          <a:noFill/>
        </p:spPr>
        <p:txBody>
          <a:bodyPr wrap="square" anchor="ctr">
            <a:spAutoFit/>
          </a:bodyPr>
          <a:lstStyle/>
          <a:p>
            <a:r>
              <a:rPr sz="1200">
                <a:solidFill>
                  <a:srgbClr val="132422"/>
                </a:solidFill>
                <a:latin typeface="Malgun Gothic"/>
              </a:rPr>
              <a:t>각 규칙 생성 후 '만들기' 클릭 → 방화벽 목록에서 5개 규칙 모두 '사용 설정됨' 상태 확인</a:t>
            </a:r>
          </a:p>
        </p:txBody>
      </p:sp>
      <p:sp>
        <p:nvSpPr>
          <p:cNvPr id="34" name="Rectangle 33"/>
          <p:cNvSpPr/>
          <p:nvPr/>
        </p:nvSpPr>
        <p:spPr>
          <a:xfrm>
            <a:off x="502920" y="6316218"/>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6343650"/>
            <a:ext cx="10789920" cy="457200"/>
          </a:xfrm>
          <a:prstGeom prst="rect">
            <a:avLst/>
          </a:prstGeom>
          <a:noFill/>
        </p:spPr>
        <p:txBody>
          <a:bodyPr wrap="square" anchor="ctr">
            <a:spAutoFit/>
          </a:bodyPr>
          <a:lstStyle/>
          <a:p>
            <a:r>
              <a:rPr sz="1100" b="1">
                <a:solidFill>
                  <a:srgbClr val="B4791F"/>
                </a:solidFill>
                <a:latin typeface="Malgun Gothic"/>
              </a:rPr>
              <a:t>💡 실수 방지 팁: 대상/소스를 헷갈리면 반대로 막히거나 반대로 열립니다. '대상'은 트래픽을 받는 쪽(목적지), '소스'는 트래픽을 보내는 쪽(출발지)이라는 점을 계속 확인하며 입력하세요.</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3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Router + Cloud NAT</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03</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Private 서브넷(WAS, DB)의 VM은 인터넷에서 '들어오는' 연결은 막혀 있지만, OS 보안 패치 다운로드나 Secret Manager API 호출처럼 '나가는' 연결은 필요합니다. Cloud NAT는 이 VM들에게 개별 공인 IP를 주지 않고도 아웃바운드만 가능하게 해주는 관리형 주소 변환 서비스입니다.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Private IP만 가진 VM이 외부(dnf 저장소, Secret Manager, Cloud SQL Admin API 등)와 통신할 때 Cloud NAT가 공인 IP로 변환해 요청을 대신 내보냄 — 응답은 다시 NAT를 거쳐 원래 VM으로만 전달, 반대 방향(외부→내부) 연결 개시는 원천 불가</a:t>
            </a:r>
          </a:p>
          <a:p>
            <a:pPr>
              <a:lnSpc>
                <a:spcPct val="118000"/>
              </a:lnSpc>
              <a:spcAft>
                <a:spcPts val="700"/>
              </a:spcAft>
            </a:pPr>
            <a:r>
              <a:rPr sz="1230" b="0">
                <a:solidFill>
                  <a:srgbClr val="44585A"/>
                </a:solidFill>
                <a:latin typeface="Malgun Gothic"/>
              </a:rPr>
              <a:t>▸ Cloud Router는 NAT가 동작하기 위한 제어 평면(라우팅 정보 관리) 역할 — Cloud NAT를 만들 때 자동으로 함께 생성 가능</a:t>
            </a:r>
          </a:p>
          <a:p>
            <a:pPr>
              <a:lnSpc>
                <a:spcPct val="118000"/>
              </a:lnSpc>
              <a:spcAft>
                <a:spcPts val="700"/>
              </a:spcAft>
            </a:pPr>
            <a:r>
              <a:rPr sz="1230" b="0">
                <a:solidFill>
                  <a:srgbClr val="44585A"/>
                </a:solidFill>
                <a:latin typeface="Malgun Gothic"/>
              </a:rPr>
              <a:t>▸ was-subnet, db 관련 트래픽 모두 이 NAT 하나로 처리 — VM마다 개별 공인 IP를 발급하는 것보다 관리 지점이 하나로 줄어 보안 감사가 쉬움</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모든 Private VM에 공인 IP를 부여하고 방화벽으로만 인바운드 차단 — 방화벽 설정 실수 시 즉시 인터넷에 노출되는 구조적 리스크가 남음, NAT 방식은 애초에 노출될 IP 자체가 없음</a:t>
            </a:r>
          </a:p>
          <a:p>
            <a:pPr>
              <a:lnSpc>
                <a:spcPct val="118000"/>
              </a:lnSpc>
              <a:spcAft>
                <a:spcPts val="700"/>
              </a:spcAft>
            </a:pPr>
            <a:r>
              <a:rPr sz="1180" b="0">
                <a:solidFill>
                  <a:srgbClr val="44585A"/>
                </a:solidFill>
                <a:latin typeface="Malgun Gothic"/>
              </a:rPr>
              <a:t>▸ NAT 서버를 직접 VM으로 구축(전통적 온프레미스 방식) — 그 NAT 서버 자체가 관리·패치·장애 대상이 되어 오히려 공격 표면이 하나 늘어남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3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Router + Cloud NAT — 화면 클릭 가이드</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03</a:t>
            </a:r>
          </a:p>
        </p:txBody>
      </p:sp>
      <p:sp>
        <p:nvSpPr>
          <p:cNvPr id="6" name="Rectangle 5"/>
          <p:cNvSpPr/>
          <p:nvPr/>
        </p:nvSpPr>
        <p:spPr>
          <a:xfrm>
            <a:off x="502920" y="169164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69164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69164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719072"/>
            <a:ext cx="10424160" cy="566928"/>
          </a:xfrm>
          <a:prstGeom prst="rect">
            <a:avLst/>
          </a:prstGeom>
          <a:noFill/>
        </p:spPr>
        <p:txBody>
          <a:bodyPr wrap="square" anchor="ctr">
            <a:spAutoFit/>
          </a:bodyPr>
          <a:lstStyle/>
          <a:p>
            <a:r>
              <a:rPr sz="1200">
                <a:solidFill>
                  <a:srgbClr val="132422"/>
                </a:solidFill>
                <a:latin typeface="Malgun Gothic"/>
              </a:rPr>
              <a:t>네트워크 서비스 ▸ Cloud NAT ▸ 'NAT 게이트웨이 만들기' 클릭</a:t>
            </a:r>
          </a:p>
        </p:txBody>
      </p:sp>
      <p:sp>
        <p:nvSpPr>
          <p:cNvPr id="10" name="Rectangle 9"/>
          <p:cNvSpPr/>
          <p:nvPr/>
        </p:nvSpPr>
        <p:spPr>
          <a:xfrm>
            <a:off x="502920" y="238658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38658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38658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414016"/>
            <a:ext cx="10424160" cy="566928"/>
          </a:xfrm>
          <a:prstGeom prst="rect">
            <a:avLst/>
          </a:prstGeom>
          <a:noFill/>
        </p:spPr>
        <p:txBody>
          <a:bodyPr wrap="square" anchor="ctr">
            <a:spAutoFit/>
          </a:bodyPr>
          <a:lstStyle/>
          <a:p>
            <a:r>
              <a:rPr sz="1200">
                <a:solidFill>
                  <a:srgbClr val="132422"/>
                </a:solidFill>
                <a:latin typeface="Malgun Gothic"/>
              </a:rPr>
              <a:t>NAT 게이트웨이 이름: petclinic-nat, VPC 네트워크: petclinic-vpc, 리전: asia-northeast3 선택</a:t>
            </a:r>
          </a:p>
        </p:txBody>
      </p:sp>
      <p:sp>
        <p:nvSpPr>
          <p:cNvPr id="14" name="Rectangle 13"/>
          <p:cNvSpPr/>
          <p:nvPr/>
        </p:nvSpPr>
        <p:spPr>
          <a:xfrm>
            <a:off x="502920" y="308152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08152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308152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3108960"/>
            <a:ext cx="10424160" cy="566928"/>
          </a:xfrm>
          <a:prstGeom prst="rect">
            <a:avLst/>
          </a:prstGeom>
          <a:noFill/>
        </p:spPr>
        <p:txBody>
          <a:bodyPr wrap="square" anchor="ctr">
            <a:spAutoFit/>
          </a:bodyPr>
          <a:lstStyle/>
          <a:p>
            <a:r>
              <a:rPr sz="1200">
                <a:solidFill>
                  <a:srgbClr val="132422"/>
                </a:solidFill>
                <a:latin typeface="Malgun Gothic"/>
              </a:rPr>
              <a:t>Cloud Router: '새 라우터 만들기' 선택 → 이름 petclinic-router 입력 후 생성</a:t>
            </a:r>
          </a:p>
        </p:txBody>
      </p:sp>
      <p:sp>
        <p:nvSpPr>
          <p:cNvPr id="18" name="Rectangle 17"/>
          <p:cNvSpPr/>
          <p:nvPr/>
        </p:nvSpPr>
        <p:spPr>
          <a:xfrm>
            <a:off x="502920" y="377647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77647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77647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803904"/>
            <a:ext cx="10424160" cy="566928"/>
          </a:xfrm>
          <a:prstGeom prst="rect">
            <a:avLst/>
          </a:prstGeom>
          <a:noFill/>
        </p:spPr>
        <p:txBody>
          <a:bodyPr wrap="square" anchor="ctr">
            <a:spAutoFit/>
          </a:bodyPr>
          <a:lstStyle/>
          <a:p>
            <a:r>
              <a:rPr sz="1200">
                <a:solidFill>
                  <a:srgbClr val="132422"/>
                </a:solidFill>
                <a:latin typeface="Malgun Gothic"/>
              </a:rPr>
              <a:t>NAT 매핑: '모든 서브넷 범위에 대해' 선택(web/was/db 서브넷 전체 포함) — 단순화를 위해 전체 선택, 추후 세분화 가능</a:t>
            </a:r>
          </a:p>
        </p:txBody>
      </p:sp>
      <p:sp>
        <p:nvSpPr>
          <p:cNvPr id="22" name="Rectangle 21"/>
          <p:cNvSpPr/>
          <p:nvPr/>
        </p:nvSpPr>
        <p:spPr>
          <a:xfrm>
            <a:off x="502920" y="447141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47141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47141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498848"/>
            <a:ext cx="10424160" cy="566928"/>
          </a:xfrm>
          <a:prstGeom prst="rect">
            <a:avLst/>
          </a:prstGeom>
          <a:noFill/>
        </p:spPr>
        <p:txBody>
          <a:bodyPr wrap="square" anchor="ctr">
            <a:spAutoFit/>
          </a:bodyPr>
          <a:lstStyle/>
          <a:p>
            <a:r>
              <a:rPr sz="1200">
                <a:solidFill>
                  <a:srgbClr val="132422"/>
                </a:solidFill>
                <a:latin typeface="Malgun Gothic"/>
              </a:rPr>
              <a:t>소스 NAT: 기본값 유지, 로깅은 '오류만 기록'으로 설정(전체 로깅은 비용 증가)</a:t>
            </a:r>
          </a:p>
        </p:txBody>
      </p:sp>
      <p:sp>
        <p:nvSpPr>
          <p:cNvPr id="26" name="Rectangle 25"/>
          <p:cNvSpPr/>
          <p:nvPr/>
        </p:nvSpPr>
        <p:spPr>
          <a:xfrm>
            <a:off x="502920" y="516636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516636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516636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5193792"/>
            <a:ext cx="10424160" cy="566928"/>
          </a:xfrm>
          <a:prstGeom prst="rect">
            <a:avLst/>
          </a:prstGeom>
          <a:noFill/>
        </p:spPr>
        <p:txBody>
          <a:bodyPr wrap="square" anchor="ctr">
            <a:spAutoFit/>
          </a:bodyPr>
          <a:lstStyle/>
          <a:p>
            <a:r>
              <a:rPr sz="1200">
                <a:solidFill>
                  <a:srgbClr val="132422"/>
                </a:solidFill>
                <a:latin typeface="Malgun Gothic"/>
              </a:rPr>
              <a:t>'만들기' 클릭 → 몇 초 내 생성 완료</a:t>
            </a:r>
          </a:p>
        </p:txBody>
      </p:sp>
      <p:sp>
        <p:nvSpPr>
          <p:cNvPr id="30" name="Rectangle 29"/>
          <p:cNvSpPr/>
          <p:nvPr/>
        </p:nvSpPr>
        <p:spPr>
          <a:xfrm>
            <a:off x="502920" y="5907024"/>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5934456"/>
            <a:ext cx="10789920" cy="457200"/>
          </a:xfrm>
          <a:prstGeom prst="rect">
            <a:avLst/>
          </a:prstGeom>
          <a:noFill/>
        </p:spPr>
        <p:txBody>
          <a:bodyPr wrap="square" anchor="ctr">
            <a:spAutoFit/>
          </a:bodyPr>
          <a:lstStyle/>
          <a:p>
            <a:r>
              <a:rPr sz="1100" b="1">
                <a:solidFill>
                  <a:srgbClr val="B4791F"/>
                </a:solidFill>
                <a:latin typeface="Malgun Gothic"/>
              </a:rPr>
              <a:t>💡 실수 방지 팁: Cloud NAT는 Private 서브넷 VM이 만들어지기 '전에' 미리 구성해 두는 것이 좋습니다. 나중에 패치가 안 돼서 당황하는 상황을 예방합니다.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4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IAM + 계층별 서비스 계정</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04</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IAM은 '누가(Who) · 무엇에(What) · 어떤 권한(How)'을 가질 수 있는지 정하는 GCP 전체의 권한 체계입니다. 서비스 계정(Service Account)은 사람이 아니라 VM이나 애플리케이션이 GCP API를 호출할 때 쓰는 '로봇 계정'입니다.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Web/WAS/DB 계층마다 별도 서비스 계정(web-sa, was-sa, db-sa)을 만들어 VM에 '연결(attach)' — 한 계층이 뚫려도 그 계정의 권한 범위 밖으로는 절대 못 나감</a:t>
            </a:r>
          </a:p>
          <a:p>
            <a:pPr>
              <a:lnSpc>
                <a:spcPct val="118000"/>
              </a:lnSpc>
              <a:spcAft>
                <a:spcPts val="700"/>
              </a:spcAft>
            </a:pPr>
            <a:r>
              <a:rPr sz="1230" b="0">
                <a:solidFill>
                  <a:srgbClr val="44585A"/>
                </a:solidFill>
                <a:latin typeface="Malgun Gothic"/>
              </a:rPr>
              <a:t>▸ was-sa는 딱 두 권한만 부여: Secret Manager Secret Accessor(그것도 db-credentials 시크릿 하나에만 한정), Cloud SQL Client — Compute 인스턴스를 만들거나 지울 권한은 없음</a:t>
            </a:r>
          </a:p>
          <a:p>
            <a:pPr>
              <a:lnSpc>
                <a:spcPct val="118000"/>
              </a:lnSpc>
              <a:spcAft>
                <a:spcPts val="700"/>
              </a:spcAft>
            </a:pPr>
            <a:r>
              <a:rPr sz="1230" b="0">
                <a:solidFill>
                  <a:srgbClr val="44585A"/>
                </a:solidFill>
                <a:latin typeface="Malgun Gothic"/>
              </a:rPr>
              <a:t>▸ 핵심 구조: VM에 서비스 계정을 '첨부(Attached Service Account)'하는 방식 사용 — 이 경우 별도 JSON 키 파일을 발급·다운로드하지 않음. 그래서 '키 파일 유출'이라는 흔한 사고 유형 자체가 구조적으로 발생할 수 없음</a:t>
            </a:r>
          </a:p>
          <a:p>
            <a:pPr>
              <a:lnSpc>
                <a:spcPct val="118000"/>
              </a:lnSpc>
              <a:spcAft>
                <a:spcPts val="700"/>
              </a:spcAft>
            </a:pPr>
            <a:r>
              <a:rPr sz="1230" b="0">
                <a:solidFill>
                  <a:srgbClr val="44585A"/>
                </a:solidFill>
                <a:latin typeface="Malgun Gothic"/>
              </a:rPr>
              <a:t>▸ Day 1에는 팀 작업 속도를 위해 편집자(Editor) 권한을 임시로 넓게 부여했다가, Day 6에 실제 사용한 권한만 남기고 축소하는 2단계 접근 — 초기 생산성과 최종 보안 수준을 모두 확보</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모든 VM이 프로젝트 기본 서비스 계정(Compute Engine default service account) 공유 — 기본 계정은 프로젝트 편집자 권한을 갖는 경우가 많아 한 VM이 뚫리면 프로젝트 전체가 위험해짐</a:t>
            </a:r>
          </a:p>
          <a:p>
            <a:pPr>
              <a:lnSpc>
                <a:spcPct val="118000"/>
              </a:lnSpc>
              <a:spcAft>
                <a:spcPts val="700"/>
              </a:spcAft>
            </a:pPr>
            <a:r>
              <a:rPr sz="1180" b="0">
                <a:solidFill>
                  <a:srgbClr val="44585A"/>
                </a:solidFill>
                <a:latin typeface="Malgun Gothic"/>
              </a:rPr>
              <a:t>▸ 사람 계정(개인 Gmail 등)의 자격증명을 VM에 그대로 심어 사용 — 키 파일 유출/퇴사자 계정 문제 등 관리 리스크가 큼, 서비스 계정 방식이 원천적으로 이 문제를 없앰</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4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서비스 계정 3종 생성 — 화면 클릭 가이드</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04</a:t>
            </a:r>
          </a:p>
        </p:txBody>
      </p:sp>
      <p:sp>
        <p:nvSpPr>
          <p:cNvPr id="6" name="Rectangle 5"/>
          <p:cNvSpPr/>
          <p:nvPr/>
        </p:nvSpPr>
        <p:spPr>
          <a:xfrm>
            <a:off x="502920" y="169164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69164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69164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719072"/>
            <a:ext cx="10424160" cy="566928"/>
          </a:xfrm>
          <a:prstGeom prst="rect">
            <a:avLst/>
          </a:prstGeom>
          <a:noFill/>
        </p:spPr>
        <p:txBody>
          <a:bodyPr wrap="square" anchor="ctr">
            <a:spAutoFit/>
          </a:bodyPr>
          <a:lstStyle/>
          <a:p>
            <a:r>
              <a:rPr sz="1200">
                <a:solidFill>
                  <a:srgbClr val="132422"/>
                </a:solidFill>
                <a:latin typeface="Malgun Gothic"/>
              </a:rPr>
              <a:t>IAM 및 관리자 ▸ 서비스 계정 ▸ '서비스 계정 만들기'</a:t>
            </a:r>
          </a:p>
        </p:txBody>
      </p:sp>
      <p:sp>
        <p:nvSpPr>
          <p:cNvPr id="10" name="Rectangle 9"/>
          <p:cNvSpPr/>
          <p:nvPr/>
        </p:nvSpPr>
        <p:spPr>
          <a:xfrm>
            <a:off x="502920" y="238658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38658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38658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414016"/>
            <a:ext cx="10424160" cy="566928"/>
          </a:xfrm>
          <a:prstGeom prst="rect">
            <a:avLst/>
          </a:prstGeom>
          <a:noFill/>
        </p:spPr>
        <p:txBody>
          <a:bodyPr wrap="square" anchor="ctr">
            <a:spAutoFit/>
          </a:bodyPr>
          <a:lstStyle/>
          <a:p>
            <a:r>
              <a:rPr sz="1200">
                <a:solidFill>
                  <a:srgbClr val="132422"/>
                </a:solidFill>
                <a:latin typeface="Malgun Gothic"/>
              </a:rPr>
              <a:t>① 이름 web-sa, 설명 'Web tier VM 전용' 입력 후 '만들기 및 계속하기' → 역할 부여: 없음(로그 쓰기 권한은 기본 포함) → 완료</a:t>
            </a:r>
          </a:p>
        </p:txBody>
      </p:sp>
      <p:sp>
        <p:nvSpPr>
          <p:cNvPr id="14" name="Rectangle 13"/>
          <p:cNvSpPr/>
          <p:nvPr/>
        </p:nvSpPr>
        <p:spPr>
          <a:xfrm>
            <a:off x="502920" y="308152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08152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308152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3108960"/>
            <a:ext cx="10424160" cy="566928"/>
          </a:xfrm>
          <a:prstGeom prst="rect">
            <a:avLst/>
          </a:prstGeom>
          <a:noFill/>
        </p:spPr>
        <p:txBody>
          <a:bodyPr wrap="square" anchor="ctr">
            <a:spAutoFit/>
          </a:bodyPr>
          <a:lstStyle/>
          <a:p>
            <a:r>
              <a:rPr sz="1200">
                <a:solidFill>
                  <a:srgbClr val="132422"/>
                </a:solidFill>
                <a:latin typeface="Malgun Gothic"/>
              </a:rPr>
              <a:t>② 이름 was-sa 생성 → 역할: 'Secret Manager 보안 비밀 접근자'(특정 리소스로 제한은 5번 서비스에서 별도 설정), 'Cloud SQL 클라이언트' 부여</a:t>
            </a:r>
          </a:p>
        </p:txBody>
      </p:sp>
      <p:sp>
        <p:nvSpPr>
          <p:cNvPr id="18" name="Rectangle 17"/>
          <p:cNvSpPr/>
          <p:nvPr/>
        </p:nvSpPr>
        <p:spPr>
          <a:xfrm>
            <a:off x="502920" y="377647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77647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77647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803904"/>
            <a:ext cx="10424160" cy="566928"/>
          </a:xfrm>
          <a:prstGeom prst="rect">
            <a:avLst/>
          </a:prstGeom>
          <a:noFill/>
        </p:spPr>
        <p:txBody>
          <a:bodyPr wrap="square" anchor="ctr">
            <a:spAutoFit/>
          </a:bodyPr>
          <a:lstStyle/>
          <a:p>
            <a:r>
              <a:rPr sz="1200">
                <a:solidFill>
                  <a:srgbClr val="132422"/>
                </a:solidFill>
                <a:latin typeface="Malgun Gothic"/>
              </a:rPr>
              <a:t>③ 이름 db-sa 생성 → 역할: 'Cloud SQL 뷰어' 정도만 부여(백업 확인용, 실제 DB 접근은 애플리케이션이 아닌 사람이 필요시에만)</a:t>
            </a:r>
          </a:p>
        </p:txBody>
      </p:sp>
      <p:sp>
        <p:nvSpPr>
          <p:cNvPr id="22" name="Rectangle 21"/>
          <p:cNvSpPr/>
          <p:nvPr/>
        </p:nvSpPr>
        <p:spPr>
          <a:xfrm>
            <a:off x="502920" y="447141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47141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47141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498848"/>
            <a:ext cx="10424160" cy="566928"/>
          </a:xfrm>
          <a:prstGeom prst="rect">
            <a:avLst/>
          </a:prstGeom>
          <a:noFill/>
        </p:spPr>
        <p:txBody>
          <a:bodyPr wrap="square" anchor="ctr">
            <a:spAutoFit/>
          </a:bodyPr>
          <a:lstStyle/>
          <a:p>
            <a:r>
              <a:rPr sz="1200">
                <a:solidFill>
                  <a:srgbClr val="132422"/>
                </a:solidFill>
                <a:latin typeface="Malgun Gothic"/>
              </a:rPr>
              <a:t>각 서비스 계정 상세 화면에서 이메일 형식 계정 ID(예: web-sa@프로젝트ID.iam.gserviceaccount.com) 복사해 메모 — 8번(인스턴스 템플릿) 작업 시 드롭다운에서 선택해야 함</a:t>
            </a:r>
          </a:p>
        </p:txBody>
      </p:sp>
      <p:sp>
        <p:nvSpPr>
          <p:cNvPr id="26" name="Rectangle 25"/>
          <p:cNvSpPr/>
          <p:nvPr/>
        </p:nvSpPr>
        <p:spPr>
          <a:xfrm>
            <a:off x="502920" y="5212080"/>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5239512"/>
            <a:ext cx="10789920" cy="457200"/>
          </a:xfrm>
          <a:prstGeom prst="rect">
            <a:avLst/>
          </a:prstGeom>
          <a:noFill/>
        </p:spPr>
        <p:txBody>
          <a:bodyPr wrap="square" anchor="ctr">
            <a:spAutoFit/>
          </a:bodyPr>
          <a:lstStyle/>
          <a:p>
            <a:r>
              <a:rPr sz="1100" b="1">
                <a:solidFill>
                  <a:srgbClr val="B4791F"/>
                </a:solidFill>
                <a:latin typeface="Malgun Gothic"/>
              </a:rPr>
              <a:t>💡 실수 방지 팁: '키 만들기(JSON 다운로드)' 버튼은 절대 누르지 마세요. 우리는 Attached 방식만 사용하므로 키 파일이 생기면 오히려 보안 원칙에 어긋납니다.</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5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Secret Manager</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05</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비밀번호, API 키처럼 노출되면 안 되는 값을 버전 관리와 함께 암호화 저장하는 저장소입니다. 애플리케이션은 이 값을 '파일'이 아니라 '실행 중 API 호출'로만 가져옵니다.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기존 코드(application 설정 파일)에 평문으로 박혀있던 DB 비밀번호를 Secret Manager로 이전 — 소스코드가 GitHub 같은 저장소에 있으므로, 실수로 공개 저장소가 되거나 코드가 유출돼도 DB 자격증명까지 함께 새어나가는 것을 원천 차단</a:t>
            </a:r>
          </a:p>
          <a:p>
            <a:pPr>
              <a:lnSpc>
                <a:spcPct val="118000"/>
              </a:lnSpc>
              <a:spcAft>
                <a:spcPts val="700"/>
              </a:spcAft>
            </a:pPr>
            <a:r>
              <a:rPr sz="1230" b="0">
                <a:solidFill>
                  <a:srgbClr val="44585A"/>
                </a:solidFill>
                <a:latin typeface="Malgun Gothic"/>
              </a:rPr>
              <a:t>▸ 동작 방식: WAS VM이 부팅할 때 시작 스크립트가 was-sa 권한으로 Secret Manager API를 호출해 DB 계정/비밀번호를 '메모리로만' 가져옴 → 디스크에는 평문으로 저장되지 않음</a:t>
            </a:r>
          </a:p>
          <a:p>
            <a:pPr>
              <a:lnSpc>
                <a:spcPct val="118000"/>
              </a:lnSpc>
              <a:spcAft>
                <a:spcPts val="700"/>
              </a:spcAft>
            </a:pPr>
            <a:r>
              <a:rPr sz="1230" b="0">
                <a:solidFill>
                  <a:srgbClr val="44585A"/>
                </a:solidFill>
                <a:latin typeface="Malgun Gothic"/>
              </a:rPr>
              <a:t>▸ 버전 관리 기능 활용: DB 비밀번호를 교체(로테이션)해도 이전 버전이 자동 보관되어 롤백 가능, 접근 로그도 Cloud Audit Logs에 자동 기록됨</a:t>
            </a:r>
          </a:p>
          <a:p>
            <a:pPr>
              <a:lnSpc>
                <a:spcPct val="118000"/>
              </a:lnSpc>
              <a:spcAft>
                <a:spcPts val="700"/>
              </a:spcAft>
            </a:pPr>
            <a:r>
              <a:rPr sz="1230" b="0">
                <a:solidFill>
                  <a:srgbClr val="44585A"/>
                </a:solidFill>
                <a:latin typeface="Malgun Gothic"/>
              </a:rPr>
              <a:t>▸ 접근 권한을 was-sa 하나로만 한정 — web-sa나 db-sa는 이 시크릿에 접근할 이유가 없으므로 권한 자체를 부여하지 않음(최소 권한)</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환경 변수로 비밀번호 전달(VM 메타데이터에 평문 저장) — VM 메타데이터는 해당 VM에 접근 권한이 있는 누구나 조회 가능해 Secret Manager보다 보호 수준이 낮음</a:t>
            </a:r>
          </a:p>
          <a:p>
            <a:pPr>
              <a:lnSpc>
                <a:spcPct val="118000"/>
              </a:lnSpc>
              <a:spcAft>
                <a:spcPts val="700"/>
              </a:spcAft>
            </a:pPr>
            <a:r>
              <a:rPr sz="1180" b="0">
                <a:solidFill>
                  <a:srgbClr val="44585A"/>
                </a:solidFill>
                <a:latin typeface="Malgun Gothic"/>
              </a:rPr>
              <a:t>▸ 기존 방식 그대로 application.properties에 평문 유지 — 이번 프로젝트에서 가장 먼저 없애야 할 보안 부채로 판단, 최소권한 요구사항(8번)에 정면으로 위배</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5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Secret Manager 등록 — 화면 클릭 가이드</a:t>
            </a:r>
          </a:p>
        </p:txBody>
      </p:sp>
      <p:sp>
        <p:nvSpPr>
          <p:cNvPr id="4" name="Rectangle 3"/>
          <p:cNvSpPr/>
          <p:nvPr/>
        </p:nvSpPr>
        <p:spPr>
          <a:xfrm>
            <a:off x="502920" y="119557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05</a:t>
            </a:r>
          </a:p>
        </p:txBody>
      </p:sp>
      <p:sp>
        <p:nvSpPr>
          <p:cNvPr id="6" name="Rectangle 5"/>
          <p:cNvSpPr/>
          <p:nvPr/>
        </p:nvSpPr>
        <p:spPr>
          <a:xfrm>
            <a:off x="502920" y="140589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0589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40589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433322"/>
            <a:ext cx="10424160" cy="566928"/>
          </a:xfrm>
          <a:prstGeom prst="rect">
            <a:avLst/>
          </a:prstGeom>
          <a:noFill/>
        </p:spPr>
        <p:txBody>
          <a:bodyPr wrap="square" anchor="ctr">
            <a:spAutoFit/>
          </a:bodyPr>
          <a:lstStyle/>
          <a:p>
            <a:r>
              <a:rPr sz="1200">
                <a:solidFill>
                  <a:srgbClr val="132422"/>
                </a:solidFill>
                <a:latin typeface="Malgun Gothic"/>
              </a:rPr>
              <a:t>API 및 서비스 ▸ 라이브러리에서 'Secret Manager API' 사용 설정 확인(Day 1에 이미 완료했다면 생략)</a:t>
            </a:r>
          </a:p>
        </p:txBody>
      </p:sp>
      <p:sp>
        <p:nvSpPr>
          <p:cNvPr id="10" name="Rectangle 9"/>
          <p:cNvSpPr/>
          <p:nvPr/>
        </p:nvSpPr>
        <p:spPr>
          <a:xfrm>
            <a:off x="502920" y="210083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10083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10083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128266"/>
            <a:ext cx="10424160" cy="566928"/>
          </a:xfrm>
          <a:prstGeom prst="rect">
            <a:avLst/>
          </a:prstGeom>
          <a:noFill/>
        </p:spPr>
        <p:txBody>
          <a:bodyPr wrap="square" anchor="ctr">
            <a:spAutoFit/>
          </a:bodyPr>
          <a:lstStyle/>
          <a:p>
            <a:r>
              <a:rPr sz="1200">
                <a:solidFill>
                  <a:srgbClr val="132422"/>
                </a:solidFill>
                <a:latin typeface="Malgun Gothic"/>
              </a:rPr>
              <a:t>보안 ▸ Secret Manager ▸ '보안 비밀 만들기'</a:t>
            </a:r>
          </a:p>
        </p:txBody>
      </p:sp>
      <p:sp>
        <p:nvSpPr>
          <p:cNvPr id="14" name="Rectangle 13"/>
          <p:cNvSpPr/>
          <p:nvPr/>
        </p:nvSpPr>
        <p:spPr>
          <a:xfrm>
            <a:off x="502920" y="279577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79577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279577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2823210"/>
            <a:ext cx="10424160" cy="566928"/>
          </a:xfrm>
          <a:prstGeom prst="rect">
            <a:avLst/>
          </a:prstGeom>
          <a:noFill/>
        </p:spPr>
        <p:txBody>
          <a:bodyPr wrap="square" anchor="ctr">
            <a:spAutoFit/>
          </a:bodyPr>
          <a:lstStyle/>
          <a:p>
            <a:r>
              <a:rPr sz="1200">
                <a:solidFill>
                  <a:srgbClr val="132422"/>
                </a:solidFill>
                <a:latin typeface="Malgun Gothic"/>
              </a:rPr>
              <a:t>이름: db-credentials 입력</a:t>
            </a:r>
          </a:p>
        </p:txBody>
      </p:sp>
      <p:sp>
        <p:nvSpPr>
          <p:cNvPr id="18" name="Rectangle 17"/>
          <p:cNvSpPr/>
          <p:nvPr/>
        </p:nvSpPr>
        <p:spPr>
          <a:xfrm>
            <a:off x="502920" y="349072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49072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49072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518154"/>
            <a:ext cx="10424160" cy="566928"/>
          </a:xfrm>
          <a:prstGeom prst="rect">
            <a:avLst/>
          </a:prstGeom>
          <a:noFill/>
        </p:spPr>
        <p:txBody>
          <a:bodyPr wrap="square" anchor="ctr">
            <a:spAutoFit/>
          </a:bodyPr>
          <a:lstStyle/>
          <a:p>
            <a:r>
              <a:rPr sz="1200">
                <a:solidFill>
                  <a:srgbClr val="132422"/>
                </a:solidFill>
                <a:latin typeface="Malgun Gothic"/>
              </a:rPr>
              <a:t>보안 비밀 값: Cloud SQL에서 생성한 DB 사용자명/비밀번호를 'username:password' 또는 JSON 형태로 입력(팀 내부 규칙에 맞게 통일)</a:t>
            </a:r>
          </a:p>
        </p:txBody>
      </p:sp>
      <p:sp>
        <p:nvSpPr>
          <p:cNvPr id="22" name="Rectangle 21"/>
          <p:cNvSpPr/>
          <p:nvPr/>
        </p:nvSpPr>
        <p:spPr>
          <a:xfrm>
            <a:off x="502920" y="418566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18566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18566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213098"/>
            <a:ext cx="10424160" cy="566928"/>
          </a:xfrm>
          <a:prstGeom prst="rect">
            <a:avLst/>
          </a:prstGeom>
          <a:noFill/>
        </p:spPr>
        <p:txBody>
          <a:bodyPr wrap="square" anchor="ctr">
            <a:spAutoFit/>
          </a:bodyPr>
          <a:lstStyle/>
          <a:p>
            <a:r>
              <a:rPr sz="1200">
                <a:solidFill>
                  <a:srgbClr val="132422"/>
                </a:solidFill>
                <a:latin typeface="Malgun Gothic"/>
              </a:rPr>
              <a:t>복제 정책: '자동'(기본값) 유지</a:t>
            </a:r>
          </a:p>
        </p:txBody>
      </p:sp>
      <p:sp>
        <p:nvSpPr>
          <p:cNvPr id="26" name="Rectangle 25"/>
          <p:cNvSpPr/>
          <p:nvPr/>
        </p:nvSpPr>
        <p:spPr>
          <a:xfrm>
            <a:off x="502920" y="488061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88061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488061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4908042"/>
            <a:ext cx="10424160" cy="566928"/>
          </a:xfrm>
          <a:prstGeom prst="rect">
            <a:avLst/>
          </a:prstGeom>
          <a:noFill/>
        </p:spPr>
        <p:txBody>
          <a:bodyPr wrap="square" anchor="ctr">
            <a:spAutoFit/>
          </a:bodyPr>
          <a:lstStyle/>
          <a:p>
            <a:r>
              <a:rPr sz="1200">
                <a:solidFill>
                  <a:srgbClr val="132422"/>
                </a:solidFill>
                <a:latin typeface="Malgun Gothic"/>
              </a:rPr>
              <a:t>'보안 비밀 만들기' 클릭</a:t>
            </a:r>
          </a:p>
        </p:txBody>
      </p:sp>
      <p:sp>
        <p:nvSpPr>
          <p:cNvPr id="30" name="Rectangle 29"/>
          <p:cNvSpPr/>
          <p:nvPr/>
        </p:nvSpPr>
        <p:spPr>
          <a:xfrm>
            <a:off x="502920" y="557555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57555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7</a:t>
            </a:r>
          </a:p>
        </p:txBody>
      </p:sp>
      <p:sp>
        <p:nvSpPr>
          <p:cNvPr id="32" name="Rectangle 31"/>
          <p:cNvSpPr/>
          <p:nvPr/>
        </p:nvSpPr>
        <p:spPr>
          <a:xfrm>
            <a:off x="1005840" y="557555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70432" y="5602986"/>
            <a:ext cx="10424160" cy="566928"/>
          </a:xfrm>
          <a:prstGeom prst="rect">
            <a:avLst/>
          </a:prstGeom>
          <a:noFill/>
        </p:spPr>
        <p:txBody>
          <a:bodyPr wrap="square" anchor="ctr">
            <a:spAutoFit/>
          </a:bodyPr>
          <a:lstStyle/>
          <a:p>
            <a:r>
              <a:rPr sz="1200">
                <a:solidFill>
                  <a:srgbClr val="132422"/>
                </a:solidFill>
                <a:latin typeface="Malgun Gothic"/>
              </a:rPr>
              <a:t>생성된 시크릿 상세 화면 ▸ 권한 탭 ▸ '액세스 권한 부여' ▸ 주 구성원에 was-sa 이메일 입력, 역할 'Secret Manager 보안 비밀 접근자' 부여</a:t>
            </a:r>
          </a:p>
        </p:txBody>
      </p:sp>
      <p:sp>
        <p:nvSpPr>
          <p:cNvPr id="34" name="Rectangle 33"/>
          <p:cNvSpPr/>
          <p:nvPr/>
        </p:nvSpPr>
        <p:spPr>
          <a:xfrm>
            <a:off x="502920" y="6316218"/>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6343650"/>
            <a:ext cx="10789920" cy="457200"/>
          </a:xfrm>
          <a:prstGeom prst="rect">
            <a:avLst/>
          </a:prstGeom>
          <a:noFill/>
        </p:spPr>
        <p:txBody>
          <a:bodyPr wrap="square" anchor="ctr">
            <a:spAutoFit/>
          </a:bodyPr>
          <a:lstStyle/>
          <a:p>
            <a:r>
              <a:rPr sz="1100" b="1">
                <a:solidFill>
                  <a:srgbClr val="B4791F"/>
                </a:solidFill>
                <a:latin typeface="Malgun Gothic"/>
              </a:rPr>
              <a:t>💡 실수 방지 팁: Cloud SQL 인스턴스를 먼저 만들고 실제 비밀번호를 확정한 뒤 이 시크릿 값을 입력하세요(작업 순서: DB 계정 생성 → Secret Manager 등록).</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6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Identity-Aware Proxy (IAP)</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06</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관리자가 VM에 SSH 접속할 때, '포트를 열어두는' 대신 '신원을 확인한 뒤 임시로 터널을 뚫어주는' 방식으로 바꿔주는 서비스입니다. VM의 22번 포트는 인터넷에 전혀 노출되지 않습니다.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전통적인 점프서버(Bastion Host)를 별도 VM으로 구축하지 않음 — Bastion도 결국 패치·장애 관리가 필요한 서버이지만, IAP는 Google이 운영하는 관리형 서비스라 우리가 관리할 서버 자체가 없음</a:t>
            </a:r>
          </a:p>
          <a:p>
            <a:pPr>
              <a:lnSpc>
                <a:spcPct val="118000"/>
              </a:lnSpc>
              <a:spcAft>
                <a:spcPts val="700"/>
              </a:spcAft>
            </a:pPr>
            <a:r>
              <a:rPr sz="1230" b="0">
                <a:solidFill>
                  <a:srgbClr val="44585A"/>
                </a:solidFill>
                <a:latin typeface="Malgun Gothic"/>
              </a:rPr>
              <a:t>▸ 접근 통제는 IAM 역할(roles/iap.tunnelResourceAccessor)로 사람 단위로 부여 — 방화벽 규칙 1개(35.235.240.0/20 대역만 22번 허용)와 결합해 이중으로 방어</a:t>
            </a:r>
          </a:p>
          <a:p>
            <a:pPr>
              <a:lnSpc>
                <a:spcPct val="118000"/>
              </a:lnSpc>
              <a:spcAft>
                <a:spcPts val="700"/>
              </a:spcAft>
            </a:pPr>
            <a:r>
              <a:rPr sz="1230" b="0">
                <a:solidFill>
                  <a:srgbClr val="44585A"/>
                </a:solidFill>
                <a:latin typeface="Malgun Gothic"/>
              </a:rPr>
              <a:t>▸ 모든 SSH 세션이 Cloud Audit Logs에 자동 기록 — '누가 언제 어떤 VM에 접속했는지' 별도 설정 없이 추적 가능</a:t>
            </a:r>
          </a:p>
          <a:p>
            <a:pPr>
              <a:lnSpc>
                <a:spcPct val="118000"/>
              </a:lnSpc>
              <a:spcAft>
                <a:spcPts val="700"/>
              </a:spcAft>
            </a:pPr>
            <a:r>
              <a:rPr sz="1230" b="0">
                <a:solidFill>
                  <a:srgbClr val="44585A"/>
                </a:solidFill>
                <a:latin typeface="Malgun Gothic"/>
              </a:rPr>
              <a:t>▸ 구글 계정 기반이라 다중 인증(2단계 인증) 강제 적용 가능 — 병원 담당자 계정 해킹 같은 시나리오에도 추가 방어선 확보</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별도 Bastion VM 구축 + 고정 IP 화이트리스트 — Bastion 자체가 관리·패치 대상이 되고, 화이트리스트한 IP가 바뀌면(재택근무 등) 매번 방화벽을 수정해야 하는 운영 부담</a:t>
            </a:r>
          </a:p>
          <a:p>
            <a:pPr>
              <a:lnSpc>
                <a:spcPct val="118000"/>
              </a:lnSpc>
              <a:spcAft>
                <a:spcPts val="700"/>
              </a:spcAft>
            </a:pPr>
            <a:r>
              <a:rPr sz="1180" b="0">
                <a:solidFill>
                  <a:srgbClr val="44585A"/>
                </a:solidFill>
                <a:latin typeface="Malgun Gothic"/>
              </a:rPr>
              <a:t>▸ VM에 공인 IP 부여 후 SSH 포트를 특정 IP로만 제한 — 사무실 IP가 고정이 아니거나 외부에서 접속해야 할 상황에 대응이 어려움, 공인 IP 자체가 공격 표면</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6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IAP 사용 설정 — 화면 클릭 가이드</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06</a:t>
            </a:r>
          </a:p>
        </p:txBody>
      </p:sp>
      <p:sp>
        <p:nvSpPr>
          <p:cNvPr id="6" name="Rectangle 5"/>
          <p:cNvSpPr/>
          <p:nvPr/>
        </p:nvSpPr>
        <p:spPr>
          <a:xfrm>
            <a:off x="502920" y="169164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69164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69164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719072"/>
            <a:ext cx="10424160" cy="566928"/>
          </a:xfrm>
          <a:prstGeom prst="rect">
            <a:avLst/>
          </a:prstGeom>
          <a:noFill/>
        </p:spPr>
        <p:txBody>
          <a:bodyPr wrap="square" anchor="ctr">
            <a:spAutoFit/>
          </a:bodyPr>
          <a:lstStyle/>
          <a:p>
            <a:r>
              <a:rPr sz="1200">
                <a:solidFill>
                  <a:srgbClr val="132422"/>
                </a:solidFill>
                <a:latin typeface="Malgun Gothic"/>
              </a:rPr>
              <a:t>API 및 서비스 ▸ 라이브러리에서 'Cloud Identity-Aware Proxy API' 사용 설정 확인</a:t>
            </a:r>
          </a:p>
        </p:txBody>
      </p:sp>
      <p:sp>
        <p:nvSpPr>
          <p:cNvPr id="10" name="Rectangle 9"/>
          <p:cNvSpPr/>
          <p:nvPr/>
        </p:nvSpPr>
        <p:spPr>
          <a:xfrm>
            <a:off x="502920" y="238658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38658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38658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414016"/>
            <a:ext cx="10424160" cy="566928"/>
          </a:xfrm>
          <a:prstGeom prst="rect">
            <a:avLst/>
          </a:prstGeom>
          <a:noFill/>
        </p:spPr>
        <p:txBody>
          <a:bodyPr wrap="square" anchor="ctr">
            <a:spAutoFit/>
          </a:bodyPr>
          <a:lstStyle/>
          <a:p>
            <a:r>
              <a:rPr sz="1200">
                <a:solidFill>
                  <a:srgbClr val="132422"/>
                </a:solidFill>
                <a:latin typeface="Malgun Gothic"/>
              </a:rPr>
              <a:t>IAM 및 관리자 ▸ IAM ▸ '액세스 권한 부여' ▸ 주 구성원에 관리자 팀원(사람 계정) 이메일 입력</a:t>
            </a:r>
          </a:p>
        </p:txBody>
      </p:sp>
      <p:sp>
        <p:nvSpPr>
          <p:cNvPr id="14" name="Rectangle 13"/>
          <p:cNvSpPr/>
          <p:nvPr/>
        </p:nvSpPr>
        <p:spPr>
          <a:xfrm>
            <a:off x="502920" y="308152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08152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308152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3108960"/>
            <a:ext cx="10424160" cy="566928"/>
          </a:xfrm>
          <a:prstGeom prst="rect">
            <a:avLst/>
          </a:prstGeom>
          <a:noFill/>
        </p:spPr>
        <p:txBody>
          <a:bodyPr wrap="square" anchor="ctr">
            <a:spAutoFit/>
          </a:bodyPr>
          <a:lstStyle/>
          <a:p>
            <a:r>
              <a:rPr sz="1200">
                <a:solidFill>
                  <a:srgbClr val="132422"/>
                </a:solidFill>
                <a:latin typeface="Malgun Gothic"/>
              </a:rPr>
              <a:t>역할: 'IAP 보안 터널 사용자(roles/iap.tunnelResourceAccessor)' 선택 후 저장</a:t>
            </a:r>
          </a:p>
        </p:txBody>
      </p:sp>
      <p:sp>
        <p:nvSpPr>
          <p:cNvPr id="18" name="Rectangle 17"/>
          <p:cNvSpPr/>
          <p:nvPr/>
        </p:nvSpPr>
        <p:spPr>
          <a:xfrm>
            <a:off x="502920" y="377647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77647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77647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803904"/>
            <a:ext cx="10424160" cy="566928"/>
          </a:xfrm>
          <a:prstGeom prst="rect">
            <a:avLst/>
          </a:prstGeom>
          <a:noFill/>
        </p:spPr>
        <p:txBody>
          <a:bodyPr wrap="square" anchor="ctr">
            <a:spAutoFit/>
          </a:bodyPr>
          <a:lstStyle/>
          <a:p>
            <a:r>
              <a:rPr sz="1200">
                <a:solidFill>
                  <a:srgbClr val="132422"/>
                </a:solidFill>
                <a:latin typeface="Malgun Gothic"/>
              </a:rPr>
              <a:t>방화벽 규칙 확인: 2번 서비스에서 만든 allow-iap-ssh 규칙(소스 35.235.240.0/20, tcp:22)이 존재하는지 재확인</a:t>
            </a:r>
          </a:p>
        </p:txBody>
      </p:sp>
      <p:sp>
        <p:nvSpPr>
          <p:cNvPr id="22" name="Rectangle 21"/>
          <p:cNvSpPr/>
          <p:nvPr/>
        </p:nvSpPr>
        <p:spPr>
          <a:xfrm>
            <a:off x="502920" y="447141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47141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47141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498848"/>
            <a:ext cx="10424160" cy="566928"/>
          </a:xfrm>
          <a:prstGeom prst="rect">
            <a:avLst/>
          </a:prstGeom>
          <a:noFill/>
        </p:spPr>
        <p:txBody>
          <a:bodyPr wrap="square" anchor="ctr">
            <a:spAutoFit/>
          </a:bodyPr>
          <a:lstStyle/>
          <a:p>
            <a:r>
              <a:rPr sz="1200">
                <a:solidFill>
                  <a:srgbClr val="132422"/>
                </a:solidFill>
                <a:latin typeface="Malgun Gothic"/>
              </a:rPr>
              <a:t>실제 접속 테스트: Compute Engine ▸ VM 인스턴스 목록에서 대상 VM 우측 'SSH' 드롭다운 ▸ 'IAP 터널을 통해 열기' 선택 → 브라우저 창에서 바로 터미널 진입되면 성공</a:t>
            </a:r>
          </a:p>
        </p:txBody>
      </p:sp>
      <p:sp>
        <p:nvSpPr>
          <p:cNvPr id="26" name="Rectangle 25"/>
          <p:cNvSpPr/>
          <p:nvPr/>
        </p:nvSpPr>
        <p:spPr>
          <a:xfrm>
            <a:off x="502920" y="5212080"/>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5239512"/>
            <a:ext cx="10789920" cy="457200"/>
          </a:xfrm>
          <a:prstGeom prst="rect">
            <a:avLst/>
          </a:prstGeom>
          <a:noFill/>
        </p:spPr>
        <p:txBody>
          <a:bodyPr wrap="square" anchor="ctr">
            <a:spAutoFit/>
          </a:bodyPr>
          <a:lstStyle/>
          <a:p>
            <a:r>
              <a:rPr sz="1100" b="1">
                <a:solidFill>
                  <a:srgbClr val="B4791F"/>
                </a:solidFill>
                <a:latin typeface="Malgun Gothic"/>
              </a:rPr>
              <a:t>💡 실수 방지 팁: 접속이 안 되면 십중팔구 IAM 역할 부여를 빼먹었거나, 대상 VM에 allow-iap-ssh 방화벽 규칙에 맞는 네트워크 태그가 없는 경우입니다.</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4E47"/>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2743200" cy="1280160"/>
          </a:xfrm>
          <a:prstGeom prst="rect">
            <a:avLst/>
          </a:prstGeom>
          <a:noFill/>
        </p:spPr>
        <p:txBody>
          <a:bodyPr wrap="square">
            <a:spAutoFit/>
          </a:bodyPr>
          <a:lstStyle/>
          <a:p>
            <a:pPr algn="l">
              <a:lnSpc>
                <a:spcPct val="115000"/>
              </a:lnSpc>
            </a:pPr>
            <a:r>
              <a:rPr sz="7200" b="1">
                <a:solidFill>
                  <a:srgbClr val="3F9A88"/>
                </a:solidFill>
                <a:latin typeface="Malgun Gothic"/>
              </a:rPr>
              <a:t>02</a:t>
            </a:r>
          </a:p>
        </p:txBody>
      </p:sp>
      <p:sp>
        <p:nvSpPr>
          <p:cNvPr id="3" name="TextBox 2"/>
          <p:cNvSpPr txBox="1"/>
          <p:nvPr/>
        </p:nvSpPr>
        <p:spPr>
          <a:xfrm>
            <a:off x="777240" y="3566160"/>
            <a:ext cx="10058400" cy="914400"/>
          </a:xfrm>
          <a:prstGeom prst="rect">
            <a:avLst/>
          </a:prstGeom>
          <a:noFill/>
        </p:spPr>
        <p:txBody>
          <a:bodyPr wrap="square">
            <a:spAutoFit/>
          </a:bodyPr>
          <a:lstStyle/>
          <a:p>
            <a:pPr algn="l">
              <a:lnSpc>
                <a:spcPct val="115000"/>
              </a:lnSpc>
            </a:pPr>
            <a:r>
              <a:rPr sz="3400" b="1">
                <a:solidFill>
                  <a:srgbClr val="FFFFFF"/>
                </a:solidFill>
                <a:latin typeface="Malgun Gothic"/>
              </a:rPr>
              <a:t>데이터베이스</a:t>
            </a:r>
          </a:p>
        </p:txBody>
      </p:sp>
      <p:sp>
        <p:nvSpPr>
          <p:cNvPr id="4" name="TextBox 3"/>
          <p:cNvSpPr txBox="1"/>
          <p:nvPr/>
        </p:nvSpPr>
        <p:spPr>
          <a:xfrm>
            <a:off x="804672" y="4343400"/>
            <a:ext cx="9601200" cy="914400"/>
          </a:xfrm>
          <a:prstGeom prst="rect">
            <a:avLst/>
          </a:prstGeom>
          <a:noFill/>
        </p:spPr>
        <p:txBody>
          <a:bodyPr wrap="square">
            <a:spAutoFit/>
          </a:bodyPr>
          <a:lstStyle/>
          <a:p>
            <a:pPr algn="l">
              <a:lnSpc>
                <a:spcPct val="115000"/>
              </a:lnSpc>
            </a:pPr>
            <a:r>
              <a:rPr sz="1500" b="0">
                <a:solidFill>
                  <a:srgbClr val="DCF3EE"/>
                </a:solidFill>
                <a:latin typeface="Malgun Gothic"/>
              </a:rPr>
              <a:t>병원의 가장 소중한 자산인 오너·반려동물·예약 데이터가 저장되는 곳입니다. 여기서만큼은 자동화보다 안정성을 우선했습니다.</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7 · 담당: DBM</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SQL for MySQL 8.0 (매니지드 DB)</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07</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Compute Engine VM에 MySQL을 직접 설치하는 대신, Google이 패치·백업·장애조치를 대신 관리해주는 완전관리형 데이터베이스입니다. Web/WAS는 계속 일반 VM을 쓰지만 DB 계층만 매니지드로 분리했습니다.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dirty="0">
                <a:solidFill>
                  <a:srgbClr val="44585A"/>
                </a:solidFill>
                <a:latin typeface="Malgun Gothic"/>
              </a:rPr>
              <a:t>▸ </a:t>
            </a:r>
            <a:r>
              <a:rPr sz="1230" b="0" dirty="0" err="1">
                <a:solidFill>
                  <a:srgbClr val="44585A"/>
                </a:solidFill>
                <a:latin typeface="Malgun Gothic"/>
              </a:rPr>
              <a:t>엔진은</a:t>
            </a:r>
            <a:r>
              <a:rPr sz="1230" b="0" dirty="0">
                <a:solidFill>
                  <a:srgbClr val="44585A"/>
                </a:solidFill>
                <a:latin typeface="Malgun Gothic"/>
              </a:rPr>
              <a:t> MySQL 8.0 </a:t>
            </a:r>
            <a:r>
              <a:rPr sz="1230" b="0" dirty="0" err="1">
                <a:solidFill>
                  <a:srgbClr val="44585A"/>
                </a:solidFill>
                <a:latin typeface="Malgun Gothic"/>
              </a:rPr>
              <a:t>채택</a:t>
            </a:r>
            <a:r>
              <a:rPr sz="1230" b="0" dirty="0">
                <a:solidFill>
                  <a:srgbClr val="44585A"/>
                </a:solidFill>
                <a:latin typeface="Malgun Gothic"/>
              </a:rPr>
              <a:t>(PostgreSQL </a:t>
            </a:r>
            <a:r>
              <a:rPr sz="1230" b="0" dirty="0" err="1">
                <a:solidFill>
                  <a:srgbClr val="44585A"/>
                </a:solidFill>
                <a:latin typeface="Malgun Gothic"/>
              </a:rPr>
              <a:t>아님</a:t>
            </a:r>
            <a:r>
              <a:rPr sz="1230" b="0" dirty="0">
                <a:solidFill>
                  <a:srgbClr val="44585A"/>
                </a:solidFill>
                <a:latin typeface="Malgun Gothic"/>
              </a:rPr>
              <a:t>) — </a:t>
            </a:r>
            <a:r>
              <a:rPr sz="1230" b="0" dirty="0" err="1">
                <a:solidFill>
                  <a:srgbClr val="44585A"/>
                </a:solidFill>
                <a:latin typeface="Malgun Gothic"/>
              </a:rPr>
              <a:t>기존</a:t>
            </a:r>
            <a:r>
              <a:rPr sz="1230" b="0" dirty="0">
                <a:solidFill>
                  <a:srgbClr val="44585A"/>
                </a:solidFill>
                <a:latin typeface="Malgun Gothic"/>
              </a:rPr>
              <a:t> </a:t>
            </a:r>
            <a:r>
              <a:rPr sz="1230" b="0" dirty="0" err="1">
                <a:solidFill>
                  <a:srgbClr val="44585A"/>
                </a:solidFill>
                <a:latin typeface="Malgun Gothic"/>
              </a:rPr>
              <a:t>코드의</a:t>
            </a:r>
            <a:r>
              <a:rPr sz="1230" b="0" dirty="0">
                <a:solidFill>
                  <a:srgbClr val="44585A"/>
                </a:solidFill>
                <a:latin typeface="Malgun Gothic"/>
              </a:rPr>
              <a:t> </a:t>
            </a:r>
            <a:r>
              <a:rPr sz="1230" b="0" dirty="0" err="1">
                <a:solidFill>
                  <a:srgbClr val="44585A"/>
                </a:solidFill>
                <a:latin typeface="Malgun Gothic"/>
              </a:rPr>
              <a:t>mysql</a:t>
            </a:r>
            <a:r>
              <a:rPr sz="1230" b="0" dirty="0">
                <a:solidFill>
                  <a:srgbClr val="44585A"/>
                </a:solidFill>
                <a:latin typeface="Malgun Gothic"/>
              </a:rPr>
              <a:t>-connector-java 8.0.19는 </a:t>
            </a:r>
            <a:r>
              <a:rPr sz="1230" b="0" dirty="0" err="1">
                <a:solidFill>
                  <a:srgbClr val="44585A"/>
                </a:solidFill>
                <a:latin typeface="Malgun Gothic"/>
              </a:rPr>
              <a:t>비교적</a:t>
            </a:r>
            <a:r>
              <a:rPr sz="1230" b="0" dirty="0">
                <a:solidFill>
                  <a:srgbClr val="44585A"/>
                </a:solidFill>
                <a:latin typeface="Malgun Gothic"/>
              </a:rPr>
              <a:t> </a:t>
            </a:r>
            <a:r>
              <a:rPr sz="1230" b="0" dirty="0" err="1">
                <a:solidFill>
                  <a:srgbClr val="44585A"/>
                </a:solidFill>
                <a:latin typeface="Malgun Gothic"/>
              </a:rPr>
              <a:t>최신이라</a:t>
            </a:r>
            <a:r>
              <a:rPr sz="1230" b="0" dirty="0">
                <a:solidFill>
                  <a:srgbClr val="44585A"/>
                </a:solidFill>
                <a:latin typeface="Malgun Gothic"/>
              </a:rPr>
              <a:t> </a:t>
            </a:r>
            <a:r>
              <a:rPr sz="1230" b="0" dirty="0" err="1">
                <a:solidFill>
                  <a:srgbClr val="44585A"/>
                </a:solidFill>
                <a:latin typeface="Malgun Gothic"/>
              </a:rPr>
              <a:t>즉시</a:t>
            </a:r>
            <a:r>
              <a:rPr sz="1230" b="0" dirty="0">
                <a:solidFill>
                  <a:srgbClr val="44585A"/>
                </a:solidFill>
                <a:latin typeface="Malgun Gothic"/>
              </a:rPr>
              <a:t> </a:t>
            </a:r>
            <a:r>
              <a:rPr sz="1230" b="0" dirty="0" err="1">
                <a:solidFill>
                  <a:srgbClr val="44585A"/>
                </a:solidFill>
                <a:latin typeface="Malgun Gothic"/>
              </a:rPr>
              <a:t>호환되지만</a:t>
            </a:r>
            <a:r>
              <a:rPr sz="1230" b="0" dirty="0">
                <a:solidFill>
                  <a:srgbClr val="44585A"/>
                </a:solidFill>
                <a:latin typeface="Malgun Gothic"/>
              </a:rPr>
              <a:t>, </a:t>
            </a:r>
            <a:r>
              <a:rPr sz="1230" b="0" dirty="0" err="1">
                <a:solidFill>
                  <a:srgbClr val="44585A"/>
                </a:solidFill>
                <a:latin typeface="Malgun Gothic"/>
              </a:rPr>
              <a:t>번들된</a:t>
            </a:r>
            <a:r>
              <a:rPr sz="1230" b="0" dirty="0">
                <a:solidFill>
                  <a:srgbClr val="44585A"/>
                </a:solidFill>
                <a:latin typeface="Malgun Gothic"/>
              </a:rPr>
              <a:t> </a:t>
            </a:r>
            <a:r>
              <a:rPr sz="1230" b="0" dirty="0" err="1">
                <a:solidFill>
                  <a:srgbClr val="44585A"/>
                </a:solidFill>
                <a:latin typeface="Malgun Gothic"/>
              </a:rPr>
              <a:t>postgresql</a:t>
            </a:r>
            <a:r>
              <a:rPr sz="1230" b="0" dirty="0">
                <a:solidFill>
                  <a:srgbClr val="44585A"/>
                </a:solidFill>
                <a:latin typeface="Malgun Gothic"/>
              </a:rPr>
              <a:t> </a:t>
            </a:r>
            <a:r>
              <a:rPr sz="1230" b="0" dirty="0" err="1">
                <a:solidFill>
                  <a:srgbClr val="44585A"/>
                </a:solidFill>
                <a:latin typeface="Malgun Gothic"/>
              </a:rPr>
              <a:t>드라이버</a:t>
            </a:r>
            <a:r>
              <a:rPr sz="1230" b="0" dirty="0">
                <a:solidFill>
                  <a:srgbClr val="44585A"/>
                </a:solidFill>
                <a:latin typeface="Malgun Gothic"/>
              </a:rPr>
              <a:t>(9.4.1211.jre7, 2016년 </a:t>
            </a:r>
            <a:r>
              <a:rPr sz="1230" b="0" dirty="0" err="1">
                <a:solidFill>
                  <a:srgbClr val="44585A"/>
                </a:solidFill>
                <a:latin typeface="Malgun Gothic"/>
              </a:rPr>
              <a:t>릴리스</a:t>
            </a:r>
            <a:r>
              <a:rPr sz="1230" b="0" dirty="0">
                <a:solidFill>
                  <a:srgbClr val="44585A"/>
                </a:solidFill>
                <a:latin typeface="Malgun Gothic"/>
              </a:rPr>
              <a:t>)는 </a:t>
            </a:r>
            <a:r>
              <a:rPr sz="1230" b="0" dirty="0" err="1">
                <a:solidFill>
                  <a:srgbClr val="44585A"/>
                </a:solidFill>
                <a:latin typeface="Malgun Gothic"/>
              </a:rPr>
              <a:t>너무</a:t>
            </a:r>
            <a:r>
              <a:rPr sz="1230" b="0" dirty="0">
                <a:solidFill>
                  <a:srgbClr val="44585A"/>
                </a:solidFill>
                <a:latin typeface="Malgun Gothic"/>
              </a:rPr>
              <a:t> </a:t>
            </a:r>
            <a:r>
              <a:rPr sz="1230" b="0" dirty="0" err="1">
                <a:solidFill>
                  <a:srgbClr val="44585A"/>
                </a:solidFill>
                <a:latin typeface="Malgun Gothic"/>
              </a:rPr>
              <a:t>구버전이라</a:t>
            </a:r>
            <a:r>
              <a:rPr sz="1230" b="0" dirty="0">
                <a:solidFill>
                  <a:srgbClr val="44585A"/>
                </a:solidFill>
                <a:latin typeface="Malgun Gothic"/>
              </a:rPr>
              <a:t> Cloud SQL </a:t>
            </a:r>
            <a:r>
              <a:rPr sz="1230" b="0" dirty="0" err="1">
                <a:solidFill>
                  <a:srgbClr val="44585A"/>
                </a:solidFill>
                <a:latin typeface="Malgun Gothic"/>
              </a:rPr>
              <a:t>연결</a:t>
            </a:r>
            <a:r>
              <a:rPr sz="1230" b="0" dirty="0">
                <a:solidFill>
                  <a:srgbClr val="44585A"/>
                </a:solidFill>
                <a:latin typeface="Malgun Gothic"/>
              </a:rPr>
              <a:t> </a:t>
            </a:r>
            <a:r>
              <a:rPr sz="1230" b="0" dirty="0" err="1">
                <a:solidFill>
                  <a:srgbClr val="44585A"/>
                </a:solidFill>
                <a:latin typeface="Malgun Gothic"/>
              </a:rPr>
              <a:t>안정성</a:t>
            </a:r>
            <a:r>
              <a:rPr sz="1230" b="0" dirty="0">
                <a:solidFill>
                  <a:srgbClr val="44585A"/>
                </a:solidFill>
                <a:latin typeface="Malgun Gothic"/>
              </a:rPr>
              <a:t> </a:t>
            </a:r>
            <a:r>
              <a:rPr sz="1230" b="0" dirty="0" err="1">
                <a:solidFill>
                  <a:srgbClr val="44585A"/>
                </a:solidFill>
                <a:latin typeface="Malgun Gothic"/>
              </a:rPr>
              <a:t>검증에</a:t>
            </a:r>
            <a:r>
              <a:rPr sz="1230" b="0" dirty="0">
                <a:solidFill>
                  <a:srgbClr val="44585A"/>
                </a:solidFill>
                <a:latin typeface="Malgun Gothic"/>
              </a:rPr>
              <a:t> </a:t>
            </a:r>
            <a:r>
              <a:rPr sz="1230" b="0" dirty="0" err="1">
                <a:solidFill>
                  <a:srgbClr val="44585A"/>
                </a:solidFill>
                <a:latin typeface="Malgun Gothic"/>
              </a:rPr>
              <a:t>추가</a:t>
            </a:r>
            <a:r>
              <a:rPr sz="1230" b="0" dirty="0">
                <a:solidFill>
                  <a:srgbClr val="44585A"/>
                </a:solidFill>
                <a:latin typeface="Malgun Gothic"/>
              </a:rPr>
              <a:t> </a:t>
            </a:r>
            <a:r>
              <a:rPr sz="1230" b="0" dirty="0" err="1">
                <a:solidFill>
                  <a:srgbClr val="44585A"/>
                </a:solidFill>
                <a:latin typeface="Malgun Gothic"/>
              </a:rPr>
              <a:t>시간이</a:t>
            </a:r>
            <a:r>
              <a:rPr sz="1230" b="0" dirty="0">
                <a:solidFill>
                  <a:srgbClr val="44585A"/>
                </a:solidFill>
                <a:latin typeface="Malgun Gothic"/>
              </a:rPr>
              <a:t> </a:t>
            </a:r>
            <a:r>
              <a:rPr sz="1230" b="0" dirty="0" err="1">
                <a:solidFill>
                  <a:srgbClr val="44585A"/>
                </a:solidFill>
                <a:latin typeface="Malgun Gothic"/>
              </a:rPr>
              <a:t>필요해</a:t>
            </a:r>
            <a:r>
              <a:rPr sz="1230" b="0" dirty="0">
                <a:solidFill>
                  <a:srgbClr val="44585A"/>
                </a:solidFill>
                <a:latin typeface="Malgun Gothic"/>
              </a:rPr>
              <a:t> 7일 </a:t>
            </a:r>
            <a:r>
              <a:rPr sz="1230" b="0" dirty="0" err="1">
                <a:solidFill>
                  <a:srgbClr val="44585A"/>
                </a:solidFill>
                <a:latin typeface="Malgun Gothic"/>
              </a:rPr>
              <a:t>일정상</a:t>
            </a:r>
            <a:r>
              <a:rPr sz="1230" b="0" dirty="0">
                <a:solidFill>
                  <a:srgbClr val="44585A"/>
                </a:solidFill>
                <a:latin typeface="Malgun Gothic"/>
              </a:rPr>
              <a:t> </a:t>
            </a:r>
            <a:r>
              <a:rPr sz="1230" b="0" dirty="0" err="1">
                <a:solidFill>
                  <a:srgbClr val="44585A"/>
                </a:solidFill>
                <a:latin typeface="Malgun Gothic"/>
              </a:rPr>
              <a:t>리스크로</a:t>
            </a:r>
            <a:r>
              <a:rPr sz="1230" b="0" dirty="0">
                <a:solidFill>
                  <a:srgbClr val="44585A"/>
                </a:solidFill>
                <a:latin typeface="Malgun Gothic"/>
              </a:rPr>
              <a:t> </a:t>
            </a:r>
            <a:r>
              <a:rPr sz="1230" b="0" dirty="0" err="1">
                <a:solidFill>
                  <a:srgbClr val="44585A"/>
                </a:solidFill>
                <a:latin typeface="Malgun Gothic"/>
              </a:rPr>
              <a:t>판단</a:t>
            </a:r>
            <a:endParaRPr sz="1230" b="0" dirty="0">
              <a:solidFill>
                <a:srgbClr val="44585A"/>
              </a:solidFill>
              <a:latin typeface="Malgun Gothic"/>
            </a:endParaRPr>
          </a:p>
          <a:p>
            <a:pPr>
              <a:lnSpc>
                <a:spcPct val="118000"/>
              </a:lnSpc>
              <a:spcAft>
                <a:spcPts val="700"/>
              </a:spcAft>
            </a:pPr>
            <a:r>
              <a:rPr sz="1230" b="0" dirty="0">
                <a:solidFill>
                  <a:srgbClr val="44585A"/>
                </a:solidFill>
                <a:latin typeface="Malgun Gothic"/>
              </a:rPr>
              <a:t>▸ </a:t>
            </a:r>
            <a:r>
              <a:rPr sz="1230" b="0" dirty="0" err="1">
                <a:solidFill>
                  <a:srgbClr val="44585A"/>
                </a:solidFill>
                <a:latin typeface="Malgun Gothic"/>
              </a:rPr>
              <a:t>Edition은</a:t>
            </a:r>
            <a:r>
              <a:rPr sz="1230" b="0" dirty="0">
                <a:solidFill>
                  <a:srgbClr val="44585A"/>
                </a:solidFill>
                <a:latin typeface="Malgun Gothic"/>
              </a:rPr>
              <a:t> Enterprise(Enterprise Plus </a:t>
            </a:r>
            <a:r>
              <a:rPr sz="1230" b="0" dirty="0" err="1">
                <a:solidFill>
                  <a:srgbClr val="44585A"/>
                </a:solidFill>
                <a:latin typeface="Malgun Gothic"/>
              </a:rPr>
              <a:t>아님</a:t>
            </a:r>
            <a:r>
              <a:rPr sz="1230" b="0" dirty="0">
                <a:solidFill>
                  <a:srgbClr val="44585A"/>
                </a:solidFill>
                <a:latin typeface="Malgun Gothic"/>
              </a:rPr>
              <a:t>), </a:t>
            </a:r>
            <a:r>
              <a:rPr sz="1230" b="0" dirty="0" err="1">
                <a:solidFill>
                  <a:srgbClr val="44585A"/>
                </a:solidFill>
                <a:latin typeface="Malgun Gothic"/>
              </a:rPr>
              <a:t>머신은</a:t>
            </a:r>
            <a:r>
              <a:rPr sz="1230" b="0" dirty="0">
                <a:solidFill>
                  <a:srgbClr val="44585A"/>
                </a:solidFill>
                <a:latin typeface="Malgun Gothic"/>
              </a:rPr>
              <a:t> db-custom-2-8192(2vCPU/8GB) — </a:t>
            </a:r>
            <a:r>
              <a:rPr sz="1230" b="0" dirty="0" err="1">
                <a:solidFill>
                  <a:srgbClr val="44585A"/>
                </a:solidFill>
                <a:latin typeface="Malgun Gothic"/>
              </a:rPr>
              <a:t>고급</a:t>
            </a:r>
            <a:r>
              <a:rPr sz="1230" b="0" dirty="0">
                <a:solidFill>
                  <a:srgbClr val="44585A"/>
                </a:solidFill>
                <a:latin typeface="Malgun Gothic"/>
              </a:rPr>
              <a:t> </a:t>
            </a:r>
            <a:r>
              <a:rPr sz="1230" b="0" dirty="0" err="1">
                <a:solidFill>
                  <a:srgbClr val="44585A"/>
                </a:solidFill>
                <a:latin typeface="Malgun Gothic"/>
              </a:rPr>
              <a:t>기능</a:t>
            </a:r>
            <a:r>
              <a:rPr sz="1230" b="0" dirty="0">
                <a:solidFill>
                  <a:srgbClr val="44585A"/>
                </a:solidFill>
                <a:latin typeface="Malgun Gothic"/>
              </a:rPr>
              <a:t>(</a:t>
            </a:r>
            <a:r>
              <a:rPr sz="1230" b="0" dirty="0" err="1">
                <a:solidFill>
                  <a:srgbClr val="44585A"/>
                </a:solidFill>
                <a:latin typeface="Malgun Gothic"/>
              </a:rPr>
              <a:t>읽기</a:t>
            </a:r>
            <a:r>
              <a:rPr sz="1230" b="0" dirty="0">
                <a:solidFill>
                  <a:srgbClr val="44585A"/>
                </a:solidFill>
                <a:latin typeface="Malgun Gothic"/>
              </a:rPr>
              <a:t> </a:t>
            </a:r>
            <a:r>
              <a:rPr sz="1230" b="0" dirty="0" err="1">
                <a:solidFill>
                  <a:srgbClr val="44585A"/>
                </a:solidFill>
                <a:latin typeface="Malgun Gothic"/>
              </a:rPr>
              <a:t>확장</a:t>
            </a:r>
            <a:r>
              <a:rPr sz="1230" b="0" dirty="0">
                <a:solidFill>
                  <a:srgbClr val="44585A"/>
                </a:solidFill>
                <a:latin typeface="Malgun Gothic"/>
              </a:rPr>
              <a:t> 등)이 </a:t>
            </a:r>
            <a:r>
              <a:rPr sz="1230" b="0" dirty="0" err="1">
                <a:solidFill>
                  <a:srgbClr val="44585A"/>
                </a:solidFill>
                <a:latin typeface="Malgun Gothic"/>
              </a:rPr>
              <a:t>아직</a:t>
            </a:r>
            <a:r>
              <a:rPr sz="1230" b="0" dirty="0">
                <a:solidFill>
                  <a:srgbClr val="44585A"/>
                </a:solidFill>
                <a:latin typeface="Malgun Gothic"/>
              </a:rPr>
              <a:t> </a:t>
            </a:r>
            <a:r>
              <a:rPr sz="1230" b="0" dirty="0" err="1">
                <a:solidFill>
                  <a:srgbClr val="44585A"/>
                </a:solidFill>
                <a:latin typeface="Malgun Gothic"/>
              </a:rPr>
              <a:t>불필요한</a:t>
            </a:r>
            <a:r>
              <a:rPr sz="1230" b="0" dirty="0">
                <a:solidFill>
                  <a:srgbClr val="44585A"/>
                </a:solidFill>
                <a:latin typeface="Malgun Gothic"/>
              </a:rPr>
              <a:t> </a:t>
            </a:r>
            <a:r>
              <a:rPr sz="1230" b="0" dirty="0" err="1">
                <a:solidFill>
                  <a:srgbClr val="44585A"/>
                </a:solidFill>
                <a:latin typeface="Malgun Gothic"/>
              </a:rPr>
              <a:t>초기</a:t>
            </a:r>
            <a:r>
              <a:rPr sz="1230" b="0" dirty="0">
                <a:solidFill>
                  <a:srgbClr val="44585A"/>
                </a:solidFill>
                <a:latin typeface="Malgun Gothic"/>
              </a:rPr>
              <a:t> </a:t>
            </a:r>
            <a:r>
              <a:rPr sz="1230" b="0" dirty="0" err="1">
                <a:solidFill>
                  <a:srgbClr val="44585A"/>
                </a:solidFill>
                <a:latin typeface="Malgun Gothic"/>
              </a:rPr>
              <a:t>단계라</a:t>
            </a:r>
            <a:r>
              <a:rPr sz="1230" b="0" dirty="0">
                <a:solidFill>
                  <a:srgbClr val="44585A"/>
                </a:solidFill>
                <a:latin typeface="Malgun Gothic"/>
              </a:rPr>
              <a:t> </a:t>
            </a:r>
            <a:r>
              <a:rPr sz="1230" b="0" dirty="0" err="1">
                <a:solidFill>
                  <a:srgbClr val="44585A"/>
                </a:solidFill>
                <a:latin typeface="Malgun Gothic"/>
              </a:rPr>
              <a:t>비용</a:t>
            </a:r>
            <a:r>
              <a:rPr sz="1230" b="0" dirty="0">
                <a:solidFill>
                  <a:srgbClr val="44585A"/>
                </a:solidFill>
                <a:latin typeface="Malgun Gothic"/>
              </a:rPr>
              <a:t> </a:t>
            </a:r>
            <a:r>
              <a:rPr sz="1230" b="0" dirty="0" err="1">
                <a:solidFill>
                  <a:srgbClr val="44585A"/>
                </a:solidFill>
                <a:latin typeface="Malgun Gothic"/>
              </a:rPr>
              <a:t>대비</a:t>
            </a:r>
            <a:r>
              <a:rPr sz="1230" b="0" dirty="0">
                <a:solidFill>
                  <a:srgbClr val="44585A"/>
                </a:solidFill>
                <a:latin typeface="Malgun Gothic"/>
              </a:rPr>
              <a:t> </a:t>
            </a:r>
            <a:r>
              <a:rPr sz="1230" b="0" dirty="0" err="1">
                <a:solidFill>
                  <a:srgbClr val="44585A"/>
                </a:solidFill>
                <a:latin typeface="Malgun Gothic"/>
              </a:rPr>
              <a:t>합리적인</a:t>
            </a:r>
            <a:r>
              <a:rPr sz="1230" b="0" dirty="0">
                <a:solidFill>
                  <a:srgbClr val="44585A"/>
                </a:solidFill>
                <a:latin typeface="Malgun Gothic"/>
              </a:rPr>
              <a:t> </a:t>
            </a:r>
            <a:r>
              <a:rPr sz="1230" b="0" dirty="0" err="1">
                <a:solidFill>
                  <a:srgbClr val="44585A"/>
                </a:solidFill>
                <a:latin typeface="Malgun Gothic"/>
              </a:rPr>
              <a:t>사양</a:t>
            </a:r>
            <a:endParaRPr sz="1230" b="0" dirty="0">
              <a:solidFill>
                <a:srgbClr val="44585A"/>
              </a:solidFill>
              <a:latin typeface="Malgun Gothic"/>
            </a:endParaRPr>
          </a:p>
          <a:p>
            <a:pPr>
              <a:lnSpc>
                <a:spcPct val="118000"/>
              </a:lnSpc>
              <a:spcAft>
                <a:spcPts val="700"/>
              </a:spcAft>
            </a:pPr>
            <a:r>
              <a:rPr sz="1230" b="0" dirty="0">
                <a:solidFill>
                  <a:srgbClr val="44585A"/>
                </a:solidFill>
                <a:latin typeface="Malgun Gothic"/>
              </a:rPr>
              <a:t>▸ </a:t>
            </a:r>
            <a:r>
              <a:rPr sz="1230" b="0" dirty="0" err="1">
                <a:solidFill>
                  <a:srgbClr val="44585A"/>
                </a:solidFill>
                <a:latin typeface="Malgun Gothic"/>
              </a:rPr>
              <a:t>네트워크는</a:t>
            </a:r>
            <a:r>
              <a:rPr sz="1230" b="0" dirty="0">
                <a:solidFill>
                  <a:srgbClr val="44585A"/>
                </a:solidFill>
                <a:latin typeface="Malgun Gothic"/>
              </a:rPr>
              <a:t> Private IP </a:t>
            </a:r>
            <a:r>
              <a:rPr sz="1230" b="0" dirty="0" err="1">
                <a:solidFill>
                  <a:srgbClr val="44585A"/>
                </a:solidFill>
                <a:latin typeface="Malgun Gothic"/>
              </a:rPr>
              <a:t>전용</a:t>
            </a:r>
            <a:r>
              <a:rPr sz="1230" b="0" dirty="0">
                <a:solidFill>
                  <a:srgbClr val="44585A"/>
                </a:solidFill>
                <a:latin typeface="Malgun Gothic"/>
              </a:rPr>
              <a:t>(</a:t>
            </a:r>
            <a:r>
              <a:rPr sz="1230" b="0" dirty="0" err="1">
                <a:solidFill>
                  <a:srgbClr val="44585A"/>
                </a:solidFill>
                <a:latin typeface="Malgun Gothic"/>
              </a:rPr>
              <a:t>퍼블릭</a:t>
            </a:r>
            <a:r>
              <a:rPr sz="1230" b="0" dirty="0">
                <a:solidFill>
                  <a:srgbClr val="44585A"/>
                </a:solidFill>
                <a:latin typeface="Malgun Gothic"/>
              </a:rPr>
              <a:t> IP </a:t>
            </a:r>
            <a:r>
              <a:rPr sz="1230" b="0" dirty="0" err="1">
                <a:solidFill>
                  <a:srgbClr val="44585A"/>
                </a:solidFill>
                <a:latin typeface="Malgun Gothic"/>
              </a:rPr>
              <a:t>미부여</a:t>
            </a:r>
            <a:r>
              <a:rPr sz="1230" b="0" dirty="0">
                <a:solidFill>
                  <a:srgbClr val="44585A"/>
                </a:solidFill>
                <a:latin typeface="Malgun Gothic"/>
              </a:rPr>
              <a:t>) — was-</a:t>
            </a:r>
            <a:r>
              <a:rPr sz="1230" b="0" dirty="0" err="1">
                <a:solidFill>
                  <a:srgbClr val="44585A"/>
                </a:solidFill>
                <a:latin typeface="Malgun Gothic"/>
              </a:rPr>
              <a:t>subnet에서</a:t>
            </a:r>
            <a:r>
              <a:rPr sz="1230" b="0" dirty="0">
                <a:solidFill>
                  <a:srgbClr val="44585A"/>
                </a:solidFill>
                <a:latin typeface="Malgun Gothic"/>
              </a:rPr>
              <a:t> </a:t>
            </a:r>
            <a:r>
              <a:rPr sz="1230" b="0" dirty="0" err="1">
                <a:solidFill>
                  <a:srgbClr val="44585A"/>
                </a:solidFill>
                <a:latin typeface="Malgun Gothic"/>
              </a:rPr>
              <a:t>승인된</a:t>
            </a:r>
            <a:r>
              <a:rPr sz="1230" b="0" dirty="0">
                <a:solidFill>
                  <a:srgbClr val="44585A"/>
                </a:solidFill>
                <a:latin typeface="Malgun Gothic"/>
              </a:rPr>
              <a:t> </a:t>
            </a:r>
            <a:r>
              <a:rPr sz="1230" b="0" dirty="0" err="1">
                <a:solidFill>
                  <a:srgbClr val="44585A"/>
                </a:solidFill>
                <a:latin typeface="Malgun Gothic"/>
              </a:rPr>
              <a:t>네트워크로만</a:t>
            </a:r>
            <a:r>
              <a:rPr sz="1230" b="0" dirty="0">
                <a:solidFill>
                  <a:srgbClr val="44585A"/>
                </a:solidFill>
                <a:latin typeface="Malgun Gothic"/>
              </a:rPr>
              <a:t> </a:t>
            </a:r>
            <a:r>
              <a:rPr sz="1230" b="0" dirty="0" err="1">
                <a:solidFill>
                  <a:srgbClr val="44585A"/>
                </a:solidFill>
                <a:latin typeface="Malgun Gothic"/>
              </a:rPr>
              <a:t>연결</a:t>
            </a:r>
            <a:r>
              <a:rPr sz="1230" b="0" dirty="0">
                <a:solidFill>
                  <a:srgbClr val="44585A"/>
                </a:solidFill>
                <a:latin typeface="Malgun Gothic"/>
              </a:rPr>
              <a:t>, </a:t>
            </a:r>
            <a:r>
              <a:rPr sz="1230" b="0" dirty="0" err="1">
                <a:solidFill>
                  <a:srgbClr val="44585A"/>
                </a:solidFill>
                <a:latin typeface="Malgun Gothic"/>
              </a:rPr>
              <a:t>인터넷</a:t>
            </a:r>
            <a:r>
              <a:rPr sz="1230" b="0" dirty="0">
                <a:solidFill>
                  <a:srgbClr val="44585A"/>
                </a:solidFill>
                <a:latin typeface="Malgun Gothic"/>
              </a:rPr>
              <a:t> </a:t>
            </a:r>
            <a:r>
              <a:rPr sz="1230" b="0" dirty="0" err="1">
                <a:solidFill>
                  <a:srgbClr val="44585A"/>
                </a:solidFill>
                <a:latin typeface="Malgun Gothic"/>
              </a:rPr>
              <a:t>어디에서도</a:t>
            </a:r>
            <a:r>
              <a:rPr sz="1230" b="0" dirty="0">
                <a:solidFill>
                  <a:srgbClr val="44585A"/>
                </a:solidFill>
                <a:latin typeface="Malgun Gothic"/>
              </a:rPr>
              <a:t> </a:t>
            </a:r>
            <a:r>
              <a:rPr sz="1230" b="0" dirty="0" err="1">
                <a:solidFill>
                  <a:srgbClr val="44585A"/>
                </a:solidFill>
                <a:latin typeface="Malgun Gothic"/>
              </a:rPr>
              <a:t>DB의</a:t>
            </a:r>
            <a:r>
              <a:rPr sz="1230" b="0" dirty="0">
                <a:solidFill>
                  <a:srgbClr val="44585A"/>
                </a:solidFill>
                <a:latin typeface="Malgun Gothic"/>
              </a:rPr>
              <a:t> </a:t>
            </a:r>
            <a:r>
              <a:rPr sz="1230" b="0" dirty="0" err="1">
                <a:solidFill>
                  <a:srgbClr val="44585A"/>
                </a:solidFill>
                <a:latin typeface="Malgun Gothic"/>
              </a:rPr>
              <a:t>존재</a:t>
            </a:r>
            <a:r>
              <a:rPr sz="1230" b="0" dirty="0">
                <a:solidFill>
                  <a:srgbClr val="44585A"/>
                </a:solidFill>
                <a:latin typeface="Malgun Gothic"/>
              </a:rPr>
              <a:t> </a:t>
            </a:r>
            <a:r>
              <a:rPr sz="1230" b="0" dirty="0" err="1">
                <a:solidFill>
                  <a:srgbClr val="44585A"/>
                </a:solidFill>
                <a:latin typeface="Malgun Gothic"/>
              </a:rPr>
              <a:t>자체가</a:t>
            </a:r>
            <a:r>
              <a:rPr sz="1230" b="0" dirty="0">
                <a:solidFill>
                  <a:srgbClr val="44585A"/>
                </a:solidFill>
                <a:latin typeface="Malgun Gothic"/>
              </a:rPr>
              <a:t> </a:t>
            </a:r>
            <a:r>
              <a:rPr sz="1230" b="0" dirty="0" err="1">
                <a:solidFill>
                  <a:srgbClr val="44585A"/>
                </a:solidFill>
                <a:latin typeface="Malgun Gothic"/>
              </a:rPr>
              <a:t>보이지</a:t>
            </a:r>
            <a:r>
              <a:rPr sz="1230" b="0" dirty="0">
                <a:solidFill>
                  <a:srgbClr val="44585A"/>
                </a:solidFill>
                <a:latin typeface="Malgun Gothic"/>
              </a:rPr>
              <a:t> </a:t>
            </a:r>
            <a:r>
              <a:rPr sz="1230" b="0" dirty="0" err="1">
                <a:solidFill>
                  <a:srgbClr val="44585A"/>
                </a:solidFill>
                <a:latin typeface="Malgun Gothic"/>
              </a:rPr>
              <a:t>않음</a:t>
            </a:r>
            <a:endParaRPr sz="1230" b="0" dirty="0">
              <a:solidFill>
                <a:srgbClr val="44585A"/>
              </a:solidFill>
              <a:latin typeface="Malgun Gothic"/>
            </a:endParaRPr>
          </a:p>
          <a:p>
            <a:pPr>
              <a:lnSpc>
                <a:spcPct val="118000"/>
              </a:lnSpc>
              <a:spcAft>
                <a:spcPts val="700"/>
              </a:spcAft>
            </a:pPr>
            <a:r>
              <a:rPr sz="1230" b="0" dirty="0">
                <a:solidFill>
                  <a:srgbClr val="44585A"/>
                </a:solidFill>
                <a:latin typeface="Malgun Gothic"/>
              </a:rPr>
              <a:t>▸ </a:t>
            </a:r>
            <a:r>
              <a:rPr sz="1230" b="0" dirty="0" err="1">
                <a:solidFill>
                  <a:srgbClr val="44585A"/>
                </a:solidFill>
                <a:latin typeface="Malgun Gothic"/>
              </a:rPr>
              <a:t>가용성은</a:t>
            </a:r>
            <a:r>
              <a:rPr sz="1230" b="0" dirty="0">
                <a:solidFill>
                  <a:srgbClr val="44585A"/>
                </a:solidFill>
                <a:latin typeface="Malgun Gothic"/>
              </a:rPr>
              <a:t> </a:t>
            </a:r>
            <a:r>
              <a:rPr sz="1230" b="0" dirty="0" err="1">
                <a:solidFill>
                  <a:srgbClr val="44585A"/>
                </a:solidFill>
                <a:latin typeface="Malgun Gothic"/>
              </a:rPr>
              <a:t>단일</a:t>
            </a:r>
            <a:r>
              <a:rPr sz="1230" b="0" dirty="0">
                <a:solidFill>
                  <a:srgbClr val="44585A"/>
                </a:solidFill>
                <a:latin typeface="Malgun Gothic"/>
              </a:rPr>
              <a:t> </a:t>
            </a:r>
            <a:r>
              <a:rPr sz="1230" b="0" dirty="0" err="1">
                <a:solidFill>
                  <a:srgbClr val="44585A"/>
                </a:solidFill>
                <a:latin typeface="Malgun Gothic"/>
              </a:rPr>
              <a:t>영역</a:t>
            </a:r>
            <a:r>
              <a:rPr sz="1230" b="0" dirty="0">
                <a:solidFill>
                  <a:srgbClr val="44585A"/>
                </a:solidFill>
                <a:latin typeface="Malgun Gothic"/>
              </a:rPr>
              <a:t>(No HA)</a:t>
            </a:r>
            <a:r>
              <a:rPr sz="1230" b="0" dirty="0" err="1">
                <a:solidFill>
                  <a:srgbClr val="44585A"/>
                </a:solidFill>
                <a:latin typeface="Malgun Gothic"/>
              </a:rPr>
              <a:t>이지만</a:t>
            </a:r>
            <a:r>
              <a:rPr sz="1230" b="0" dirty="0">
                <a:solidFill>
                  <a:srgbClr val="44585A"/>
                </a:solidFill>
                <a:latin typeface="Malgun Gothic"/>
              </a:rPr>
              <a:t> </a:t>
            </a:r>
            <a:r>
              <a:rPr sz="1230" b="0" dirty="0" err="1">
                <a:solidFill>
                  <a:srgbClr val="44585A"/>
                </a:solidFill>
                <a:latin typeface="Malgun Gothic"/>
              </a:rPr>
              <a:t>자동</a:t>
            </a:r>
            <a:r>
              <a:rPr sz="1230" b="0" dirty="0">
                <a:solidFill>
                  <a:srgbClr val="44585A"/>
                </a:solidFill>
                <a:latin typeface="Malgun Gothic"/>
              </a:rPr>
              <a:t> </a:t>
            </a:r>
            <a:r>
              <a:rPr sz="1230" b="0" dirty="0" err="1">
                <a:solidFill>
                  <a:srgbClr val="44585A"/>
                </a:solidFill>
                <a:latin typeface="Malgun Gothic"/>
              </a:rPr>
              <a:t>백업</a:t>
            </a:r>
            <a:r>
              <a:rPr sz="1230" b="0" dirty="0">
                <a:solidFill>
                  <a:srgbClr val="44585A"/>
                </a:solidFill>
                <a:latin typeface="Malgun Gothic"/>
              </a:rPr>
              <a:t> + </a:t>
            </a:r>
            <a:r>
              <a:rPr sz="1230" b="0" dirty="0" err="1">
                <a:solidFill>
                  <a:srgbClr val="44585A"/>
                </a:solidFill>
                <a:latin typeface="Malgun Gothic"/>
              </a:rPr>
              <a:t>포인트</a:t>
            </a:r>
            <a:r>
              <a:rPr sz="1230" b="0" dirty="0">
                <a:solidFill>
                  <a:srgbClr val="44585A"/>
                </a:solidFill>
                <a:latin typeface="Malgun Gothic"/>
              </a:rPr>
              <a:t>-인-</a:t>
            </a:r>
            <a:r>
              <a:rPr sz="1230" b="0" dirty="0" err="1">
                <a:solidFill>
                  <a:srgbClr val="44585A"/>
                </a:solidFill>
                <a:latin typeface="Malgun Gothic"/>
              </a:rPr>
              <a:t>타임</a:t>
            </a:r>
            <a:r>
              <a:rPr sz="1230" b="0" dirty="0">
                <a:solidFill>
                  <a:srgbClr val="44585A"/>
                </a:solidFill>
                <a:latin typeface="Malgun Gothic"/>
              </a:rPr>
              <a:t> </a:t>
            </a:r>
            <a:r>
              <a:rPr sz="1230" b="0" dirty="0" err="1">
                <a:solidFill>
                  <a:srgbClr val="44585A"/>
                </a:solidFill>
                <a:latin typeface="Malgun Gothic"/>
              </a:rPr>
              <a:t>복구</a:t>
            </a:r>
            <a:r>
              <a:rPr sz="1230" b="0" dirty="0">
                <a:solidFill>
                  <a:srgbClr val="44585A"/>
                </a:solidFill>
                <a:latin typeface="Malgun Gothic"/>
              </a:rPr>
              <a:t> + </a:t>
            </a:r>
            <a:r>
              <a:rPr sz="1230" b="0" dirty="0" err="1">
                <a:solidFill>
                  <a:srgbClr val="44585A"/>
                </a:solidFill>
                <a:latin typeface="Malgun Gothic"/>
              </a:rPr>
              <a:t>삭제</a:t>
            </a:r>
            <a:r>
              <a:rPr sz="1230" b="0" dirty="0">
                <a:solidFill>
                  <a:srgbClr val="44585A"/>
                </a:solidFill>
                <a:latin typeface="Malgun Gothic"/>
              </a:rPr>
              <a:t> </a:t>
            </a:r>
            <a:r>
              <a:rPr sz="1230" b="0" dirty="0" err="1">
                <a:solidFill>
                  <a:srgbClr val="44585A"/>
                </a:solidFill>
                <a:latin typeface="Malgun Gothic"/>
              </a:rPr>
              <a:t>보호는</a:t>
            </a:r>
            <a:r>
              <a:rPr sz="1230" b="0" dirty="0">
                <a:solidFill>
                  <a:srgbClr val="44585A"/>
                </a:solidFill>
                <a:latin typeface="Malgun Gothic"/>
              </a:rPr>
              <a:t> </a:t>
            </a:r>
            <a:r>
              <a:rPr sz="1230" b="0" dirty="0" err="1">
                <a:solidFill>
                  <a:srgbClr val="44585A"/>
                </a:solidFill>
                <a:latin typeface="Malgun Gothic"/>
              </a:rPr>
              <a:t>전부</a:t>
            </a:r>
            <a:r>
              <a:rPr sz="1230" b="0" dirty="0">
                <a:solidFill>
                  <a:srgbClr val="44585A"/>
                </a:solidFill>
                <a:latin typeface="Malgun Gothic"/>
              </a:rPr>
              <a:t> </a:t>
            </a:r>
            <a:r>
              <a:rPr sz="1230" b="0" dirty="0" err="1">
                <a:solidFill>
                  <a:srgbClr val="44585A"/>
                </a:solidFill>
                <a:latin typeface="Malgun Gothic"/>
              </a:rPr>
              <a:t>활성화</a:t>
            </a:r>
            <a:r>
              <a:rPr sz="1230" b="0" dirty="0">
                <a:solidFill>
                  <a:srgbClr val="44585A"/>
                </a:solidFill>
                <a:latin typeface="Malgun Gothic"/>
              </a:rPr>
              <a:t> — '</a:t>
            </a:r>
            <a:r>
              <a:rPr sz="1230" b="0" dirty="0" err="1">
                <a:solidFill>
                  <a:srgbClr val="44585A"/>
                </a:solidFill>
                <a:latin typeface="Malgun Gothic"/>
              </a:rPr>
              <a:t>개발</a:t>
            </a:r>
            <a:r>
              <a:rPr sz="1230" b="0" dirty="0">
                <a:solidFill>
                  <a:srgbClr val="44585A"/>
                </a:solidFill>
                <a:latin typeface="Malgun Gothic"/>
              </a:rPr>
              <a:t> </a:t>
            </a:r>
            <a:r>
              <a:rPr sz="1230" b="0" dirty="0" err="1">
                <a:solidFill>
                  <a:srgbClr val="44585A"/>
                </a:solidFill>
                <a:latin typeface="Malgun Gothic"/>
              </a:rPr>
              <a:t>단계'라도</a:t>
            </a:r>
            <a:r>
              <a:rPr sz="1230" b="0" dirty="0">
                <a:solidFill>
                  <a:srgbClr val="44585A"/>
                </a:solidFill>
                <a:latin typeface="Malgun Gothic"/>
              </a:rPr>
              <a:t> </a:t>
            </a:r>
            <a:r>
              <a:rPr sz="1230" b="0" dirty="0" err="1">
                <a:solidFill>
                  <a:srgbClr val="44585A"/>
                </a:solidFill>
                <a:latin typeface="Malgun Gothic"/>
              </a:rPr>
              <a:t>실제</a:t>
            </a:r>
            <a:r>
              <a:rPr sz="1230" b="0" dirty="0">
                <a:solidFill>
                  <a:srgbClr val="44585A"/>
                </a:solidFill>
                <a:latin typeface="Malgun Gothic"/>
              </a:rPr>
              <a:t> </a:t>
            </a:r>
            <a:r>
              <a:rPr sz="1230" b="0" dirty="0" err="1">
                <a:solidFill>
                  <a:srgbClr val="44585A"/>
                </a:solidFill>
                <a:latin typeface="Malgun Gothic"/>
              </a:rPr>
              <a:t>데모에</a:t>
            </a:r>
            <a:r>
              <a:rPr sz="1230" b="0" dirty="0">
                <a:solidFill>
                  <a:srgbClr val="44585A"/>
                </a:solidFill>
                <a:latin typeface="Malgun Gothic"/>
              </a:rPr>
              <a:t> </a:t>
            </a:r>
            <a:r>
              <a:rPr sz="1230" b="0" dirty="0" err="1">
                <a:solidFill>
                  <a:srgbClr val="44585A"/>
                </a:solidFill>
                <a:latin typeface="Malgun Gothic"/>
              </a:rPr>
              <a:t>쓰이는</a:t>
            </a:r>
            <a:r>
              <a:rPr sz="1230" b="0" dirty="0">
                <a:solidFill>
                  <a:srgbClr val="44585A"/>
                </a:solidFill>
                <a:latin typeface="Malgun Gothic"/>
              </a:rPr>
              <a:t> </a:t>
            </a:r>
            <a:r>
              <a:rPr sz="1230" b="0" dirty="0" err="1">
                <a:solidFill>
                  <a:srgbClr val="44585A"/>
                </a:solidFill>
                <a:latin typeface="Malgun Gothic"/>
              </a:rPr>
              <a:t>데이터라</a:t>
            </a:r>
            <a:r>
              <a:rPr sz="1230" b="0" dirty="0">
                <a:solidFill>
                  <a:srgbClr val="44585A"/>
                </a:solidFill>
                <a:latin typeface="Malgun Gothic"/>
              </a:rPr>
              <a:t> </a:t>
            </a:r>
            <a:r>
              <a:rPr sz="1230" b="0" dirty="0" err="1">
                <a:solidFill>
                  <a:srgbClr val="44585A"/>
                </a:solidFill>
                <a:latin typeface="Malgun Gothic"/>
              </a:rPr>
              <a:t>소실</a:t>
            </a:r>
            <a:r>
              <a:rPr sz="1230" b="0" dirty="0">
                <a:solidFill>
                  <a:srgbClr val="44585A"/>
                </a:solidFill>
                <a:latin typeface="Malgun Gothic"/>
              </a:rPr>
              <a:t> </a:t>
            </a:r>
            <a:r>
              <a:rPr sz="1230" b="0" dirty="0" err="1">
                <a:solidFill>
                  <a:srgbClr val="44585A"/>
                </a:solidFill>
                <a:latin typeface="Malgun Gothic"/>
              </a:rPr>
              <a:t>방지가</a:t>
            </a:r>
            <a:r>
              <a:rPr sz="1230" b="0" dirty="0">
                <a:solidFill>
                  <a:srgbClr val="44585A"/>
                </a:solidFill>
                <a:latin typeface="Malgun Gothic"/>
              </a:rPr>
              <a:t> </a:t>
            </a:r>
            <a:r>
              <a:rPr sz="1230" b="0" dirty="0" err="1">
                <a:solidFill>
                  <a:srgbClr val="44585A"/>
                </a:solidFill>
                <a:latin typeface="Malgun Gothic"/>
              </a:rPr>
              <a:t>최우선</a:t>
            </a:r>
            <a:endParaRPr sz="1230" b="0" dirty="0">
              <a:solidFill>
                <a:srgbClr val="44585A"/>
              </a:solidFill>
              <a:latin typeface="Malgun Gothic"/>
            </a:endParaRPr>
          </a:p>
          <a:p>
            <a:pPr>
              <a:lnSpc>
                <a:spcPct val="118000"/>
              </a:lnSpc>
              <a:spcAft>
                <a:spcPts val="700"/>
              </a:spcAft>
            </a:pPr>
            <a:r>
              <a:rPr sz="1230" b="0" dirty="0">
                <a:solidFill>
                  <a:srgbClr val="44585A"/>
                </a:solidFill>
                <a:latin typeface="Malgun Gothic"/>
              </a:rPr>
              <a:t>▸ '</a:t>
            </a:r>
            <a:r>
              <a:rPr sz="1230" b="0" dirty="0" err="1">
                <a:solidFill>
                  <a:srgbClr val="44585A"/>
                </a:solidFill>
                <a:latin typeface="Malgun Gothic"/>
              </a:rPr>
              <a:t>샌드박스</a:t>
            </a:r>
            <a:r>
              <a:rPr sz="1230" b="0" dirty="0">
                <a:solidFill>
                  <a:srgbClr val="44585A"/>
                </a:solidFill>
                <a:latin typeface="Malgun Gothic"/>
              </a:rPr>
              <a:t>'(</a:t>
            </a:r>
            <a:r>
              <a:rPr sz="1230" b="0" dirty="0" err="1">
                <a:solidFill>
                  <a:srgbClr val="44585A"/>
                </a:solidFill>
                <a:latin typeface="Malgun Gothic"/>
              </a:rPr>
              <a:t>체험용</a:t>
            </a:r>
            <a:r>
              <a:rPr sz="1230" b="0" dirty="0">
                <a:solidFill>
                  <a:srgbClr val="44585A"/>
                </a:solidFill>
                <a:latin typeface="Malgun Gothic"/>
              </a:rPr>
              <a:t> </a:t>
            </a:r>
            <a:r>
              <a:rPr sz="1230" b="0" dirty="0" err="1">
                <a:solidFill>
                  <a:srgbClr val="44585A"/>
                </a:solidFill>
                <a:latin typeface="Malgun Gothic"/>
              </a:rPr>
              <a:t>임시</a:t>
            </a:r>
            <a:r>
              <a:rPr sz="1230" b="0" dirty="0">
                <a:solidFill>
                  <a:srgbClr val="44585A"/>
                </a:solidFill>
                <a:latin typeface="Malgun Gothic"/>
              </a:rPr>
              <a:t> </a:t>
            </a:r>
            <a:r>
              <a:rPr sz="1230" b="0" dirty="0" err="1">
                <a:solidFill>
                  <a:srgbClr val="44585A"/>
                </a:solidFill>
                <a:latin typeface="Malgun Gothic"/>
              </a:rPr>
              <a:t>리소스</a:t>
            </a:r>
            <a:r>
              <a:rPr sz="1230" b="0" dirty="0">
                <a:solidFill>
                  <a:srgbClr val="44585A"/>
                </a:solidFill>
                <a:latin typeface="Malgun Gothic"/>
              </a:rPr>
              <a:t>)가 </a:t>
            </a:r>
            <a:r>
              <a:rPr sz="1230" b="0" dirty="0" err="1">
                <a:solidFill>
                  <a:srgbClr val="44585A"/>
                </a:solidFill>
                <a:latin typeface="Malgun Gothic"/>
              </a:rPr>
              <a:t>아니라</a:t>
            </a:r>
            <a:r>
              <a:rPr sz="1230" b="0" dirty="0">
                <a:solidFill>
                  <a:srgbClr val="44585A"/>
                </a:solidFill>
                <a:latin typeface="Malgun Gothic"/>
              </a:rPr>
              <a:t> </a:t>
            </a:r>
            <a:r>
              <a:rPr sz="1230" b="0" dirty="0" err="1">
                <a:solidFill>
                  <a:srgbClr val="44585A"/>
                </a:solidFill>
                <a:latin typeface="Malgun Gothic"/>
              </a:rPr>
              <a:t>상시</a:t>
            </a:r>
            <a:r>
              <a:rPr sz="1230" b="0" dirty="0">
                <a:solidFill>
                  <a:srgbClr val="44585A"/>
                </a:solidFill>
                <a:latin typeface="Malgun Gothic"/>
              </a:rPr>
              <a:t> </a:t>
            </a:r>
            <a:r>
              <a:rPr sz="1230" b="0" dirty="0" err="1">
                <a:solidFill>
                  <a:srgbClr val="44585A"/>
                </a:solidFill>
                <a:latin typeface="Malgun Gothic"/>
              </a:rPr>
              <a:t>운영되는</a:t>
            </a:r>
            <a:r>
              <a:rPr sz="1230" b="0" dirty="0">
                <a:solidFill>
                  <a:srgbClr val="44585A"/>
                </a:solidFill>
                <a:latin typeface="Malgun Gothic"/>
              </a:rPr>
              <a:t> 'Development </a:t>
            </a:r>
            <a:r>
              <a:rPr sz="1230" b="0" dirty="0" err="1">
                <a:solidFill>
                  <a:srgbClr val="44585A"/>
                </a:solidFill>
                <a:latin typeface="Malgun Gothic"/>
              </a:rPr>
              <a:t>등급</a:t>
            </a:r>
            <a:r>
              <a:rPr sz="1230" b="0" dirty="0">
                <a:solidFill>
                  <a:srgbClr val="44585A"/>
                </a:solidFill>
                <a:latin typeface="Malgun Gothic"/>
              </a:rPr>
              <a:t> </a:t>
            </a:r>
            <a:r>
              <a:rPr sz="1230" b="0" dirty="0" err="1">
                <a:solidFill>
                  <a:srgbClr val="44585A"/>
                </a:solidFill>
                <a:latin typeface="Malgun Gothic"/>
              </a:rPr>
              <a:t>인스턴스'로</a:t>
            </a:r>
            <a:r>
              <a:rPr sz="1230" b="0" dirty="0">
                <a:solidFill>
                  <a:srgbClr val="44585A"/>
                </a:solidFill>
                <a:latin typeface="Malgun Gothic"/>
              </a:rPr>
              <a:t> </a:t>
            </a:r>
            <a:r>
              <a:rPr sz="1230" b="0" dirty="0" err="1">
                <a:solidFill>
                  <a:srgbClr val="44585A"/>
                </a:solidFill>
                <a:latin typeface="Malgun Gothic"/>
              </a:rPr>
              <a:t>구성</a:t>
            </a:r>
            <a:r>
              <a:rPr sz="1230" b="0" dirty="0">
                <a:solidFill>
                  <a:srgbClr val="44585A"/>
                </a:solidFill>
                <a:latin typeface="Malgun Gothic"/>
              </a:rPr>
              <a:t> — </a:t>
            </a:r>
            <a:r>
              <a:rPr sz="1230" b="0" dirty="0" err="1">
                <a:solidFill>
                  <a:srgbClr val="44585A"/>
                </a:solidFill>
                <a:latin typeface="Malgun Gothic"/>
              </a:rPr>
              <a:t>샌드박스는</a:t>
            </a:r>
            <a:r>
              <a:rPr sz="1230" b="0" dirty="0">
                <a:solidFill>
                  <a:srgbClr val="44585A"/>
                </a:solidFill>
                <a:latin typeface="Malgun Gothic"/>
              </a:rPr>
              <a:t> </a:t>
            </a:r>
            <a:r>
              <a:rPr sz="1230" b="0" dirty="0" err="1">
                <a:solidFill>
                  <a:srgbClr val="44585A"/>
                </a:solidFill>
                <a:latin typeface="Malgun Gothic"/>
              </a:rPr>
              <a:t>쿼터</a:t>
            </a:r>
            <a:r>
              <a:rPr sz="1230" b="0" dirty="0">
                <a:solidFill>
                  <a:srgbClr val="44585A"/>
                </a:solidFill>
                <a:latin typeface="Malgun Gothic"/>
              </a:rPr>
              <a:t> </a:t>
            </a:r>
            <a:r>
              <a:rPr sz="1230" b="0" dirty="0" err="1">
                <a:solidFill>
                  <a:srgbClr val="44585A"/>
                </a:solidFill>
                <a:latin typeface="Malgun Gothic"/>
              </a:rPr>
              <a:t>제한과</a:t>
            </a:r>
            <a:r>
              <a:rPr sz="1230" b="0" dirty="0">
                <a:solidFill>
                  <a:srgbClr val="44585A"/>
                </a:solidFill>
                <a:latin typeface="Malgun Gothic"/>
              </a:rPr>
              <a:t> </a:t>
            </a:r>
            <a:r>
              <a:rPr sz="1230" b="0" dirty="0" err="1">
                <a:solidFill>
                  <a:srgbClr val="44585A"/>
                </a:solidFill>
                <a:latin typeface="Malgun Gothic"/>
              </a:rPr>
              <a:t>리소스</a:t>
            </a:r>
            <a:r>
              <a:rPr sz="1230" b="0" dirty="0">
                <a:solidFill>
                  <a:srgbClr val="44585A"/>
                </a:solidFill>
                <a:latin typeface="Malgun Gothic"/>
              </a:rPr>
              <a:t> </a:t>
            </a:r>
            <a:r>
              <a:rPr sz="1230" b="0" dirty="0" err="1">
                <a:solidFill>
                  <a:srgbClr val="44585A"/>
                </a:solidFill>
                <a:latin typeface="Malgun Gothic"/>
              </a:rPr>
              <a:t>자동</a:t>
            </a:r>
            <a:r>
              <a:rPr sz="1230" b="0" dirty="0">
                <a:solidFill>
                  <a:srgbClr val="44585A"/>
                </a:solidFill>
                <a:latin typeface="Malgun Gothic"/>
              </a:rPr>
              <a:t> </a:t>
            </a:r>
            <a:r>
              <a:rPr sz="1230" b="0" dirty="0" err="1">
                <a:solidFill>
                  <a:srgbClr val="44585A"/>
                </a:solidFill>
                <a:latin typeface="Malgun Gothic"/>
              </a:rPr>
              <a:t>회수</a:t>
            </a:r>
            <a:r>
              <a:rPr sz="1230" b="0" dirty="0">
                <a:solidFill>
                  <a:srgbClr val="44585A"/>
                </a:solidFill>
                <a:latin typeface="Malgun Gothic"/>
              </a:rPr>
              <a:t> </a:t>
            </a:r>
            <a:r>
              <a:rPr sz="1230" b="0" dirty="0" err="1">
                <a:solidFill>
                  <a:srgbClr val="44585A"/>
                </a:solidFill>
                <a:latin typeface="Malgun Gothic"/>
              </a:rPr>
              <a:t>위험이</a:t>
            </a:r>
            <a:r>
              <a:rPr sz="1230" b="0" dirty="0">
                <a:solidFill>
                  <a:srgbClr val="44585A"/>
                </a:solidFill>
                <a:latin typeface="Malgun Gothic"/>
              </a:rPr>
              <a:t> </a:t>
            </a:r>
            <a:r>
              <a:rPr sz="1230" b="0" dirty="0" err="1">
                <a:solidFill>
                  <a:srgbClr val="44585A"/>
                </a:solidFill>
                <a:latin typeface="Malgun Gothic"/>
              </a:rPr>
              <a:t>있어</a:t>
            </a:r>
            <a:r>
              <a:rPr sz="1230" b="0" dirty="0">
                <a:solidFill>
                  <a:srgbClr val="44585A"/>
                </a:solidFill>
                <a:latin typeface="Malgun Gothic"/>
              </a:rPr>
              <a:t> </a:t>
            </a:r>
            <a:r>
              <a:rPr sz="1230" b="0" dirty="0" err="1">
                <a:solidFill>
                  <a:srgbClr val="44585A"/>
                </a:solidFill>
                <a:latin typeface="Malgun Gothic"/>
              </a:rPr>
              <a:t>시연</a:t>
            </a:r>
            <a:r>
              <a:rPr sz="1230" b="0" dirty="0">
                <a:solidFill>
                  <a:srgbClr val="44585A"/>
                </a:solidFill>
                <a:latin typeface="Malgun Gothic"/>
              </a:rPr>
              <a:t> </a:t>
            </a:r>
            <a:r>
              <a:rPr sz="1230" b="0" dirty="0" err="1">
                <a:solidFill>
                  <a:srgbClr val="44585A"/>
                </a:solidFill>
                <a:latin typeface="Malgun Gothic"/>
              </a:rPr>
              <a:t>도중</a:t>
            </a:r>
            <a:r>
              <a:rPr sz="1230" b="0" dirty="0">
                <a:solidFill>
                  <a:srgbClr val="44585A"/>
                </a:solidFill>
                <a:latin typeface="Malgun Gothic"/>
              </a:rPr>
              <a:t> </a:t>
            </a:r>
            <a:r>
              <a:rPr sz="1230" b="0" dirty="0" err="1">
                <a:solidFill>
                  <a:srgbClr val="44585A"/>
                </a:solidFill>
                <a:latin typeface="Malgun Gothic"/>
              </a:rPr>
              <a:t>데이터가</a:t>
            </a:r>
            <a:r>
              <a:rPr sz="1230" b="0" dirty="0">
                <a:solidFill>
                  <a:srgbClr val="44585A"/>
                </a:solidFill>
                <a:latin typeface="Malgun Gothic"/>
              </a:rPr>
              <a:t> </a:t>
            </a:r>
            <a:r>
              <a:rPr sz="1230" b="0" dirty="0" err="1">
                <a:solidFill>
                  <a:srgbClr val="44585A"/>
                </a:solidFill>
                <a:latin typeface="Malgun Gothic"/>
              </a:rPr>
              <a:t>날아갈</a:t>
            </a:r>
            <a:r>
              <a:rPr sz="1230" b="0" dirty="0">
                <a:solidFill>
                  <a:srgbClr val="44585A"/>
                </a:solidFill>
                <a:latin typeface="Malgun Gothic"/>
              </a:rPr>
              <a:t> 수 </a:t>
            </a:r>
            <a:r>
              <a:rPr sz="1230" b="0" dirty="0" err="1">
                <a:solidFill>
                  <a:srgbClr val="44585A"/>
                </a:solidFill>
                <a:latin typeface="Malgun Gothic"/>
              </a:rPr>
              <a:t>있음</a:t>
            </a:r>
            <a:endParaRPr sz="1230" b="0" dirty="0">
              <a:solidFill>
                <a:srgbClr val="44585A"/>
              </a:solidFill>
              <a:latin typeface="Malgun Gothic"/>
            </a:endParaRP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dirty="0">
                <a:solidFill>
                  <a:srgbClr val="44585A"/>
                </a:solidFill>
                <a:latin typeface="Malgun Gothic"/>
              </a:rPr>
              <a:t>▸ Compute Engine </a:t>
            </a:r>
            <a:r>
              <a:rPr sz="1180" b="0" dirty="0" err="1">
                <a:solidFill>
                  <a:srgbClr val="44585A"/>
                </a:solidFill>
                <a:latin typeface="Malgun Gothic"/>
              </a:rPr>
              <a:t>VM에</a:t>
            </a:r>
            <a:r>
              <a:rPr sz="1180" b="0" dirty="0">
                <a:solidFill>
                  <a:srgbClr val="44585A"/>
                </a:solidFill>
                <a:latin typeface="Malgun Gothic"/>
              </a:rPr>
              <a:t> MySQL </a:t>
            </a:r>
            <a:r>
              <a:rPr sz="1180" b="0" dirty="0" err="1">
                <a:solidFill>
                  <a:srgbClr val="44585A"/>
                </a:solidFill>
                <a:latin typeface="Malgun Gothic"/>
              </a:rPr>
              <a:t>직접</a:t>
            </a:r>
            <a:r>
              <a:rPr sz="1180" b="0" dirty="0">
                <a:solidFill>
                  <a:srgbClr val="44585A"/>
                </a:solidFill>
                <a:latin typeface="Malgun Gothic"/>
              </a:rPr>
              <a:t> </a:t>
            </a:r>
            <a:r>
              <a:rPr sz="1180" b="0" dirty="0" err="1">
                <a:solidFill>
                  <a:srgbClr val="44585A"/>
                </a:solidFill>
                <a:latin typeface="Malgun Gothic"/>
              </a:rPr>
              <a:t>설치</a:t>
            </a:r>
            <a:r>
              <a:rPr sz="1180" b="0" dirty="0">
                <a:solidFill>
                  <a:srgbClr val="44585A"/>
                </a:solidFill>
                <a:latin typeface="Malgun Gothic"/>
              </a:rPr>
              <a:t> — </a:t>
            </a:r>
            <a:r>
              <a:rPr sz="1180" b="0" dirty="0" err="1">
                <a:solidFill>
                  <a:srgbClr val="44585A"/>
                </a:solidFill>
                <a:latin typeface="Malgun Gothic"/>
              </a:rPr>
              <a:t>패치·백업·이중화를</a:t>
            </a:r>
            <a:r>
              <a:rPr sz="1180" b="0" dirty="0">
                <a:solidFill>
                  <a:srgbClr val="44585A"/>
                </a:solidFill>
                <a:latin typeface="Malgun Gothic"/>
              </a:rPr>
              <a:t> </a:t>
            </a:r>
            <a:r>
              <a:rPr sz="1180" b="0" dirty="0" err="1">
                <a:solidFill>
                  <a:srgbClr val="44585A"/>
                </a:solidFill>
                <a:latin typeface="Malgun Gothic"/>
              </a:rPr>
              <a:t>전부</a:t>
            </a:r>
            <a:r>
              <a:rPr sz="1180" b="0" dirty="0">
                <a:solidFill>
                  <a:srgbClr val="44585A"/>
                </a:solidFill>
                <a:latin typeface="Malgun Gothic"/>
              </a:rPr>
              <a:t> </a:t>
            </a:r>
            <a:r>
              <a:rPr sz="1180" b="0" dirty="0" err="1">
                <a:solidFill>
                  <a:srgbClr val="44585A"/>
                </a:solidFill>
                <a:latin typeface="Malgun Gothic"/>
              </a:rPr>
              <a:t>우리가</a:t>
            </a:r>
            <a:r>
              <a:rPr sz="1180" b="0" dirty="0">
                <a:solidFill>
                  <a:srgbClr val="44585A"/>
                </a:solidFill>
                <a:latin typeface="Malgun Gothic"/>
              </a:rPr>
              <a:t> </a:t>
            </a:r>
            <a:r>
              <a:rPr sz="1180" b="0" dirty="0" err="1">
                <a:solidFill>
                  <a:srgbClr val="44585A"/>
                </a:solidFill>
                <a:latin typeface="Malgun Gothic"/>
              </a:rPr>
              <a:t>수동</a:t>
            </a:r>
            <a:r>
              <a:rPr sz="1180" b="0" dirty="0">
                <a:solidFill>
                  <a:srgbClr val="44585A"/>
                </a:solidFill>
                <a:latin typeface="Malgun Gothic"/>
              </a:rPr>
              <a:t> </a:t>
            </a:r>
            <a:r>
              <a:rPr sz="1180" b="0" dirty="0" err="1">
                <a:solidFill>
                  <a:srgbClr val="44585A"/>
                </a:solidFill>
                <a:latin typeface="Malgun Gothic"/>
              </a:rPr>
              <a:t>구성해야</a:t>
            </a:r>
            <a:r>
              <a:rPr sz="1180" b="0" dirty="0">
                <a:solidFill>
                  <a:srgbClr val="44585A"/>
                </a:solidFill>
                <a:latin typeface="Malgun Gothic"/>
              </a:rPr>
              <a:t> 해 7일 </a:t>
            </a:r>
            <a:r>
              <a:rPr sz="1180" b="0" dirty="0" err="1">
                <a:solidFill>
                  <a:srgbClr val="44585A"/>
                </a:solidFill>
                <a:latin typeface="Malgun Gothic"/>
              </a:rPr>
              <a:t>일정</a:t>
            </a:r>
            <a:r>
              <a:rPr sz="1180" b="0" dirty="0">
                <a:solidFill>
                  <a:srgbClr val="44585A"/>
                </a:solidFill>
                <a:latin typeface="Malgun Gothic"/>
              </a:rPr>
              <a:t> 내 </a:t>
            </a:r>
            <a:r>
              <a:rPr sz="1180" b="0" dirty="0" err="1">
                <a:solidFill>
                  <a:srgbClr val="44585A"/>
                </a:solidFill>
                <a:latin typeface="Malgun Gothic"/>
              </a:rPr>
              <a:t>안정성</a:t>
            </a:r>
            <a:r>
              <a:rPr sz="1180" b="0" dirty="0">
                <a:solidFill>
                  <a:srgbClr val="44585A"/>
                </a:solidFill>
                <a:latin typeface="Malgun Gothic"/>
              </a:rPr>
              <a:t> </a:t>
            </a:r>
            <a:r>
              <a:rPr sz="1180" b="0" dirty="0" err="1">
                <a:solidFill>
                  <a:srgbClr val="44585A"/>
                </a:solidFill>
                <a:latin typeface="Malgun Gothic"/>
              </a:rPr>
              <a:t>확보가</a:t>
            </a:r>
            <a:r>
              <a:rPr sz="1180" b="0" dirty="0">
                <a:solidFill>
                  <a:srgbClr val="44585A"/>
                </a:solidFill>
                <a:latin typeface="Malgun Gothic"/>
              </a:rPr>
              <a:t> </a:t>
            </a:r>
            <a:r>
              <a:rPr sz="1180" b="0" dirty="0" err="1">
                <a:solidFill>
                  <a:srgbClr val="44585A"/>
                </a:solidFill>
                <a:latin typeface="Malgun Gothic"/>
              </a:rPr>
              <a:t>어려움</a:t>
            </a:r>
            <a:r>
              <a:rPr sz="1180" b="0" dirty="0">
                <a:solidFill>
                  <a:srgbClr val="44585A"/>
                </a:solidFill>
                <a:latin typeface="Malgun Gothic"/>
              </a:rPr>
              <a:t>. Web/</a:t>
            </a:r>
            <a:r>
              <a:rPr sz="1180" b="0" dirty="0" err="1">
                <a:solidFill>
                  <a:srgbClr val="44585A"/>
                </a:solidFill>
                <a:latin typeface="Malgun Gothic"/>
              </a:rPr>
              <a:t>WAS는</a:t>
            </a:r>
            <a:r>
              <a:rPr sz="1180" b="0" dirty="0">
                <a:solidFill>
                  <a:srgbClr val="44585A"/>
                </a:solidFill>
                <a:latin typeface="Malgun Gothic"/>
              </a:rPr>
              <a:t> VM </a:t>
            </a:r>
            <a:r>
              <a:rPr sz="1180" b="0" dirty="0" err="1">
                <a:solidFill>
                  <a:srgbClr val="44585A"/>
                </a:solidFill>
                <a:latin typeface="Malgun Gothic"/>
              </a:rPr>
              <a:t>요구사항이</a:t>
            </a:r>
            <a:r>
              <a:rPr sz="1180" b="0" dirty="0">
                <a:solidFill>
                  <a:srgbClr val="44585A"/>
                </a:solidFill>
                <a:latin typeface="Malgun Gothic"/>
              </a:rPr>
              <a:t> </a:t>
            </a:r>
            <a:r>
              <a:rPr sz="1180" b="0" dirty="0" err="1">
                <a:solidFill>
                  <a:srgbClr val="44585A"/>
                </a:solidFill>
                <a:latin typeface="Malgun Gothic"/>
              </a:rPr>
              <a:t>있어</a:t>
            </a:r>
            <a:r>
              <a:rPr sz="1180" b="0" dirty="0">
                <a:solidFill>
                  <a:srgbClr val="44585A"/>
                </a:solidFill>
                <a:latin typeface="Malgun Gothic"/>
              </a:rPr>
              <a:t> </a:t>
            </a:r>
            <a:r>
              <a:rPr sz="1180" b="0" dirty="0" err="1">
                <a:solidFill>
                  <a:srgbClr val="44585A"/>
                </a:solidFill>
                <a:latin typeface="Malgun Gothic"/>
              </a:rPr>
              <a:t>유지하지만</a:t>
            </a:r>
            <a:r>
              <a:rPr sz="1180" b="0" dirty="0">
                <a:solidFill>
                  <a:srgbClr val="44585A"/>
                </a:solidFill>
                <a:latin typeface="Malgun Gothic"/>
              </a:rPr>
              <a:t> </a:t>
            </a:r>
            <a:r>
              <a:rPr sz="1180" b="0" dirty="0" err="1">
                <a:solidFill>
                  <a:srgbClr val="44585A"/>
                </a:solidFill>
                <a:latin typeface="Malgun Gothic"/>
              </a:rPr>
              <a:t>DB는</a:t>
            </a:r>
            <a:r>
              <a:rPr sz="1180" b="0" dirty="0">
                <a:solidFill>
                  <a:srgbClr val="44585A"/>
                </a:solidFill>
                <a:latin typeface="Malgun Gothic"/>
              </a:rPr>
              <a:t> </a:t>
            </a:r>
            <a:r>
              <a:rPr sz="1180" b="0" dirty="0" err="1">
                <a:solidFill>
                  <a:srgbClr val="44585A"/>
                </a:solidFill>
                <a:latin typeface="Malgun Gothic"/>
              </a:rPr>
              <a:t>매니지드가</a:t>
            </a:r>
            <a:r>
              <a:rPr sz="1180" b="0" dirty="0">
                <a:solidFill>
                  <a:srgbClr val="44585A"/>
                </a:solidFill>
                <a:latin typeface="Malgun Gothic"/>
              </a:rPr>
              <a:t> </a:t>
            </a:r>
            <a:r>
              <a:rPr sz="1180" b="0" dirty="0" err="1">
                <a:solidFill>
                  <a:srgbClr val="44585A"/>
                </a:solidFill>
                <a:latin typeface="Malgun Gothic"/>
              </a:rPr>
              <a:t>합리적</a:t>
            </a:r>
            <a:endParaRPr sz="1180" b="0" dirty="0">
              <a:solidFill>
                <a:srgbClr val="44585A"/>
              </a:solidFill>
              <a:latin typeface="Malgun Gothic"/>
            </a:endParaRPr>
          </a:p>
          <a:p>
            <a:pPr>
              <a:lnSpc>
                <a:spcPct val="118000"/>
              </a:lnSpc>
              <a:spcAft>
                <a:spcPts val="700"/>
              </a:spcAft>
            </a:pPr>
            <a:r>
              <a:rPr sz="1180" b="0" dirty="0">
                <a:solidFill>
                  <a:srgbClr val="44585A"/>
                </a:solidFill>
                <a:latin typeface="Malgun Gothic"/>
              </a:rPr>
              <a:t>▸ Cloud SQL for PostgreSQL — </a:t>
            </a:r>
            <a:r>
              <a:rPr sz="1180" b="0" dirty="0" err="1">
                <a:solidFill>
                  <a:srgbClr val="44585A"/>
                </a:solidFill>
                <a:latin typeface="Malgun Gothic"/>
              </a:rPr>
              <a:t>장기적으로</a:t>
            </a:r>
            <a:r>
              <a:rPr sz="1180" b="0" dirty="0">
                <a:solidFill>
                  <a:srgbClr val="44585A"/>
                </a:solidFill>
                <a:latin typeface="Malgun Gothic"/>
              </a:rPr>
              <a:t> IAM </a:t>
            </a:r>
            <a:r>
              <a:rPr sz="1180" b="0" dirty="0" err="1">
                <a:solidFill>
                  <a:srgbClr val="44585A"/>
                </a:solidFill>
                <a:latin typeface="Malgun Gothic"/>
              </a:rPr>
              <a:t>기반</a:t>
            </a:r>
            <a:r>
              <a:rPr sz="1180" b="0" dirty="0">
                <a:solidFill>
                  <a:srgbClr val="44585A"/>
                </a:solidFill>
                <a:latin typeface="Malgun Gothic"/>
              </a:rPr>
              <a:t> DB </a:t>
            </a:r>
            <a:r>
              <a:rPr sz="1180" b="0" dirty="0" err="1">
                <a:solidFill>
                  <a:srgbClr val="44585A"/>
                </a:solidFill>
                <a:latin typeface="Malgun Gothic"/>
              </a:rPr>
              <a:t>인증</a:t>
            </a:r>
            <a:r>
              <a:rPr sz="1180" b="0" dirty="0">
                <a:solidFill>
                  <a:srgbClr val="44585A"/>
                </a:solidFill>
                <a:latin typeface="Malgun Gothic"/>
              </a:rPr>
              <a:t> 등 </a:t>
            </a:r>
            <a:r>
              <a:rPr sz="1180" b="0" dirty="0" err="1">
                <a:solidFill>
                  <a:srgbClr val="44585A"/>
                </a:solidFill>
                <a:latin typeface="Malgun Gothic"/>
              </a:rPr>
              <a:t>이점이</a:t>
            </a:r>
            <a:r>
              <a:rPr sz="1180" b="0" dirty="0">
                <a:solidFill>
                  <a:srgbClr val="44585A"/>
                </a:solidFill>
                <a:latin typeface="Malgun Gothic"/>
              </a:rPr>
              <a:t> </a:t>
            </a:r>
            <a:r>
              <a:rPr sz="1180" b="0" dirty="0" err="1">
                <a:solidFill>
                  <a:srgbClr val="44585A"/>
                </a:solidFill>
                <a:latin typeface="Malgun Gothic"/>
              </a:rPr>
              <a:t>있으나</a:t>
            </a:r>
            <a:r>
              <a:rPr sz="1180" b="0" dirty="0">
                <a:solidFill>
                  <a:srgbClr val="44585A"/>
                </a:solidFill>
                <a:latin typeface="Malgun Gothic"/>
              </a:rPr>
              <a:t>, </a:t>
            </a:r>
            <a:r>
              <a:rPr sz="1180" b="0" dirty="0" err="1">
                <a:solidFill>
                  <a:srgbClr val="44585A"/>
                </a:solidFill>
                <a:latin typeface="Malgun Gothic"/>
              </a:rPr>
              <a:t>구버전</a:t>
            </a:r>
            <a:r>
              <a:rPr sz="1180" b="0" dirty="0">
                <a:solidFill>
                  <a:srgbClr val="44585A"/>
                </a:solidFill>
                <a:latin typeface="Malgun Gothic"/>
              </a:rPr>
              <a:t> </a:t>
            </a:r>
            <a:r>
              <a:rPr sz="1180" b="0" dirty="0" err="1">
                <a:solidFill>
                  <a:srgbClr val="44585A"/>
                </a:solidFill>
                <a:latin typeface="Malgun Gothic"/>
              </a:rPr>
              <a:t>드라이버</a:t>
            </a:r>
            <a:r>
              <a:rPr sz="1180" b="0" dirty="0">
                <a:solidFill>
                  <a:srgbClr val="44585A"/>
                </a:solidFill>
                <a:latin typeface="Malgun Gothic"/>
              </a:rPr>
              <a:t> </a:t>
            </a:r>
            <a:r>
              <a:rPr sz="1180" b="0" dirty="0" err="1">
                <a:solidFill>
                  <a:srgbClr val="44585A"/>
                </a:solidFill>
                <a:latin typeface="Malgun Gothic"/>
              </a:rPr>
              <a:t>업그레이드+회귀</a:t>
            </a:r>
            <a:r>
              <a:rPr sz="1180" b="0" dirty="0">
                <a:solidFill>
                  <a:srgbClr val="44585A"/>
                </a:solidFill>
                <a:latin typeface="Malgun Gothic"/>
              </a:rPr>
              <a:t> </a:t>
            </a:r>
            <a:r>
              <a:rPr sz="1180" b="0" dirty="0" err="1">
                <a:solidFill>
                  <a:srgbClr val="44585A"/>
                </a:solidFill>
                <a:latin typeface="Malgun Gothic"/>
              </a:rPr>
              <a:t>테스트가</a:t>
            </a:r>
            <a:r>
              <a:rPr sz="1180" b="0" dirty="0">
                <a:solidFill>
                  <a:srgbClr val="44585A"/>
                </a:solidFill>
                <a:latin typeface="Malgun Gothic"/>
              </a:rPr>
              <a:t> </a:t>
            </a:r>
            <a:r>
              <a:rPr sz="1180" b="0" dirty="0" err="1">
                <a:solidFill>
                  <a:srgbClr val="44585A"/>
                </a:solidFill>
                <a:latin typeface="Malgun Gothic"/>
              </a:rPr>
              <a:t>필요해</a:t>
            </a:r>
            <a:r>
              <a:rPr sz="1180" b="0" dirty="0">
                <a:solidFill>
                  <a:srgbClr val="44585A"/>
                </a:solidFill>
                <a:latin typeface="Malgun Gothic"/>
              </a:rPr>
              <a:t> </a:t>
            </a:r>
            <a:r>
              <a:rPr sz="1180" b="0" dirty="0" err="1">
                <a:solidFill>
                  <a:srgbClr val="44585A"/>
                </a:solidFill>
                <a:latin typeface="Malgun Gothic"/>
              </a:rPr>
              <a:t>이번</a:t>
            </a:r>
            <a:r>
              <a:rPr sz="1180" b="0" dirty="0">
                <a:solidFill>
                  <a:srgbClr val="44585A"/>
                </a:solidFill>
                <a:latin typeface="Malgun Gothic"/>
              </a:rPr>
              <a:t> </a:t>
            </a:r>
            <a:r>
              <a:rPr sz="1180" b="0" dirty="0" err="1">
                <a:solidFill>
                  <a:srgbClr val="44585A"/>
                </a:solidFill>
                <a:latin typeface="Malgun Gothic"/>
              </a:rPr>
              <a:t>범위에서는</a:t>
            </a:r>
            <a:r>
              <a:rPr sz="1180" b="0" dirty="0">
                <a:solidFill>
                  <a:srgbClr val="44585A"/>
                </a:solidFill>
                <a:latin typeface="Malgun Gothic"/>
              </a:rPr>
              <a:t> </a:t>
            </a:r>
            <a:r>
              <a:rPr sz="1180" b="0" dirty="0" err="1">
                <a:solidFill>
                  <a:srgbClr val="44585A"/>
                </a:solidFill>
                <a:latin typeface="Malgun Gothic"/>
              </a:rPr>
              <a:t>보류</a:t>
            </a:r>
            <a:r>
              <a:rPr sz="1180" b="0" dirty="0">
                <a:solidFill>
                  <a:srgbClr val="44585A"/>
                </a:solidFill>
                <a:latin typeface="Malgun Gothic"/>
              </a:rPr>
              <a:t>. </a:t>
            </a:r>
            <a:r>
              <a:rPr sz="1180" b="0" dirty="0" err="1">
                <a:solidFill>
                  <a:srgbClr val="44585A"/>
                </a:solidFill>
                <a:latin typeface="Malgun Gothic"/>
              </a:rPr>
              <a:t>안정화</a:t>
            </a:r>
            <a:r>
              <a:rPr sz="1180" b="0" dirty="0">
                <a:solidFill>
                  <a:srgbClr val="44585A"/>
                </a:solidFill>
                <a:latin typeface="Malgun Gothic"/>
              </a:rPr>
              <a:t> </a:t>
            </a:r>
            <a:r>
              <a:rPr sz="1180" b="0" dirty="0" err="1">
                <a:solidFill>
                  <a:srgbClr val="44585A"/>
                </a:solidFill>
                <a:latin typeface="Malgun Gothic"/>
              </a:rPr>
              <a:t>이후</a:t>
            </a:r>
            <a:r>
              <a:rPr sz="1180" b="0" dirty="0">
                <a:solidFill>
                  <a:srgbClr val="44585A"/>
                </a:solidFill>
                <a:latin typeface="Malgun Gothic"/>
              </a:rPr>
              <a:t> </a:t>
            </a:r>
            <a:r>
              <a:rPr sz="1180" b="0" dirty="0" err="1">
                <a:solidFill>
                  <a:srgbClr val="44585A"/>
                </a:solidFill>
                <a:latin typeface="Malgun Gothic"/>
              </a:rPr>
              <a:t>별도</a:t>
            </a:r>
            <a:r>
              <a:rPr sz="1180" b="0" dirty="0">
                <a:solidFill>
                  <a:srgbClr val="44585A"/>
                </a:solidFill>
                <a:latin typeface="Malgun Gothic"/>
              </a:rPr>
              <a:t> </a:t>
            </a:r>
            <a:r>
              <a:rPr sz="1180" b="0" dirty="0" err="1">
                <a:solidFill>
                  <a:srgbClr val="44585A"/>
                </a:solidFill>
                <a:latin typeface="Malgun Gothic"/>
              </a:rPr>
              <a:t>마이그레이션</a:t>
            </a:r>
            <a:r>
              <a:rPr sz="1180" b="0" dirty="0">
                <a:solidFill>
                  <a:srgbClr val="44585A"/>
                </a:solidFill>
                <a:latin typeface="Malgun Gothic"/>
              </a:rPr>
              <a:t> </a:t>
            </a:r>
            <a:r>
              <a:rPr sz="1180" b="0" dirty="0" err="1">
                <a:solidFill>
                  <a:srgbClr val="44585A"/>
                </a:solidFill>
                <a:latin typeface="Malgun Gothic"/>
              </a:rPr>
              <a:t>후보로</a:t>
            </a:r>
            <a:r>
              <a:rPr sz="1180" b="0" dirty="0">
                <a:solidFill>
                  <a:srgbClr val="44585A"/>
                </a:solidFill>
                <a:latin typeface="Malgun Gothic"/>
              </a:rPr>
              <a:t> </a:t>
            </a:r>
            <a:r>
              <a:rPr sz="1180" b="0" dirty="0" err="1">
                <a:solidFill>
                  <a:srgbClr val="44585A"/>
                </a:solidFill>
                <a:latin typeface="Malgun Gothic"/>
              </a:rPr>
              <a:t>제안</a:t>
            </a:r>
            <a:endParaRPr sz="1180" b="0" dirty="0">
              <a:solidFill>
                <a:srgbClr val="44585A"/>
              </a:solidFill>
              <a:latin typeface="Malgun Gothic"/>
            </a:endParaRPr>
          </a:p>
          <a:p>
            <a:pPr>
              <a:lnSpc>
                <a:spcPct val="118000"/>
              </a:lnSpc>
              <a:spcAft>
                <a:spcPts val="700"/>
              </a:spcAft>
            </a:pPr>
            <a:r>
              <a:rPr sz="1180" b="0" dirty="0">
                <a:solidFill>
                  <a:srgbClr val="44585A"/>
                </a:solidFill>
                <a:latin typeface="Malgun Gothic"/>
              </a:rPr>
              <a:t>▸ </a:t>
            </a:r>
            <a:r>
              <a:rPr sz="1180" b="0" dirty="0" err="1">
                <a:solidFill>
                  <a:srgbClr val="44585A"/>
                </a:solidFill>
                <a:latin typeface="Malgun Gothic"/>
              </a:rPr>
              <a:t>퍼블릭</a:t>
            </a:r>
            <a:r>
              <a:rPr sz="1180" b="0" dirty="0">
                <a:solidFill>
                  <a:srgbClr val="44585A"/>
                </a:solidFill>
                <a:latin typeface="Malgun Gothic"/>
              </a:rPr>
              <a:t> IP + </a:t>
            </a:r>
            <a:r>
              <a:rPr sz="1180" b="0" dirty="0" err="1">
                <a:solidFill>
                  <a:srgbClr val="44585A"/>
                </a:solidFill>
                <a:latin typeface="Malgun Gothic"/>
              </a:rPr>
              <a:t>승인된</a:t>
            </a:r>
            <a:r>
              <a:rPr sz="1180" b="0" dirty="0">
                <a:solidFill>
                  <a:srgbClr val="44585A"/>
                </a:solidFill>
                <a:latin typeface="Malgun Gothic"/>
              </a:rPr>
              <a:t> </a:t>
            </a:r>
            <a:r>
              <a:rPr sz="1180" b="0" dirty="0" err="1">
                <a:solidFill>
                  <a:srgbClr val="44585A"/>
                </a:solidFill>
                <a:latin typeface="Malgun Gothic"/>
              </a:rPr>
              <a:t>네트워크</a:t>
            </a:r>
            <a:r>
              <a:rPr sz="1180" b="0" dirty="0">
                <a:solidFill>
                  <a:srgbClr val="44585A"/>
                </a:solidFill>
                <a:latin typeface="Malgun Gothic"/>
              </a:rPr>
              <a:t>(IP </a:t>
            </a:r>
            <a:r>
              <a:rPr sz="1180" b="0" dirty="0" err="1">
                <a:solidFill>
                  <a:srgbClr val="44585A"/>
                </a:solidFill>
                <a:latin typeface="Malgun Gothic"/>
              </a:rPr>
              <a:t>화이트리스트</a:t>
            </a:r>
            <a:r>
              <a:rPr sz="1180" b="0" dirty="0">
                <a:solidFill>
                  <a:srgbClr val="44585A"/>
                </a:solidFill>
                <a:latin typeface="Malgun Gothic"/>
              </a:rPr>
              <a:t>) </a:t>
            </a:r>
            <a:r>
              <a:rPr sz="1180" b="0" dirty="0" err="1">
                <a:solidFill>
                  <a:srgbClr val="44585A"/>
                </a:solidFill>
                <a:latin typeface="Malgun Gothic"/>
              </a:rPr>
              <a:t>방식</a:t>
            </a:r>
            <a:r>
              <a:rPr sz="1180" b="0" dirty="0">
                <a:solidFill>
                  <a:srgbClr val="44585A"/>
                </a:solidFill>
                <a:latin typeface="Malgun Gothic"/>
              </a:rPr>
              <a:t> — Private </a:t>
            </a:r>
            <a:r>
              <a:rPr sz="1180" b="0" dirty="0" err="1">
                <a:solidFill>
                  <a:srgbClr val="44585A"/>
                </a:solidFill>
                <a:latin typeface="Malgun Gothic"/>
              </a:rPr>
              <a:t>IP보다</a:t>
            </a:r>
            <a:r>
              <a:rPr sz="1180" b="0" dirty="0">
                <a:solidFill>
                  <a:srgbClr val="44585A"/>
                </a:solidFill>
                <a:latin typeface="Malgun Gothic"/>
              </a:rPr>
              <a:t> </a:t>
            </a:r>
            <a:r>
              <a:rPr sz="1180" b="0" dirty="0" err="1">
                <a:solidFill>
                  <a:srgbClr val="44585A"/>
                </a:solidFill>
                <a:latin typeface="Malgun Gothic"/>
              </a:rPr>
              <a:t>설정은</a:t>
            </a:r>
            <a:r>
              <a:rPr sz="1180" b="0" dirty="0">
                <a:solidFill>
                  <a:srgbClr val="44585A"/>
                </a:solidFill>
                <a:latin typeface="Malgun Gothic"/>
              </a:rPr>
              <a:t> </a:t>
            </a:r>
            <a:r>
              <a:rPr sz="1180" b="0" dirty="0" err="1">
                <a:solidFill>
                  <a:srgbClr val="44585A"/>
                </a:solidFill>
                <a:latin typeface="Malgun Gothic"/>
              </a:rPr>
              <a:t>간단하지만</a:t>
            </a:r>
            <a:r>
              <a:rPr sz="1180" b="0" dirty="0">
                <a:solidFill>
                  <a:srgbClr val="44585A"/>
                </a:solidFill>
                <a:latin typeface="Malgun Gothic"/>
              </a:rPr>
              <a:t>, </a:t>
            </a:r>
            <a:r>
              <a:rPr sz="1180" b="0" dirty="0" err="1">
                <a:solidFill>
                  <a:srgbClr val="44585A"/>
                </a:solidFill>
                <a:latin typeface="Malgun Gothic"/>
              </a:rPr>
              <a:t>어쨌든</a:t>
            </a:r>
            <a:r>
              <a:rPr sz="1180" b="0" dirty="0">
                <a:solidFill>
                  <a:srgbClr val="44585A"/>
                </a:solidFill>
                <a:latin typeface="Malgun Gothic"/>
              </a:rPr>
              <a:t> </a:t>
            </a:r>
            <a:r>
              <a:rPr sz="1180" b="0" dirty="0" err="1">
                <a:solidFill>
                  <a:srgbClr val="44585A"/>
                </a:solidFill>
                <a:latin typeface="Malgun Gothic"/>
              </a:rPr>
              <a:t>인터넷에</a:t>
            </a:r>
            <a:r>
              <a:rPr sz="1180" b="0" dirty="0">
                <a:solidFill>
                  <a:srgbClr val="44585A"/>
                </a:solidFill>
                <a:latin typeface="Malgun Gothic"/>
              </a:rPr>
              <a:t> </a:t>
            </a:r>
            <a:r>
              <a:rPr sz="1180" b="0" dirty="0" err="1">
                <a:solidFill>
                  <a:srgbClr val="44585A"/>
                </a:solidFill>
                <a:latin typeface="Malgun Gothic"/>
              </a:rPr>
              <a:t>노출된</a:t>
            </a:r>
            <a:r>
              <a:rPr sz="1180" b="0" dirty="0">
                <a:solidFill>
                  <a:srgbClr val="44585A"/>
                </a:solidFill>
                <a:latin typeface="Malgun Gothic"/>
              </a:rPr>
              <a:t> </a:t>
            </a:r>
            <a:r>
              <a:rPr sz="1180" b="0" dirty="0" err="1">
                <a:solidFill>
                  <a:srgbClr val="44585A"/>
                </a:solidFill>
                <a:latin typeface="Malgun Gothic"/>
              </a:rPr>
              <a:t>엔드포인트가</a:t>
            </a:r>
            <a:r>
              <a:rPr sz="1180" b="0" dirty="0">
                <a:solidFill>
                  <a:srgbClr val="44585A"/>
                </a:solidFill>
                <a:latin typeface="Malgun Gothic"/>
              </a:rPr>
              <a:t> </a:t>
            </a:r>
            <a:r>
              <a:rPr sz="1180" b="0" dirty="0" err="1">
                <a:solidFill>
                  <a:srgbClr val="44585A"/>
                </a:solidFill>
                <a:latin typeface="Malgun Gothic"/>
              </a:rPr>
              <a:t>생긴다는</a:t>
            </a:r>
            <a:r>
              <a:rPr sz="1180" b="0" dirty="0">
                <a:solidFill>
                  <a:srgbClr val="44585A"/>
                </a:solidFill>
                <a:latin typeface="Malgun Gothic"/>
              </a:rPr>
              <a:t> </a:t>
            </a:r>
            <a:r>
              <a:rPr sz="1180" b="0" dirty="0" err="1">
                <a:solidFill>
                  <a:srgbClr val="44585A"/>
                </a:solidFill>
                <a:latin typeface="Malgun Gothic"/>
              </a:rPr>
              <a:t>점에서</a:t>
            </a:r>
            <a:r>
              <a:rPr sz="1180" b="0" dirty="0">
                <a:solidFill>
                  <a:srgbClr val="44585A"/>
                </a:solidFill>
                <a:latin typeface="Malgun Gothic"/>
              </a:rPr>
              <a:t> </a:t>
            </a:r>
            <a:r>
              <a:rPr sz="1180" b="0" dirty="0" err="1">
                <a:solidFill>
                  <a:srgbClr val="44585A"/>
                </a:solidFill>
                <a:latin typeface="Malgun Gothic"/>
              </a:rPr>
              <a:t>최소권한</a:t>
            </a:r>
            <a:r>
              <a:rPr sz="1180" b="0" dirty="0">
                <a:solidFill>
                  <a:srgbClr val="44585A"/>
                </a:solidFill>
                <a:latin typeface="Malgun Gothic"/>
              </a:rPr>
              <a:t> </a:t>
            </a:r>
            <a:r>
              <a:rPr sz="1180" b="0" dirty="0" err="1">
                <a:solidFill>
                  <a:srgbClr val="44585A"/>
                </a:solidFill>
                <a:latin typeface="Malgun Gothic"/>
              </a:rPr>
              <a:t>원칙에</a:t>
            </a:r>
            <a:r>
              <a:rPr sz="1180" b="0" dirty="0">
                <a:solidFill>
                  <a:srgbClr val="44585A"/>
                </a:solidFill>
                <a:latin typeface="Malgun Gothic"/>
              </a:rPr>
              <a:t> </a:t>
            </a:r>
            <a:r>
              <a:rPr sz="1180" b="0" dirty="0" err="1">
                <a:solidFill>
                  <a:srgbClr val="44585A"/>
                </a:solidFill>
                <a:latin typeface="Malgun Gothic"/>
              </a:rPr>
              <a:t>불리</a:t>
            </a:r>
            <a:endParaRPr sz="1180" b="0" dirty="0">
              <a:solidFill>
                <a:srgbClr val="44585A"/>
              </a:solidFill>
              <a:latin typeface="Malgun Gothic"/>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7 · 콘솔 작업 순서 · 담당: DBM</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SQL 인스턴스 생성 — 화면 클릭 가이드</a:t>
            </a:r>
          </a:p>
        </p:txBody>
      </p:sp>
      <p:sp>
        <p:nvSpPr>
          <p:cNvPr id="4" name="Rectangle 3"/>
          <p:cNvSpPr/>
          <p:nvPr/>
        </p:nvSpPr>
        <p:spPr>
          <a:xfrm>
            <a:off x="502920" y="11765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07</a:t>
            </a:r>
          </a:p>
        </p:txBody>
      </p:sp>
      <p:sp>
        <p:nvSpPr>
          <p:cNvPr id="6" name="Rectangle 5"/>
          <p:cNvSpPr/>
          <p:nvPr/>
        </p:nvSpPr>
        <p:spPr>
          <a:xfrm>
            <a:off x="502920" y="138684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8684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38684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414272"/>
            <a:ext cx="10424160" cy="566928"/>
          </a:xfrm>
          <a:prstGeom prst="rect">
            <a:avLst/>
          </a:prstGeom>
          <a:noFill/>
        </p:spPr>
        <p:txBody>
          <a:bodyPr wrap="square" anchor="ctr">
            <a:spAutoFit/>
          </a:bodyPr>
          <a:lstStyle/>
          <a:p>
            <a:r>
              <a:rPr sz="1200">
                <a:solidFill>
                  <a:srgbClr val="132422"/>
                </a:solidFill>
                <a:latin typeface="Malgun Gothic"/>
              </a:rPr>
              <a:t>SQL ▸ '인스턴스 만들기' ▸ 데이터베이스 엔진에서 'MySQL 선택'</a:t>
            </a:r>
          </a:p>
        </p:txBody>
      </p:sp>
      <p:sp>
        <p:nvSpPr>
          <p:cNvPr id="10" name="Rectangle 9"/>
          <p:cNvSpPr/>
          <p:nvPr/>
        </p:nvSpPr>
        <p:spPr>
          <a:xfrm>
            <a:off x="502920" y="208178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08178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08178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109216"/>
            <a:ext cx="10424160" cy="566928"/>
          </a:xfrm>
          <a:prstGeom prst="rect">
            <a:avLst/>
          </a:prstGeom>
          <a:noFill/>
        </p:spPr>
        <p:txBody>
          <a:bodyPr wrap="square" anchor="ctr">
            <a:spAutoFit/>
          </a:bodyPr>
          <a:lstStyle/>
          <a:p>
            <a:r>
              <a:rPr sz="1200">
                <a:solidFill>
                  <a:srgbClr val="132422"/>
                </a:solidFill>
                <a:latin typeface="Malgun Gothic"/>
              </a:rPr>
              <a:t>데이터베이스 버전: MySQL 8.0 선택, 인스턴스 ID: petclinic-mysql, 비밀번호는 강력한 값으로 직접 설정(임시 비밀번호 자동생성 기능도 가능)</a:t>
            </a:r>
          </a:p>
        </p:txBody>
      </p:sp>
      <p:sp>
        <p:nvSpPr>
          <p:cNvPr id="14" name="Rectangle 13"/>
          <p:cNvSpPr/>
          <p:nvPr/>
        </p:nvSpPr>
        <p:spPr>
          <a:xfrm>
            <a:off x="502920" y="277672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77672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277672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2804160"/>
            <a:ext cx="10424160" cy="566928"/>
          </a:xfrm>
          <a:prstGeom prst="rect">
            <a:avLst/>
          </a:prstGeom>
          <a:noFill/>
        </p:spPr>
        <p:txBody>
          <a:bodyPr wrap="square" anchor="ctr">
            <a:spAutoFit/>
          </a:bodyPr>
          <a:lstStyle/>
          <a:p>
            <a:r>
              <a:rPr sz="1200">
                <a:solidFill>
                  <a:srgbClr val="132422"/>
                </a:solidFill>
                <a:latin typeface="Malgun Gothic"/>
              </a:rPr>
              <a:t>리전: asia-northeast3(NET 담당이 만든 VPC와 동일 리전), 영역: 단일 영역(기본값)</a:t>
            </a:r>
          </a:p>
        </p:txBody>
      </p:sp>
      <p:sp>
        <p:nvSpPr>
          <p:cNvPr id="18" name="Rectangle 17"/>
          <p:cNvSpPr/>
          <p:nvPr/>
        </p:nvSpPr>
        <p:spPr>
          <a:xfrm>
            <a:off x="502920" y="347167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47167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47167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499104"/>
            <a:ext cx="10424160" cy="566928"/>
          </a:xfrm>
          <a:prstGeom prst="rect">
            <a:avLst/>
          </a:prstGeom>
          <a:noFill/>
        </p:spPr>
        <p:txBody>
          <a:bodyPr wrap="square" anchor="ctr">
            <a:spAutoFit/>
          </a:bodyPr>
          <a:lstStyle/>
          <a:p>
            <a:r>
              <a:rPr sz="1200">
                <a:solidFill>
                  <a:srgbClr val="132422"/>
                </a:solidFill>
                <a:latin typeface="Malgun Gothic"/>
              </a:rPr>
              <a:t>Edition 선택: Enterprise, 머신 구성 '커스터마이즈' ▸ 2 vCPU / 8GB 메모리 입력</a:t>
            </a:r>
          </a:p>
        </p:txBody>
      </p:sp>
      <p:sp>
        <p:nvSpPr>
          <p:cNvPr id="22" name="Rectangle 21"/>
          <p:cNvSpPr/>
          <p:nvPr/>
        </p:nvSpPr>
        <p:spPr>
          <a:xfrm>
            <a:off x="502920" y="416661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16661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16661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194048"/>
            <a:ext cx="10424160" cy="566928"/>
          </a:xfrm>
          <a:prstGeom prst="rect">
            <a:avLst/>
          </a:prstGeom>
          <a:noFill/>
        </p:spPr>
        <p:txBody>
          <a:bodyPr wrap="square" anchor="ctr">
            <a:spAutoFit/>
          </a:bodyPr>
          <a:lstStyle/>
          <a:p>
            <a:r>
              <a:rPr sz="1200">
                <a:solidFill>
                  <a:srgbClr val="132422"/>
                </a:solidFill>
                <a:latin typeface="Malgun Gothic"/>
              </a:rPr>
              <a:t>연결 탭 ▸ 'Private IP' 체크, 연결할 네트워크로 petclinic-vpc 선택(비공개 서비스 연결에 필요한 IP 범위가 Day 1에 예약되어 있어야 함) ▸ '퍼블릭 IP' 체크 해제</a:t>
            </a:r>
          </a:p>
        </p:txBody>
      </p:sp>
      <p:sp>
        <p:nvSpPr>
          <p:cNvPr id="26" name="Rectangle 25"/>
          <p:cNvSpPr/>
          <p:nvPr/>
        </p:nvSpPr>
        <p:spPr>
          <a:xfrm>
            <a:off x="502920" y="486156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86156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486156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4888992"/>
            <a:ext cx="10424160" cy="566928"/>
          </a:xfrm>
          <a:prstGeom prst="rect">
            <a:avLst/>
          </a:prstGeom>
          <a:noFill/>
        </p:spPr>
        <p:txBody>
          <a:bodyPr wrap="square" anchor="ctr">
            <a:spAutoFit/>
          </a:bodyPr>
          <a:lstStyle/>
          <a:p>
            <a:r>
              <a:rPr sz="1200">
                <a:solidFill>
                  <a:srgbClr val="132422"/>
                </a:solidFill>
                <a:latin typeface="Malgun Gothic"/>
              </a:rPr>
              <a:t>데이터 보호 탭 ▸ 자동 백업 사용 설정 ON, 포인트-인-타임 복구 사용 ON, 삭제 보호 사용 설정 ON</a:t>
            </a:r>
          </a:p>
        </p:txBody>
      </p:sp>
      <p:sp>
        <p:nvSpPr>
          <p:cNvPr id="30" name="Rectangle 29"/>
          <p:cNvSpPr/>
          <p:nvPr/>
        </p:nvSpPr>
        <p:spPr>
          <a:xfrm>
            <a:off x="502920" y="555650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55650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7</a:t>
            </a:r>
          </a:p>
        </p:txBody>
      </p:sp>
      <p:sp>
        <p:nvSpPr>
          <p:cNvPr id="32" name="Rectangle 31"/>
          <p:cNvSpPr/>
          <p:nvPr/>
        </p:nvSpPr>
        <p:spPr>
          <a:xfrm>
            <a:off x="1005840" y="555650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70432" y="5583936"/>
            <a:ext cx="10424160" cy="566928"/>
          </a:xfrm>
          <a:prstGeom prst="rect">
            <a:avLst/>
          </a:prstGeom>
          <a:noFill/>
        </p:spPr>
        <p:txBody>
          <a:bodyPr wrap="square" anchor="ctr">
            <a:spAutoFit/>
          </a:bodyPr>
          <a:lstStyle/>
          <a:p>
            <a:r>
              <a:rPr sz="1200">
                <a:solidFill>
                  <a:srgbClr val="132422"/>
                </a:solidFill>
                <a:latin typeface="Malgun Gothic"/>
              </a:rPr>
              <a:t>'인스턴스 만들기' 클릭 → 생성까지 5~10분 소요(다른 작업 진행 가능)</a:t>
            </a:r>
          </a:p>
        </p:txBody>
      </p:sp>
      <p:sp>
        <p:nvSpPr>
          <p:cNvPr id="34" name="Rectangle 33"/>
          <p:cNvSpPr/>
          <p:nvPr/>
        </p:nvSpPr>
        <p:spPr>
          <a:xfrm>
            <a:off x="502920" y="6297168"/>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6324600"/>
            <a:ext cx="10789920" cy="457200"/>
          </a:xfrm>
          <a:prstGeom prst="rect">
            <a:avLst/>
          </a:prstGeom>
          <a:noFill/>
        </p:spPr>
        <p:txBody>
          <a:bodyPr wrap="square" anchor="ctr">
            <a:spAutoFit/>
          </a:bodyPr>
          <a:lstStyle/>
          <a:p>
            <a:r>
              <a:rPr sz="1100" b="1">
                <a:solidFill>
                  <a:srgbClr val="B4791F"/>
                </a:solidFill>
                <a:latin typeface="Malgun Gothic"/>
              </a:rPr>
              <a:t>💡 실수 방지 팁: Private IP 옵션을 선택하려면 사전에 '비공개 서비스 연결'용 IP 범위가 VPC에 할당되어 있어야 합니다. 이 단계가 없으면 Private IP 선택 시 오류가 납니다 — Day 1의 NET 작업(비공개 서비스 액세스 설정)을 먼저 완료하세요.</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A4E47"/>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2743200" cy="1280160"/>
          </a:xfrm>
          <a:prstGeom prst="rect">
            <a:avLst/>
          </a:prstGeom>
          <a:noFill/>
        </p:spPr>
        <p:txBody>
          <a:bodyPr wrap="square">
            <a:spAutoFit/>
          </a:bodyPr>
          <a:lstStyle/>
          <a:p>
            <a:pPr algn="l">
              <a:lnSpc>
                <a:spcPct val="115000"/>
              </a:lnSpc>
            </a:pPr>
            <a:r>
              <a:rPr sz="7200" b="1">
                <a:solidFill>
                  <a:srgbClr val="3F9A88"/>
                </a:solidFill>
                <a:latin typeface="Malgun Gothic"/>
              </a:rPr>
              <a:t>03</a:t>
            </a:r>
          </a:p>
        </p:txBody>
      </p:sp>
      <p:sp>
        <p:nvSpPr>
          <p:cNvPr id="3" name="TextBox 2"/>
          <p:cNvSpPr txBox="1"/>
          <p:nvPr/>
        </p:nvSpPr>
        <p:spPr>
          <a:xfrm>
            <a:off x="777240" y="3566160"/>
            <a:ext cx="10058400" cy="914400"/>
          </a:xfrm>
          <a:prstGeom prst="rect">
            <a:avLst/>
          </a:prstGeom>
          <a:noFill/>
        </p:spPr>
        <p:txBody>
          <a:bodyPr wrap="square">
            <a:spAutoFit/>
          </a:bodyPr>
          <a:lstStyle/>
          <a:p>
            <a:pPr algn="l">
              <a:lnSpc>
                <a:spcPct val="115000"/>
              </a:lnSpc>
            </a:pPr>
            <a:r>
              <a:rPr sz="3400" b="1">
                <a:solidFill>
                  <a:srgbClr val="FFFFFF"/>
                </a:solidFill>
                <a:latin typeface="Malgun Gothic"/>
              </a:rPr>
              <a:t>컴퓨팅·자동 확장</a:t>
            </a:r>
          </a:p>
        </p:txBody>
      </p:sp>
      <p:sp>
        <p:nvSpPr>
          <p:cNvPr id="4" name="TextBox 3"/>
          <p:cNvSpPr txBox="1"/>
          <p:nvPr/>
        </p:nvSpPr>
        <p:spPr>
          <a:xfrm>
            <a:off x="804672" y="4343400"/>
            <a:ext cx="9601200" cy="914400"/>
          </a:xfrm>
          <a:prstGeom prst="rect">
            <a:avLst/>
          </a:prstGeom>
          <a:noFill/>
        </p:spPr>
        <p:txBody>
          <a:bodyPr wrap="square">
            <a:spAutoFit/>
          </a:bodyPr>
          <a:lstStyle/>
          <a:p>
            <a:pPr algn="l">
              <a:lnSpc>
                <a:spcPct val="115000"/>
              </a:lnSpc>
            </a:pPr>
            <a:r>
              <a:rPr sz="1500" b="0">
                <a:solidFill>
                  <a:srgbClr val="DCF3EE"/>
                </a:solidFill>
                <a:latin typeface="Malgun Gothic"/>
              </a:rPr>
              <a:t>실제 애플리케이션(Web/WAS)이 살아있는 서버입니다. 요구사항 5번(자동 확장)이 여기서 실현됩니다.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8 · 담당: CMP</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Compute Engine 인스턴스 템플릿 (Rocky Linux 9)</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08</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인스턴스 템플릿은 VM의 '설정 붕어빵 틀'입니다. 머신 사양, OS 이미지, 네트워크, 서비스 계정, 부팅 시 실행할 스크립트를 미리 정의해두면, 뒤에 나올 MIG가 이 틀로 항상 동일한 VM을 찍어냅니다.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수동으로 VM을 하나씩 만들면 서버마다 설정이 미묘하게 달라지는 '설정 드리프트'가 발생 — 템플릿화하면 장애로 서버가 새로 만들어져도 100% 동일한 상태로 재현됨(장애 시나리오 1번의 실제 원리)</a:t>
            </a:r>
          </a:p>
          <a:p>
            <a:pPr>
              <a:lnSpc>
                <a:spcPct val="118000"/>
              </a:lnSpc>
              <a:spcAft>
                <a:spcPts val="700"/>
              </a:spcAft>
            </a:pPr>
            <a:r>
              <a:rPr sz="1230" b="0">
                <a:solidFill>
                  <a:srgbClr val="44585A"/>
                </a:solidFill>
                <a:latin typeface="Malgun Gothic"/>
              </a:rPr>
              <a:t>▸ 부팅 이미지로 반드시 'Rocky Linux 9' 선택 — 기존 Ubuntu 대비 10년 장기 무상 지원, SELinux 기본 활성화, RHEL 계열과의 호환성이 채택 근거(별도 OS 챕터에서 상세 설명)</a:t>
            </a:r>
          </a:p>
          <a:p>
            <a:pPr>
              <a:lnSpc>
                <a:spcPct val="118000"/>
              </a:lnSpc>
              <a:spcAft>
                <a:spcPts val="700"/>
              </a:spcAft>
            </a:pPr>
            <a:r>
              <a:rPr sz="1230" b="0">
                <a:solidFill>
                  <a:srgbClr val="44585A"/>
                </a:solidFill>
                <a:latin typeface="Malgun Gothic"/>
              </a:rPr>
              <a:t>▸ Web은 e2-medium(2vCPU/4GB), WAS는 e2-standard-2(2vCPU/8GB)로 사양을 다르게 지정 — WAS는 Spring Framework(JVM) 힙 메모리가 더 필요하고, Web은 Nginx 정적/리버스프록시 처리라 상대적으로 가벼움</a:t>
            </a:r>
          </a:p>
          <a:p>
            <a:pPr>
              <a:lnSpc>
                <a:spcPct val="118000"/>
              </a:lnSpc>
              <a:spcAft>
                <a:spcPts val="700"/>
              </a:spcAft>
            </a:pPr>
            <a:r>
              <a:rPr sz="1230" b="0">
                <a:solidFill>
                  <a:srgbClr val="44585A"/>
                </a:solidFill>
                <a:latin typeface="Malgun Gothic"/>
              </a:rPr>
              <a:t>▸ 외부 IP 주소를 반드시 '없음'으로 설정 — VM 자체는 인터넷에 아예 존재하지 않고, 유일한 진입점은 뒤에 나올 External LB뿐(요구사항 8과 직결)</a:t>
            </a:r>
          </a:p>
          <a:p>
            <a:pPr>
              <a:lnSpc>
                <a:spcPct val="118000"/>
              </a:lnSpc>
              <a:spcAft>
                <a:spcPts val="700"/>
              </a:spcAft>
            </a:pPr>
            <a:r>
              <a:rPr sz="1230" b="0">
                <a:solidFill>
                  <a:srgbClr val="44585A"/>
                </a:solidFill>
                <a:latin typeface="Malgun Gothic"/>
              </a:rPr>
              <a:t>▸ 서비스 계정은 각각 web-sa / was-sa 지정(4번 서비스에서 생성한 것), 기본 서비스 계정은 사용하지 않음</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매번 콘솔에서 VM을 수동으로 하나씩 생성 — 설정 드리프트 위험, 장애 복구 속도도 느림(사람이 매번 값을 다시 입력해야 함)</a:t>
            </a:r>
          </a:p>
          <a:p>
            <a:pPr>
              <a:lnSpc>
                <a:spcPct val="118000"/>
              </a:lnSpc>
              <a:spcAft>
                <a:spcPts val="700"/>
              </a:spcAft>
            </a:pPr>
            <a:r>
              <a:rPr sz="1180" b="0">
                <a:solidFill>
                  <a:srgbClr val="44585A"/>
                </a:solidFill>
                <a:latin typeface="Malgun Gothic"/>
              </a:rPr>
              <a:t>▸ 사전에 애플리케이션까지 통째로 설치해둔 Custom Image(Packer 등으로 빌드) 사용 — 부팅이 더 빠르다는 장점이 있으나 이미지 빌드 파이프라인 구축이 7일 일정에는 과함. 시작 스크립트 방식이 지금 단계에는 더 빠름. 안정화 이후 개선 과제로 로드맵에 반영</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8 · 콘솔 작업 순서 · 담당: CMP</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Web 인스턴스 템플릿 만들기 — 화면 클릭 가이드</a:t>
            </a:r>
          </a:p>
        </p:txBody>
      </p:sp>
      <p:sp>
        <p:nvSpPr>
          <p:cNvPr id="4" name="Rectangle 3"/>
          <p:cNvSpPr/>
          <p:nvPr/>
        </p:nvSpPr>
        <p:spPr>
          <a:xfrm>
            <a:off x="502920" y="1205103"/>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08</a:t>
            </a:r>
          </a:p>
        </p:txBody>
      </p:sp>
      <p:sp>
        <p:nvSpPr>
          <p:cNvPr id="6" name="Rectangle 5"/>
          <p:cNvSpPr/>
          <p:nvPr/>
        </p:nvSpPr>
        <p:spPr>
          <a:xfrm>
            <a:off x="502920" y="1415415"/>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5415"/>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415415"/>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442847"/>
            <a:ext cx="10424160" cy="566928"/>
          </a:xfrm>
          <a:prstGeom prst="rect">
            <a:avLst/>
          </a:prstGeom>
          <a:noFill/>
        </p:spPr>
        <p:txBody>
          <a:bodyPr wrap="square" anchor="ctr">
            <a:spAutoFit/>
          </a:bodyPr>
          <a:lstStyle/>
          <a:p>
            <a:r>
              <a:rPr sz="1200">
                <a:solidFill>
                  <a:srgbClr val="132422"/>
                </a:solidFill>
                <a:latin typeface="Malgun Gothic"/>
              </a:rPr>
              <a:t>Compute Engine ▸ 인스턴스 템플릿 ▸ '인스턴스 템플릿 만들기'</a:t>
            </a:r>
          </a:p>
        </p:txBody>
      </p:sp>
      <p:sp>
        <p:nvSpPr>
          <p:cNvPr id="10" name="Rectangle 9"/>
          <p:cNvSpPr/>
          <p:nvPr/>
        </p:nvSpPr>
        <p:spPr>
          <a:xfrm>
            <a:off x="502920" y="2110359"/>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110359"/>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110359"/>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137791"/>
            <a:ext cx="10424160" cy="566928"/>
          </a:xfrm>
          <a:prstGeom prst="rect">
            <a:avLst/>
          </a:prstGeom>
          <a:noFill/>
        </p:spPr>
        <p:txBody>
          <a:bodyPr wrap="square" anchor="ctr">
            <a:spAutoFit/>
          </a:bodyPr>
          <a:lstStyle/>
          <a:p>
            <a:r>
              <a:rPr sz="1200">
                <a:solidFill>
                  <a:srgbClr val="132422"/>
                </a:solidFill>
                <a:latin typeface="Malgun Gothic"/>
              </a:rPr>
              <a:t>이름: web-template-v1 입력</a:t>
            </a:r>
          </a:p>
        </p:txBody>
      </p:sp>
      <p:sp>
        <p:nvSpPr>
          <p:cNvPr id="14" name="Rectangle 13"/>
          <p:cNvSpPr/>
          <p:nvPr/>
        </p:nvSpPr>
        <p:spPr>
          <a:xfrm>
            <a:off x="502920" y="2805303"/>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805303"/>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2805303"/>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2832735"/>
            <a:ext cx="10424160" cy="566928"/>
          </a:xfrm>
          <a:prstGeom prst="rect">
            <a:avLst/>
          </a:prstGeom>
          <a:noFill/>
        </p:spPr>
        <p:txBody>
          <a:bodyPr wrap="square" anchor="ctr">
            <a:spAutoFit/>
          </a:bodyPr>
          <a:lstStyle/>
          <a:p>
            <a:r>
              <a:rPr sz="1200">
                <a:solidFill>
                  <a:srgbClr val="132422"/>
                </a:solidFill>
                <a:latin typeface="Malgun Gothic"/>
              </a:rPr>
              <a:t>머신 구성: 시리즈 'E2', 머신 유형 'e2-medium(2vCPU, 4GB)' 선택</a:t>
            </a:r>
          </a:p>
        </p:txBody>
      </p:sp>
      <p:sp>
        <p:nvSpPr>
          <p:cNvPr id="18" name="Rectangle 17"/>
          <p:cNvSpPr/>
          <p:nvPr/>
        </p:nvSpPr>
        <p:spPr>
          <a:xfrm>
            <a:off x="502920" y="3500247"/>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500247"/>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500247"/>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527679"/>
            <a:ext cx="10424160" cy="566928"/>
          </a:xfrm>
          <a:prstGeom prst="rect">
            <a:avLst/>
          </a:prstGeom>
          <a:noFill/>
        </p:spPr>
        <p:txBody>
          <a:bodyPr wrap="square" anchor="ctr">
            <a:spAutoFit/>
          </a:bodyPr>
          <a:lstStyle/>
          <a:p>
            <a:r>
              <a:rPr sz="1200">
                <a:solidFill>
                  <a:srgbClr val="132422"/>
                </a:solidFill>
                <a:latin typeface="Malgun Gothic"/>
              </a:rPr>
              <a:t>부팅 디스크 '변경' 클릭 ▸ 운영체제 드롭다운에서 반드시 'Rocky Linux' 선택(Ubuntu 아님 주의!) ▸ 버전 'Rocky Linux 9' ▸ 디스크 유형 '표준 영구 디스크', 크기 20GB ▸ '선택'</a:t>
            </a:r>
          </a:p>
        </p:txBody>
      </p:sp>
      <p:sp>
        <p:nvSpPr>
          <p:cNvPr id="22" name="Rectangle 21"/>
          <p:cNvSpPr/>
          <p:nvPr/>
        </p:nvSpPr>
        <p:spPr>
          <a:xfrm>
            <a:off x="502920" y="4195191"/>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195191"/>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195191"/>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222623"/>
            <a:ext cx="10424160" cy="566928"/>
          </a:xfrm>
          <a:prstGeom prst="rect">
            <a:avLst/>
          </a:prstGeom>
          <a:noFill/>
        </p:spPr>
        <p:txBody>
          <a:bodyPr wrap="square" anchor="ctr">
            <a:spAutoFit/>
          </a:bodyPr>
          <a:lstStyle/>
          <a:p>
            <a:r>
              <a:rPr sz="1200">
                <a:solidFill>
                  <a:srgbClr val="132422"/>
                </a:solidFill>
                <a:latin typeface="Malgun Gothic"/>
              </a:rPr>
              <a:t>ID 및 API 액세스 ▸ 서비스 계정 드롭다운에서 web-sa 선택(기본 서비스 계정이 선택되어 있지 않은지 반드시 확인)</a:t>
            </a:r>
          </a:p>
        </p:txBody>
      </p:sp>
      <p:sp>
        <p:nvSpPr>
          <p:cNvPr id="26" name="Rectangle 25"/>
          <p:cNvSpPr/>
          <p:nvPr/>
        </p:nvSpPr>
        <p:spPr>
          <a:xfrm>
            <a:off x="502920" y="4890135"/>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890135"/>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4890135"/>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4917567"/>
            <a:ext cx="10424160" cy="566928"/>
          </a:xfrm>
          <a:prstGeom prst="rect">
            <a:avLst/>
          </a:prstGeom>
          <a:noFill/>
        </p:spPr>
        <p:txBody>
          <a:bodyPr wrap="square" anchor="ctr">
            <a:spAutoFit/>
          </a:bodyPr>
          <a:lstStyle/>
          <a:p>
            <a:r>
              <a:rPr sz="1200">
                <a:solidFill>
                  <a:srgbClr val="132422"/>
                </a:solidFill>
                <a:latin typeface="Malgun Gothic"/>
              </a:rPr>
              <a:t>네트워킹 탭 ▸ 네트워크 인터페이스 '편집' ▸ 네트워크 petclinic-vpc, 서브넷 web-subnet, 외부 IPv4 주소를 반드시 '없음'으로 변경 ▸ 네트워크 태그 칸에 web-tier 입력</a:t>
            </a:r>
          </a:p>
        </p:txBody>
      </p:sp>
      <p:sp>
        <p:nvSpPr>
          <p:cNvPr id="30" name="Rectangle 29"/>
          <p:cNvSpPr/>
          <p:nvPr/>
        </p:nvSpPr>
        <p:spPr>
          <a:xfrm>
            <a:off x="502920" y="5585079"/>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585079"/>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7</a:t>
            </a:r>
          </a:p>
        </p:txBody>
      </p:sp>
      <p:sp>
        <p:nvSpPr>
          <p:cNvPr id="32" name="Rectangle 31"/>
          <p:cNvSpPr/>
          <p:nvPr/>
        </p:nvSpPr>
        <p:spPr>
          <a:xfrm>
            <a:off x="1005840" y="5585079"/>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70432" y="5612511"/>
            <a:ext cx="10424160" cy="566928"/>
          </a:xfrm>
          <a:prstGeom prst="rect">
            <a:avLst/>
          </a:prstGeom>
          <a:noFill/>
        </p:spPr>
        <p:txBody>
          <a:bodyPr wrap="square" anchor="ctr">
            <a:spAutoFit/>
          </a:bodyPr>
          <a:lstStyle/>
          <a:p>
            <a:r>
              <a:rPr sz="1200">
                <a:solidFill>
                  <a:srgbClr val="132422"/>
                </a:solidFill>
                <a:latin typeface="Malgun Gothic"/>
              </a:rPr>
              <a:t>관리 탭 ▸ 시작 스크립트 칸에 Nginx 설치+리버스프록시 설정 스크립트 붙여넣기 ▸ 하단 '만들기' 클릭</a:t>
            </a:r>
          </a:p>
        </p:txBody>
      </p:sp>
      <p:sp>
        <p:nvSpPr>
          <p:cNvPr id="34" name="Rectangle 33"/>
          <p:cNvSpPr/>
          <p:nvPr/>
        </p:nvSpPr>
        <p:spPr>
          <a:xfrm>
            <a:off x="502920" y="6325743"/>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6353175"/>
            <a:ext cx="10789920" cy="457200"/>
          </a:xfrm>
          <a:prstGeom prst="rect">
            <a:avLst/>
          </a:prstGeom>
          <a:noFill/>
        </p:spPr>
        <p:txBody>
          <a:bodyPr wrap="square" anchor="ctr">
            <a:spAutoFit/>
          </a:bodyPr>
          <a:lstStyle/>
          <a:p>
            <a:r>
              <a:rPr sz="1100" b="1">
                <a:solidFill>
                  <a:srgbClr val="B4791F"/>
                </a:solidFill>
                <a:latin typeface="Malgun Gothic"/>
              </a:rPr>
              <a:t>💡 실수 방지 팁: '외부 IPv4 주소'는 기본값이 '임시'로 되어 있는 경우가 많습니다. 반드시 '없음'으로 바꿨는지 만들기 전에 한 번 더 확인하세요. 이걸 놓치면 VM이 인터넷에 그대로 노출됩니다.</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8 · 콘솔 작업 순서 · 담당: CMP</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WAS 인스턴스 템플릿 만들기 — 화면 클릭 가이드</a:t>
            </a:r>
          </a:p>
        </p:txBody>
      </p:sp>
      <p:sp>
        <p:nvSpPr>
          <p:cNvPr id="4" name="Rectangle 3"/>
          <p:cNvSpPr/>
          <p:nvPr/>
        </p:nvSpPr>
        <p:spPr>
          <a:xfrm>
            <a:off x="502920" y="119557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08</a:t>
            </a:r>
          </a:p>
        </p:txBody>
      </p:sp>
      <p:sp>
        <p:nvSpPr>
          <p:cNvPr id="6" name="Rectangle 5"/>
          <p:cNvSpPr/>
          <p:nvPr/>
        </p:nvSpPr>
        <p:spPr>
          <a:xfrm>
            <a:off x="502920" y="140589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0589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40589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433322"/>
            <a:ext cx="10424160" cy="566928"/>
          </a:xfrm>
          <a:prstGeom prst="rect">
            <a:avLst/>
          </a:prstGeom>
          <a:noFill/>
        </p:spPr>
        <p:txBody>
          <a:bodyPr wrap="square" anchor="ctr">
            <a:spAutoFit/>
          </a:bodyPr>
          <a:lstStyle/>
          <a:p>
            <a:r>
              <a:rPr sz="1200">
                <a:solidFill>
                  <a:srgbClr val="132422"/>
                </a:solidFill>
                <a:latin typeface="Malgun Gothic"/>
              </a:rPr>
              <a:t>같은 화면에서 '인스턴스 템플릿 만들기' 다시 클릭, 이름: was-template-v1</a:t>
            </a:r>
          </a:p>
        </p:txBody>
      </p:sp>
      <p:sp>
        <p:nvSpPr>
          <p:cNvPr id="10" name="Rectangle 9"/>
          <p:cNvSpPr/>
          <p:nvPr/>
        </p:nvSpPr>
        <p:spPr>
          <a:xfrm>
            <a:off x="502920" y="210083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10083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10083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128266"/>
            <a:ext cx="10424160" cy="566928"/>
          </a:xfrm>
          <a:prstGeom prst="rect">
            <a:avLst/>
          </a:prstGeom>
          <a:noFill/>
        </p:spPr>
        <p:txBody>
          <a:bodyPr wrap="square" anchor="ctr">
            <a:spAutoFit/>
          </a:bodyPr>
          <a:lstStyle/>
          <a:p>
            <a:r>
              <a:rPr sz="1200">
                <a:solidFill>
                  <a:srgbClr val="132422"/>
                </a:solidFill>
                <a:latin typeface="Malgun Gothic"/>
              </a:rPr>
              <a:t>머신 구성: 시리즈 'E2', 머신 유형 'e2-standard-2(2vCPU, 8GB)' 선택(Web보다 한 단계 위)</a:t>
            </a:r>
          </a:p>
        </p:txBody>
      </p:sp>
      <p:sp>
        <p:nvSpPr>
          <p:cNvPr id="14" name="Rectangle 13"/>
          <p:cNvSpPr/>
          <p:nvPr/>
        </p:nvSpPr>
        <p:spPr>
          <a:xfrm>
            <a:off x="502920" y="279577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79577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279577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2823210"/>
            <a:ext cx="10424160" cy="566928"/>
          </a:xfrm>
          <a:prstGeom prst="rect">
            <a:avLst/>
          </a:prstGeom>
          <a:noFill/>
        </p:spPr>
        <p:txBody>
          <a:bodyPr wrap="square" anchor="ctr">
            <a:spAutoFit/>
          </a:bodyPr>
          <a:lstStyle/>
          <a:p>
            <a:r>
              <a:rPr sz="1200">
                <a:solidFill>
                  <a:srgbClr val="132422"/>
                </a:solidFill>
                <a:latin typeface="Malgun Gothic"/>
              </a:rPr>
              <a:t>부팅 디스크: Web과 동일하게 Rocky Linux 9 선택, 디스크 크기 20GB</a:t>
            </a:r>
          </a:p>
        </p:txBody>
      </p:sp>
      <p:sp>
        <p:nvSpPr>
          <p:cNvPr id="18" name="Rectangle 17"/>
          <p:cNvSpPr/>
          <p:nvPr/>
        </p:nvSpPr>
        <p:spPr>
          <a:xfrm>
            <a:off x="502920" y="349072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49072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49072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518154"/>
            <a:ext cx="10424160" cy="566928"/>
          </a:xfrm>
          <a:prstGeom prst="rect">
            <a:avLst/>
          </a:prstGeom>
          <a:noFill/>
        </p:spPr>
        <p:txBody>
          <a:bodyPr wrap="square" anchor="ctr">
            <a:spAutoFit/>
          </a:bodyPr>
          <a:lstStyle/>
          <a:p>
            <a:r>
              <a:rPr sz="1200">
                <a:solidFill>
                  <a:srgbClr val="132422"/>
                </a:solidFill>
                <a:latin typeface="Malgun Gothic"/>
              </a:rPr>
              <a:t>ID 및 API 액세스 ▸ 서비스 계정 was-sa 선택</a:t>
            </a:r>
          </a:p>
        </p:txBody>
      </p:sp>
      <p:sp>
        <p:nvSpPr>
          <p:cNvPr id="22" name="Rectangle 21"/>
          <p:cNvSpPr/>
          <p:nvPr/>
        </p:nvSpPr>
        <p:spPr>
          <a:xfrm>
            <a:off x="502920" y="418566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18566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18566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213098"/>
            <a:ext cx="10424160" cy="566928"/>
          </a:xfrm>
          <a:prstGeom prst="rect">
            <a:avLst/>
          </a:prstGeom>
          <a:noFill/>
        </p:spPr>
        <p:txBody>
          <a:bodyPr wrap="square" anchor="ctr">
            <a:spAutoFit/>
          </a:bodyPr>
          <a:lstStyle/>
          <a:p>
            <a:r>
              <a:rPr sz="1200">
                <a:solidFill>
                  <a:srgbClr val="132422"/>
                </a:solidFill>
                <a:latin typeface="Malgun Gothic"/>
              </a:rPr>
              <a:t>네트워킹 탭 ▸ 네트워크 petclinic-vpc, 서브넷 was-subnet, 외부 IPv4 주소 '없음' ▸ 네트워크 태그 was-tier 입력</a:t>
            </a:r>
          </a:p>
        </p:txBody>
      </p:sp>
      <p:sp>
        <p:nvSpPr>
          <p:cNvPr id="26" name="Rectangle 25"/>
          <p:cNvSpPr/>
          <p:nvPr/>
        </p:nvSpPr>
        <p:spPr>
          <a:xfrm>
            <a:off x="502920" y="488061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88061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488061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4908042"/>
            <a:ext cx="10424160" cy="566928"/>
          </a:xfrm>
          <a:prstGeom prst="rect">
            <a:avLst/>
          </a:prstGeom>
          <a:noFill/>
        </p:spPr>
        <p:txBody>
          <a:bodyPr wrap="square" anchor="ctr">
            <a:spAutoFit/>
          </a:bodyPr>
          <a:lstStyle/>
          <a:p>
            <a:r>
              <a:rPr sz="1200">
                <a:solidFill>
                  <a:srgbClr val="132422"/>
                </a:solidFill>
                <a:latin typeface="Malgun Gothic"/>
              </a:rPr>
              <a:t>관리 탭 ▸ 시작 스크립트에 JDK 8 + Tomcat 9 설치, petclinic.war 배포, Secret Manager에서 DB 자격증명 조회하는 스크립트 붙여넣기(예약 기능이 반영된 최신 WAR 파일 경로로 지정)</a:t>
            </a:r>
          </a:p>
        </p:txBody>
      </p:sp>
      <p:sp>
        <p:nvSpPr>
          <p:cNvPr id="30" name="Rectangle 29"/>
          <p:cNvSpPr/>
          <p:nvPr/>
        </p:nvSpPr>
        <p:spPr>
          <a:xfrm>
            <a:off x="502920" y="557555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57555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7</a:t>
            </a:r>
          </a:p>
        </p:txBody>
      </p:sp>
      <p:sp>
        <p:nvSpPr>
          <p:cNvPr id="32" name="Rectangle 31"/>
          <p:cNvSpPr/>
          <p:nvPr/>
        </p:nvSpPr>
        <p:spPr>
          <a:xfrm>
            <a:off x="1005840" y="557555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70432" y="5602986"/>
            <a:ext cx="10424160" cy="566928"/>
          </a:xfrm>
          <a:prstGeom prst="rect">
            <a:avLst/>
          </a:prstGeom>
          <a:noFill/>
        </p:spPr>
        <p:txBody>
          <a:bodyPr wrap="square" anchor="ctr">
            <a:spAutoFit/>
          </a:bodyPr>
          <a:lstStyle/>
          <a:p>
            <a:r>
              <a:rPr sz="1200">
                <a:solidFill>
                  <a:srgbClr val="132422"/>
                </a:solidFill>
                <a:latin typeface="Malgun Gothic"/>
              </a:rPr>
              <a:t>'만들기' 클릭</a:t>
            </a:r>
          </a:p>
        </p:txBody>
      </p:sp>
      <p:sp>
        <p:nvSpPr>
          <p:cNvPr id="34" name="Rectangle 33"/>
          <p:cNvSpPr/>
          <p:nvPr/>
        </p:nvSpPr>
        <p:spPr>
          <a:xfrm>
            <a:off x="502920" y="6316218"/>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6343650"/>
            <a:ext cx="10789920" cy="457200"/>
          </a:xfrm>
          <a:prstGeom prst="rect">
            <a:avLst/>
          </a:prstGeom>
          <a:noFill/>
        </p:spPr>
        <p:txBody>
          <a:bodyPr wrap="square" anchor="ctr">
            <a:spAutoFit/>
          </a:bodyPr>
          <a:lstStyle/>
          <a:p>
            <a:r>
              <a:rPr sz="1100" b="1">
                <a:solidFill>
                  <a:srgbClr val="B4791F"/>
                </a:solidFill>
                <a:latin typeface="Malgun Gothic"/>
              </a:rPr>
              <a:t>💡 실수 방지 팁: WAS 시작 스크립트 안에서 mvnw를 직접 실행한다면, 반드시 dos2unix로 줄바꿈을 변환한 뒤 실행 권한을 부여하는 명령을 스크립트 맨 앞에 넣으세요(리눅스 호환성 점검에서 발견된 실제 이슈입니다).</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715768"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9 · 담당: CMP</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관리형 인스턴스 그룹(MIG) + 오토스케일러</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09</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MIG는 같은 템플릿으로 찍어낸 VM 여러 대를 '하나의 단위'로 묶어 자동으로 추가·제거·교체해주는 기능입니다. Autoscaler는 MIG에 붙는 부가 기능으로, CPU 같은 지표를 보고 대수를 자동으로 늘리거나 줄입니다.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Unmanaged Instance Group(그냥 VM 묶음)이 아닌 'Managed' 선택 — Unmanaged는 자동 복구·자동 확장 기능이 아예 없어 요구사항 5번(자동 확장)을 구조적으로 만족할 수 없음</a:t>
            </a:r>
          </a:p>
          <a:p>
            <a:pPr>
              <a:lnSpc>
                <a:spcPct val="118000"/>
              </a:lnSpc>
              <a:spcAft>
                <a:spcPts val="700"/>
              </a:spcAft>
            </a:pPr>
            <a:r>
              <a:rPr sz="1230" b="0">
                <a:solidFill>
                  <a:srgbClr val="44585A"/>
                </a:solidFill>
                <a:latin typeface="Malgun Gothic"/>
              </a:rPr>
              <a:t>▸ 오토스케일링 목표값 CPU 60% — 너무 낮으면(예:30%) 여유 인스턴스가 과도해 비용 낭비, 너무 높으면(예:90%) 스케일아웃이 늦어져 사용자가 지연을 체감. 업계에서 통상적으로 쓰는 절충값</a:t>
            </a:r>
          </a:p>
          <a:p>
            <a:pPr>
              <a:lnSpc>
                <a:spcPct val="118000"/>
              </a:lnSpc>
              <a:spcAft>
                <a:spcPts val="700"/>
              </a:spcAft>
            </a:pPr>
            <a:r>
              <a:rPr sz="1230" b="0">
                <a:solidFill>
                  <a:srgbClr val="44585A"/>
                </a:solidFill>
                <a:latin typeface="Malgun Gothic"/>
              </a:rPr>
              <a:t>▸ 최소 2대: 1대만 두면 그 자체가 단일 장애점(SPOF), 최대 6대: 사전 산정한 피크 트래픽 기준 + 예상치 못한 비용 폭주를 막는 상한선</a:t>
            </a:r>
          </a:p>
          <a:p>
            <a:pPr>
              <a:lnSpc>
                <a:spcPct val="118000"/>
              </a:lnSpc>
              <a:spcAft>
                <a:spcPts val="700"/>
              </a:spcAft>
            </a:pPr>
            <a:r>
              <a:rPr sz="1230" b="0">
                <a:solidFill>
                  <a:srgbClr val="44585A"/>
                </a:solidFill>
                <a:latin typeface="Malgun Gothic"/>
              </a:rPr>
              <a:t>▸ 쿨다운 300초: 새 인스턴스가 부팅되고 애플리케이션이 완전히 워밍업되는 데 걸리는 시간 동안은 지표를 성급하게 재평가하지 않도록 대기 — 없으면 '아직 준비 안 된 인스턴스'까지 지표에 반영돼 불필요한 추가 확장이 발생할 수 있음</a:t>
            </a:r>
          </a:p>
          <a:p>
            <a:pPr>
              <a:lnSpc>
                <a:spcPct val="118000"/>
              </a:lnSpc>
              <a:spcAft>
                <a:spcPts val="700"/>
              </a:spcAft>
            </a:pPr>
            <a:r>
              <a:rPr sz="1230" b="0">
                <a:solidFill>
                  <a:srgbClr val="44585A"/>
                </a:solidFill>
                <a:latin typeface="Malgun Gothic"/>
              </a:rPr>
              <a:t>▸ Health Check(상태 확인)가 MIG 자동 복구의 실제 메커니즘 — 인스턴스가 응답하지 않으면 '불량'으로 판정해 자동으로 종료 후 새 인스턴스로 교체(장애 시나리오 1번)</a:t>
            </a:r>
          </a:p>
          <a:p>
            <a:pPr>
              <a:lnSpc>
                <a:spcPct val="118000"/>
              </a:lnSpc>
              <a:spcAft>
                <a:spcPts val="700"/>
              </a:spcAft>
            </a:pPr>
            <a:r>
              <a:rPr sz="1230" b="0">
                <a:solidFill>
                  <a:srgbClr val="44585A"/>
                </a:solidFill>
                <a:latin typeface="Malgun Gothic"/>
              </a:rPr>
              <a:t>▸ 여러 영역(Zone)에 분산 배치 — 한 Zone에 정전 등 문제가 생겨도 다른 Zone의 인스턴스가 서비스를 계속 유지(장애 시나리오 4번)</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고정 대수(예: 항상 4대)로 운영 — 트래픽이 적을 때도 4대 비용을 그대로 지불, 피크 때는 부족해 응답 지연 발생. 요구사항 5번 정면 미충족</a:t>
            </a:r>
          </a:p>
          <a:p>
            <a:pPr>
              <a:lnSpc>
                <a:spcPct val="118000"/>
              </a:lnSpc>
              <a:spcAft>
                <a:spcPts val="700"/>
              </a:spcAft>
            </a:pPr>
            <a:r>
              <a:rPr sz="1180" b="0">
                <a:solidFill>
                  <a:srgbClr val="44585A"/>
                </a:solidFill>
                <a:latin typeface="Malgun Gothic"/>
              </a:rPr>
              <a:t>▸ 단일 Zone에만 배치 — 관리는 단순하지만 그 Zone에 장애가 생기면 서비스 전체가 멈추는 구조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0233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9 · 콘솔 작업 순서 · 담당: CMP</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MIG + Autoscaler 생성 — 화면 클릭 가이드</a:t>
            </a:r>
          </a:p>
        </p:txBody>
      </p:sp>
      <p:sp>
        <p:nvSpPr>
          <p:cNvPr id="4" name="Rectangle 3"/>
          <p:cNvSpPr/>
          <p:nvPr/>
        </p:nvSpPr>
        <p:spPr>
          <a:xfrm>
            <a:off x="502920" y="1186053"/>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09</a:t>
            </a:r>
          </a:p>
        </p:txBody>
      </p:sp>
      <p:sp>
        <p:nvSpPr>
          <p:cNvPr id="6" name="Rectangle 5"/>
          <p:cNvSpPr/>
          <p:nvPr/>
        </p:nvSpPr>
        <p:spPr>
          <a:xfrm>
            <a:off x="502920" y="1396365"/>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96365"/>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396365"/>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423797"/>
            <a:ext cx="10424160" cy="566928"/>
          </a:xfrm>
          <a:prstGeom prst="rect">
            <a:avLst/>
          </a:prstGeom>
          <a:noFill/>
        </p:spPr>
        <p:txBody>
          <a:bodyPr wrap="square" anchor="ctr">
            <a:spAutoFit/>
          </a:bodyPr>
          <a:lstStyle/>
          <a:p>
            <a:r>
              <a:rPr sz="1200">
                <a:solidFill>
                  <a:srgbClr val="132422"/>
                </a:solidFill>
                <a:latin typeface="Malgun Gothic"/>
              </a:rPr>
              <a:t>Compute Engine ▸ 인스턴스 그룹 ▸ '인스턴스 그룹 만들기' ▸ '새 관리형 인스턴스 그룹' 선택</a:t>
            </a:r>
          </a:p>
        </p:txBody>
      </p:sp>
      <p:sp>
        <p:nvSpPr>
          <p:cNvPr id="10" name="Rectangle 9"/>
          <p:cNvSpPr/>
          <p:nvPr/>
        </p:nvSpPr>
        <p:spPr>
          <a:xfrm>
            <a:off x="502920" y="2091309"/>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091309"/>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091309"/>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118741"/>
            <a:ext cx="10424160" cy="566928"/>
          </a:xfrm>
          <a:prstGeom prst="rect">
            <a:avLst/>
          </a:prstGeom>
          <a:noFill/>
        </p:spPr>
        <p:txBody>
          <a:bodyPr wrap="square" anchor="ctr">
            <a:spAutoFit/>
          </a:bodyPr>
          <a:lstStyle/>
          <a:p>
            <a:r>
              <a:rPr sz="1200">
                <a:solidFill>
                  <a:srgbClr val="132422"/>
                </a:solidFill>
                <a:latin typeface="Malgun Gothic"/>
              </a:rPr>
              <a:t>이름: web-mig, 인스턴스 템플릿: web-template-v1 선택</a:t>
            </a:r>
          </a:p>
        </p:txBody>
      </p:sp>
      <p:sp>
        <p:nvSpPr>
          <p:cNvPr id="14" name="Rectangle 13"/>
          <p:cNvSpPr/>
          <p:nvPr/>
        </p:nvSpPr>
        <p:spPr>
          <a:xfrm>
            <a:off x="502920" y="2786253"/>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786253"/>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2786253"/>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2813685"/>
            <a:ext cx="10424160" cy="566928"/>
          </a:xfrm>
          <a:prstGeom prst="rect">
            <a:avLst/>
          </a:prstGeom>
          <a:noFill/>
        </p:spPr>
        <p:txBody>
          <a:bodyPr wrap="square" anchor="ctr">
            <a:spAutoFit/>
          </a:bodyPr>
          <a:lstStyle/>
          <a:p>
            <a:r>
              <a:rPr sz="1200">
                <a:solidFill>
                  <a:srgbClr val="132422"/>
                </a:solidFill>
                <a:latin typeface="Malgun Gothic"/>
              </a:rPr>
              <a:t>위치: '여러 영역(권장)' 선택 후 asia-northeast3-a, asia-northeast3-b 두 영역 체크(한 Zone 장애 대비)</a:t>
            </a:r>
          </a:p>
        </p:txBody>
      </p:sp>
      <p:sp>
        <p:nvSpPr>
          <p:cNvPr id="18" name="Rectangle 17"/>
          <p:cNvSpPr/>
          <p:nvPr/>
        </p:nvSpPr>
        <p:spPr>
          <a:xfrm>
            <a:off x="502920" y="3481197"/>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481197"/>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481197"/>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508629"/>
            <a:ext cx="10424160" cy="566928"/>
          </a:xfrm>
          <a:prstGeom prst="rect">
            <a:avLst/>
          </a:prstGeom>
          <a:noFill/>
        </p:spPr>
        <p:txBody>
          <a:bodyPr wrap="square" anchor="ctr">
            <a:spAutoFit/>
          </a:bodyPr>
          <a:lstStyle/>
          <a:p>
            <a:r>
              <a:rPr sz="1200">
                <a:solidFill>
                  <a:srgbClr val="132422"/>
                </a:solidFill>
                <a:latin typeface="Malgun Gothic"/>
              </a:rPr>
              <a:t>자동 확장 섹션 ▸ '자동 확장 사용' 토글 ON ▸ 측정 항목 'CPU 사용률' ▸ 목표값 60 입력 ▸ 최소 인스턴스 수 2, 최대 인스턴스 수 6 ▸ 쿨다운 기간 300초</a:t>
            </a:r>
          </a:p>
        </p:txBody>
      </p:sp>
      <p:sp>
        <p:nvSpPr>
          <p:cNvPr id="22" name="Rectangle 21"/>
          <p:cNvSpPr/>
          <p:nvPr/>
        </p:nvSpPr>
        <p:spPr>
          <a:xfrm>
            <a:off x="502920" y="4176141"/>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176141"/>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176141"/>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203573"/>
            <a:ext cx="10424160" cy="566928"/>
          </a:xfrm>
          <a:prstGeom prst="rect">
            <a:avLst/>
          </a:prstGeom>
          <a:noFill/>
        </p:spPr>
        <p:txBody>
          <a:bodyPr wrap="square" anchor="ctr">
            <a:spAutoFit/>
          </a:bodyPr>
          <a:lstStyle/>
          <a:p>
            <a:r>
              <a:rPr sz="1200">
                <a:solidFill>
                  <a:srgbClr val="132422"/>
                </a:solidFill>
                <a:latin typeface="Malgun Gothic"/>
              </a:rPr>
              <a:t>상태 확인 ▸ '상태 확인 만들기' ▸ 프로토콜 HTTP, 포트 80, 요청 경로 '/' ▸ 정상 기준 연속 성공 2회</a:t>
            </a:r>
          </a:p>
        </p:txBody>
      </p:sp>
      <p:sp>
        <p:nvSpPr>
          <p:cNvPr id="26" name="Rectangle 25"/>
          <p:cNvSpPr/>
          <p:nvPr/>
        </p:nvSpPr>
        <p:spPr>
          <a:xfrm>
            <a:off x="502920" y="4871085"/>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871085"/>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4871085"/>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4898517"/>
            <a:ext cx="10424160" cy="566928"/>
          </a:xfrm>
          <a:prstGeom prst="rect">
            <a:avLst/>
          </a:prstGeom>
          <a:noFill/>
        </p:spPr>
        <p:txBody>
          <a:bodyPr wrap="square" anchor="ctr">
            <a:spAutoFit/>
          </a:bodyPr>
          <a:lstStyle/>
          <a:p>
            <a:r>
              <a:rPr sz="1200">
                <a:solidFill>
                  <a:srgbClr val="132422"/>
                </a:solidFill>
                <a:latin typeface="Malgun Gothic"/>
              </a:rPr>
              <a:t>'만들기' 클릭 → 인스턴스가 2대까지 자동 생성되는지 목록에서 확인</a:t>
            </a:r>
          </a:p>
        </p:txBody>
      </p:sp>
      <p:sp>
        <p:nvSpPr>
          <p:cNvPr id="30" name="Rectangle 29"/>
          <p:cNvSpPr/>
          <p:nvPr/>
        </p:nvSpPr>
        <p:spPr>
          <a:xfrm>
            <a:off x="502920" y="5566029"/>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566029"/>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7</a:t>
            </a:r>
          </a:p>
        </p:txBody>
      </p:sp>
      <p:sp>
        <p:nvSpPr>
          <p:cNvPr id="32" name="Rectangle 31"/>
          <p:cNvSpPr/>
          <p:nvPr/>
        </p:nvSpPr>
        <p:spPr>
          <a:xfrm>
            <a:off x="1005840" y="5566029"/>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70432" y="5593461"/>
            <a:ext cx="10424160" cy="566928"/>
          </a:xfrm>
          <a:prstGeom prst="rect">
            <a:avLst/>
          </a:prstGeom>
          <a:noFill/>
        </p:spPr>
        <p:txBody>
          <a:bodyPr wrap="square" anchor="ctr">
            <a:spAutoFit/>
          </a:bodyPr>
          <a:lstStyle/>
          <a:p>
            <a:r>
              <a:rPr sz="1200">
                <a:solidFill>
                  <a:srgbClr val="132422"/>
                </a:solidFill>
                <a:latin typeface="Malgun Gothic"/>
              </a:rPr>
              <a:t>같은 과정을 WAS용으로도 반복: 이름 was-mig, 템플릿 was-template-v1, 상태 확인 포트 8080</a:t>
            </a:r>
          </a:p>
        </p:txBody>
      </p:sp>
      <p:sp>
        <p:nvSpPr>
          <p:cNvPr id="34" name="Rectangle 33"/>
          <p:cNvSpPr/>
          <p:nvPr/>
        </p:nvSpPr>
        <p:spPr>
          <a:xfrm>
            <a:off x="502920" y="6306693"/>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6334125"/>
            <a:ext cx="10789920" cy="457200"/>
          </a:xfrm>
          <a:prstGeom prst="rect">
            <a:avLst/>
          </a:prstGeom>
          <a:noFill/>
        </p:spPr>
        <p:txBody>
          <a:bodyPr wrap="square" anchor="ctr">
            <a:spAutoFit/>
          </a:bodyPr>
          <a:lstStyle/>
          <a:p>
            <a:r>
              <a:rPr sz="1100" b="1">
                <a:solidFill>
                  <a:srgbClr val="B4791F"/>
                </a:solidFill>
                <a:latin typeface="Malgun Gothic"/>
              </a:rPr>
              <a:t>💡 실수 방지 팁: 상태 확인의 '요청 경로'를 실제 애플리케이션이 200 OK를 반환하는 경로로 정확히 맞춰야 합니다. 틀리면 정상 서버도 계속 '비정상'으로 판정돼 MIG가 끊임없이 인스턴스를 재생성하는 악순환에 빠질 수 있습니다.</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A4E47"/>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2743200" cy="1280160"/>
          </a:xfrm>
          <a:prstGeom prst="rect">
            <a:avLst/>
          </a:prstGeom>
          <a:noFill/>
        </p:spPr>
        <p:txBody>
          <a:bodyPr wrap="square">
            <a:spAutoFit/>
          </a:bodyPr>
          <a:lstStyle/>
          <a:p>
            <a:pPr algn="l">
              <a:lnSpc>
                <a:spcPct val="115000"/>
              </a:lnSpc>
            </a:pPr>
            <a:r>
              <a:rPr sz="7200" b="1">
                <a:solidFill>
                  <a:srgbClr val="3F9A88"/>
                </a:solidFill>
                <a:latin typeface="Malgun Gothic"/>
              </a:rPr>
              <a:t>04</a:t>
            </a:r>
          </a:p>
        </p:txBody>
      </p:sp>
      <p:sp>
        <p:nvSpPr>
          <p:cNvPr id="3" name="TextBox 2"/>
          <p:cNvSpPr txBox="1"/>
          <p:nvPr/>
        </p:nvSpPr>
        <p:spPr>
          <a:xfrm>
            <a:off x="777240" y="3566160"/>
            <a:ext cx="10058400" cy="914400"/>
          </a:xfrm>
          <a:prstGeom prst="rect">
            <a:avLst/>
          </a:prstGeom>
          <a:noFill/>
        </p:spPr>
        <p:txBody>
          <a:bodyPr wrap="square">
            <a:spAutoFit/>
          </a:bodyPr>
          <a:lstStyle/>
          <a:p>
            <a:pPr algn="l">
              <a:lnSpc>
                <a:spcPct val="115000"/>
              </a:lnSpc>
            </a:pPr>
            <a:r>
              <a:rPr sz="3400" b="1">
                <a:solidFill>
                  <a:srgbClr val="FFFFFF"/>
                </a:solidFill>
                <a:latin typeface="Malgun Gothic"/>
              </a:rPr>
              <a:t>트래픽 처리</a:t>
            </a:r>
          </a:p>
        </p:txBody>
      </p:sp>
      <p:sp>
        <p:nvSpPr>
          <p:cNvPr id="4" name="TextBox 3"/>
          <p:cNvSpPr txBox="1"/>
          <p:nvPr/>
        </p:nvSpPr>
        <p:spPr>
          <a:xfrm>
            <a:off x="804672" y="4343400"/>
            <a:ext cx="9601200" cy="914400"/>
          </a:xfrm>
          <a:prstGeom prst="rect">
            <a:avLst/>
          </a:prstGeom>
          <a:noFill/>
        </p:spPr>
        <p:txBody>
          <a:bodyPr wrap="square">
            <a:spAutoFit/>
          </a:bodyPr>
          <a:lstStyle/>
          <a:p>
            <a:pPr algn="l">
              <a:lnSpc>
                <a:spcPct val="115000"/>
              </a:lnSpc>
            </a:pPr>
            <a:r>
              <a:rPr sz="1500" b="0">
                <a:solidFill>
                  <a:srgbClr val="DCF3EE"/>
                </a:solidFill>
                <a:latin typeface="Malgun Gothic"/>
              </a:rPr>
              <a:t>방문자의 요청이 실제로 어떤 경로로 우리 서버까지 도달하는지, 그리고 그 경로를 어떻게 지키는지 다룹니다.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83464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10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Internal TCP 로드밸런서 (Layer 4)</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10</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같은 VPC 내부에서만 보이는 IP로 Web 서버의 요청을 여러 WAS 인스턴스에 분산하는 계층 4(전송 계층, IP+포트 기준) 로드밸런서입니다. 인터넷에는 절대 노출되지 않습니다.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Layer 7이 아닌 Layer 4를 선택 — Web→WAS 구간은 이미 Web 서버가 요청을 한 번 처리한 뒤이므로 추가로 URL 경로 기반 라우팅이 필요 없고, L4는 패킷 헤더만 보고 라우팅해 L7보다 오버헤드와 지연이 적음</a:t>
            </a:r>
          </a:p>
          <a:p>
            <a:pPr>
              <a:lnSpc>
                <a:spcPct val="118000"/>
              </a:lnSpc>
              <a:spcAft>
                <a:spcPts val="700"/>
              </a:spcAft>
            </a:pPr>
            <a:r>
              <a:rPr sz="1230" b="0">
                <a:solidFill>
                  <a:srgbClr val="44585A"/>
                </a:solidFill>
                <a:latin typeface="Malgun Gothic"/>
              </a:rPr>
              <a:t>▸ Passthrough(패스스루) 유형 채택 — 프록시를 거치지 않고 백엔드로 바로 전달돼 지연시간이 가장 낮은 방식</a:t>
            </a:r>
          </a:p>
          <a:p>
            <a:pPr>
              <a:lnSpc>
                <a:spcPct val="118000"/>
              </a:lnSpc>
              <a:spcAft>
                <a:spcPts val="700"/>
              </a:spcAft>
            </a:pPr>
            <a:r>
              <a:rPr sz="1230" b="0">
                <a:solidFill>
                  <a:srgbClr val="44585A"/>
                </a:solidFill>
                <a:latin typeface="Malgun Gothic"/>
              </a:rPr>
              <a:t>▸ WAS MIG를 백엔드로 연결 — WAS 인스턴스가 스케일 인/아웃되어도 LB가 자동으로 최신 백엔드 목록을 인식해 트래픽을 재분배(Web 코드에 WAS IP를 하드코딩하지 않아도 됨)</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WAS 서버 IP를 Web 애플리케이션 설정에 직접 하드코딩 — WAS가 스케일 인/아웃될 때마다 Web 설정을 수동으로 갱신해야 해 자동화가 완전히 깨짐</a:t>
            </a:r>
          </a:p>
          <a:p>
            <a:pPr>
              <a:lnSpc>
                <a:spcPct val="118000"/>
              </a:lnSpc>
              <a:spcAft>
                <a:spcPts val="700"/>
              </a:spcAft>
            </a:pPr>
            <a:r>
              <a:rPr sz="1180" b="0">
                <a:solidFill>
                  <a:srgbClr val="44585A"/>
                </a:solidFill>
                <a:latin typeface="Malgun Gothic"/>
              </a:rPr>
              <a:t>▸ Internal HTTP(S) LB(L7) 사용 — 기능은 더 많지만 이 구간에는 불필요한 오버헤드, L4보다 지연시간이 더 김</a:t>
            </a:r>
          </a:p>
        </p:txBody>
      </p:sp>
      <p:sp>
        <p:nvSpPr>
          <p:cNvPr id="15" name="TextBox 14"/>
          <p:cNvSpPr txBox="1"/>
          <p:nvPr/>
        </p:nvSpPr>
        <p:spPr>
          <a:xfrm>
            <a:off x="502920" y="6537960"/>
            <a:ext cx="9144000" cy="274320"/>
          </a:xfrm>
          <a:prstGeom prst="rect">
            <a:avLst/>
          </a:prstGeom>
          <a:noFill/>
        </p:spPr>
        <p:txBody>
          <a:bodyPr wrap="square">
            <a:spAutoFit/>
          </a:bodyPr>
          <a:lstStyle/>
          <a:p>
            <a:pPr algn="l">
              <a:lnSpc>
                <a:spcPct val="115000"/>
              </a:lnSpc>
            </a:pPr>
            <a:r>
              <a:rPr sz="900" b="0">
                <a:solidFill>
                  <a:srgbClr val="44585A"/>
                </a:solidFill>
                <a:latin typeface="Malgun Gothic"/>
              </a:rPr>
              <a:t>온누리 동물병원 GCP 구축 · 콘솔 작업 실전 가이드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142232"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10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Internal LB 생성 — 화면 클릭 가이드</a:t>
            </a:r>
          </a:p>
        </p:txBody>
      </p:sp>
      <p:sp>
        <p:nvSpPr>
          <p:cNvPr id="4" name="Rectangle 3"/>
          <p:cNvSpPr/>
          <p:nvPr/>
        </p:nvSpPr>
        <p:spPr>
          <a:xfrm>
            <a:off x="502920" y="115747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10</a:t>
            </a:r>
          </a:p>
        </p:txBody>
      </p:sp>
      <p:sp>
        <p:nvSpPr>
          <p:cNvPr id="6" name="Rectangle 5"/>
          <p:cNvSpPr/>
          <p:nvPr/>
        </p:nvSpPr>
        <p:spPr>
          <a:xfrm>
            <a:off x="502920" y="136779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6779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36779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395222"/>
            <a:ext cx="10424160" cy="566928"/>
          </a:xfrm>
          <a:prstGeom prst="rect">
            <a:avLst/>
          </a:prstGeom>
          <a:noFill/>
        </p:spPr>
        <p:txBody>
          <a:bodyPr wrap="square" anchor="ctr">
            <a:spAutoFit/>
          </a:bodyPr>
          <a:lstStyle/>
          <a:p>
            <a:r>
              <a:rPr sz="1200">
                <a:solidFill>
                  <a:srgbClr val="132422"/>
                </a:solidFill>
                <a:latin typeface="Malgun Gothic"/>
              </a:rPr>
              <a:t>네트워크 서비스 ▸ 로드 밸런싱 ▸ '로드 밸런서 만들기'</a:t>
            </a:r>
          </a:p>
        </p:txBody>
      </p:sp>
      <p:sp>
        <p:nvSpPr>
          <p:cNvPr id="10" name="Rectangle 9"/>
          <p:cNvSpPr/>
          <p:nvPr/>
        </p:nvSpPr>
        <p:spPr>
          <a:xfrm>
            <a:off x="502920" y="206273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06273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06273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090166"/>
            <a:ext cx="10424160" cy="566928"/>
          </a:xfrm>
          <a:prstGeom prst="rect">
            <a:avLst/>
          </a:prstGeom>
          <a:noFill/>
        </p:spPr>
        <p:txBody>
          <a:bodyPr wrap="square" anchor="ctr">
            <a:spAutoFit/>
          </a:bodyPr>
          <a:lstStyle/>
          <a:p>
            <a:r>
              <a:rPr sz="1200">
                <a:solidFill>
                  <a:srgbClr val="132422"/>
                </a:solidFill>
                <a:latin typeface="Malgun Gothic"/>
              </a:rPr>
              <a:t>'네트워크 로드 밸런서(TCP/UDP)' 유형 선택 ▸ '내부' 선택 ▸ 패스스루 유형 확인</a:t>
            </a:r>
          </a:p>
        </p:txBody>
      </p:sp>
      <p:sp>
        <p:nvSpPr>
          <p:cNvPr id="14" name="Rectangle 13"/>
          <p:cNvSpPr/>
          <p:nvPr/>
        </p:nvSpPr>
        <p:spPr>
          <a:xfrm>
            <a:off x="502920" y="275767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75767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275767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2785110"/>
            <a:ext cx="10424160" cy="566928"/>
          </a:xfrm>
          <a:prstGeom prst="rect">
            <a:avLst/>
          </a:prstGeom>
          <a:noFill/>
        </p:spPr>
        <p:txBody>
          <a:bodyPr wrap="square" anchor="ctr">
            <a:spAutoFit/>
          </a:bodyPr>
          <a:lstStyle/>
          <a:p>
            <a:r>
              <a:rPr sz="1200">
                <a:solidFill>
                  <a:srgbClr val="132422"/>
                </a:solidFill>
                <a:latin typeface="Malgun Gothic"/>
              </a:rPr>
              <a:t>이름: internal-was-lb 입력</a:t>
            </a:r>
          </a:p>
        </p:txBody>
      </p:sp>
      <p:sp>
        <p:nvSpPr>
          <p:cNvPr id="18" name="Rectangle 17"/>
          <p:cNvSpPr/>
          <p:nvPr/>
        </p:nvSpPr>
        <p:spPr>
          <a:xfrm>
            <a:off x="502920" y="345262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45262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45262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480054"/>
            <a:ext cx="10424160" cy="566928"/>
          </a:xfrm>
          <a:prstGeom prst="rect">
            <a:avLst/>
          </a:prstGeom>
          <a:noFill/>
        </p:spPr>
        <p:txBody>
          <a:bodyPr wrap="square" anchor="ctr">
            <a:spAutoFit/>
          </a:bodyPr>
          <a:lstStyle/>
          <a:p>
            <a:r>
              <a:rPr sz="1200">
                <a:solidFill>
                  <a:srgbClr val="132422"/>
                </a:solidFill>
                <a:latin typeface="Malgun Gothic"/>
              </a:rPr>
              <a:t>백엔드 구성 ▸ 백엔드 유형 '인스턴스 그룹' ▸ was-mig 선택, 포트 8080</a:t>
            </a:r>
          </a:p>
        </p:txBody>
      </p:sp>
      <p:sp>
        <p:nvSpPr>
          <p:cNvPr id="22" name="Rectangle 21"/>
          <p:cNvSpPr/>
          <p:nvPr/>
        </p:nvSpPr>
        <p:spPr>
          <a:xfrm>
            <a:off x="502920" y="414756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14756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14756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174998"/>
            <a:ext cx="10424160" cy="566928"/>
          </a:xfrm>
          <a:prstGeom prst="rect">
            <a:avLst/>
          </a:prstGeom>
          <a:noFill/>
        </p:spPr>
        <p:txBody>
          <a:bodyPr wrap="square" anchor="ctr">
            <a:spAutoFit/>
          </a:bodyPr>
          <a:lstStyle/>
          <a:p>
            <a:r>
              <a:rPr sz="1200">
                <a:solidFill>
                  <a:srgbClr val="132422"/>
                </a:solidFill>
                <a:latin typeface="Malgun Gothic"/>
              </a:rPr>
              <a:t>상태 확인: 9번 서비스에서 만든 WAS용 상태 확인(포트 8080) 선택</a:t>
            </a:r>
          </a:p>
        </p:txBody>
      </p:sp>
      <p:sp>
        <p:nvSpPr>
          <p:cNvPr id="26" name="Rectangle 25"/>
          <p:cNvSpPr/>
          <p:nvPr/>
        </p:nvSpPr>
        <p:spPr>
          <a:xfrm>
            <a:off x="502920" y="484251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84251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484251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4869942"/>
            <a:ext cx="10424160" cy="566928"/>
          </a:xfrm>
          <a:prstGeom prst="rect">
            <a:avLst/>
          </a:prstGeom>
          <a:noFill/>
        </p:spPr>
        <p:txBody>
          <a:bodyPr wrap="square" anchor="ctr">
            <a:spAutoFit/>
          </a:bodyPr>
          <a:lstStyle/>
          <a:p>
            <a:r>
              <a:rPr sz="1200">
                <a:solidFill>
                  <a:srgbClr val="132422"/>
                </a:solidFill>
                <a:latin typeface="Malgun Gothic"/>
              </a:rPr>
              <a:t>프런트엔드 구성 ▸ 서브넷 was-subnet 선택 ▸ 내부 IP '자동 할당' ▸ 포트 8080</a:t>
            </a:r>
          </a:p>
        </p:txBody>
      </p:sp>
      <p:sp>
        <p:nvSpPr>
          <p:cNvPr id="30" name="Rectangle 29"/>
          <p:cNvSpPr/>
          <p:nvPr/>
        </p:nvSpPr>
        <p:spPr>
          <a:xfrm>
            <a:off x="502920" y="553745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53745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7</a:t>
            </a:r>
          </a:p>
        </p:txBody>
      </p:sp>
      <p:sp>
        <p:nvSpPr>
          <p:cNvPr id="32" name="Rectangle 31"/>
          <p:cNvSpPr/>
          <p:nvPr/>
        </p:nvSpPr>
        <p:spPr>
          <a:xfrm>
            <a:off x="1005840" y="553745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70432" y="5564886"/>
            <a:ext cx="10424160" cy="566928"/>
          </a:xfrm>
          <a:prstGeom prst="rect">
            <a:avLst/>
          </a:prstGeom>
          <a:noFill/>
        </p:spPr>
        <p:txBody>
          <a:bodyPr wrap="square" anchor="ctr">
            <a:spAutoFit/>
          </a:bodyPr>
          <a:lstStyle/>
          <a:p>
            <a:r>
              <a:rPr sz="1200">
                <a:solidFill>
                  <a:srgbClr val="132422"/>
                </a:solidFill>
                <a:latin typeface="Malgun Gothic"/>
              </a:rPr>
              <a:t>검토 및 완료 ▸ '만들기' 클릭</a:t>
            </a:r>
          </a:p>
        </p:txBody>
      </p:sp>
      <p:sp>
        <p:nvSpPr>
          <p:cNvPr id="34" name="Rectangle 33"/>
          <p:cNvSpPr/>
          <p:nvPr/>
        </p:nvSpPr>
        <p:spPr>
          <a:xfrm>
            <a:off x="502920" y="6278118"/>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6305550"/>
            <a:ext cx="10789920" cy="457200"/>
          </a:xfrm>
          <a:prstGeom prst="rect">
            <a:avLst/>
          </a:prstGeom>
          <a:noFill/>
        </p:spPr>
        <p:txBody>
          <a:bodyPr wrap="square" anchor="ctr">
            <a:spAutoFit/>
          </a:bodyPr>
          <a:lstStyle/>
          <a:p>
            <a:r>
              <a:rPr sz="1100" b="1">
                <a:solidFill>
                  <a:srgbClr val="B4791F"/>
                </a:solidFill>
                <a:latin typeface="Malgun Gothic"/>
              </a:rPr>
              <a:t>💡 실수 방지 팁: 생성된 내부 IP 주소를 꼭 메모해두세요. Web 서버 시작 스크립트의 리버스 프록시 설정(Nginx upstream)에 이 IP를 입력해야 합니다.</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83464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11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External HTTP(S) 로드밸런서 (Layer 7) + 관리형 SSL</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11</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전 세계 어디서 접속해도 가장 가까운 Google 엣지 네트워크로 연결되는 전역(Global) 애니캐스트 IP 기반의 계층 7(애플리케이션 계층) 로드밸런서입니다. 이 병원 시스템의 유일한 인터넷 진입점입니다.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Web VM 각각에 개별 공인 IP를 주지 않고 이 LB 하나 뒤로 전부 숨김 — 공격자가 개별 서버의 실제 IP를 알아낼 방법이 구조적으로 없음</a:t>
            </a:r>
          </a:p>
          <a:p>
            <a:pPr>
              <a:lnSpc>
                <a:spcPct val="118000"/>
              </a:lnSpc>
              <a:spcAft>
                <a:spcPts val="700"/>
              </a:spcAft>
            </a:pPr>
            <a:r>
              <a:rPr sz="1230" b="0">
                <a:solidFill>
                  <a:srgbClr val="44585A"/>
                </a:solidFill>
                <a:latin typeface="Malgun Gothic"/>
              </a:rPr>
              <a:t>▸ SSL(HTTPS 암호화)을 이 LB 한 곳에서만 종료(termination) — 각 Web VM마다 인증서를 개별 설치·갱신할 필요가 없어 운영 부담 대폭 감소</a:t>
            </a:r>
          </a:p>
          <a:p>
            <a:pPr>
              <a:lnSpc>
                <a:spcPct val="118000"/>
              </a:lnSpc>
              <a:spcAft>
                <a:spcPts val="700"/>
              </a:spcAft>
            </a:pPr>
            <a:r>
              <a:rPr sz="1230" b="0">
                <a:solidFill>
                  <a:srgbClr val="44585A"/>
                </a:solidFill>
                <a:latin typeface="Malgun Gothic"/>
              </a:rPr>
              <a:t>▸ Google 관리형 SSL 인증서 채택(자체 구매 인증서 아님) — 도메인 소유가 유지되는 한 자동 발급·자동 갱신되어, 만료로 인한 서비스 장애(장애 시나리오 9번)를 원천적으로 없앰. 비용도 발생하지 않음</a:t>
            </a:r>
          </a:p>
          <a:p>
            <a:pPr>
              <a:lnSpc>
                <a:spcPct val="118000"/>
              </a:lnSpc>
              <a:spcAft>
                <a:spcPts val="700"/>
              </a:spcAft>
            </a:pPr>
            <a:r>
              <a:rPr sz="1230" b="0">
                <a:solidFill>
                  <a:srgbClr val="44585A"/>
                </a:solidFill>
                <a:latin typeface="Malgun Gothic"/>
              </a:rPr>
              <a:t>▸ 전역(Global) LB 선택 — 리전(Regional) LB보다 상위 개념으로, 실제 서버는 서울 리전에만 두더라도 전역 anycast IP 자체가 전 세계 어디서든 가장 가까운 Google 엣지로 먼저 들어오게 해줘 국내 사용자에게도 체감 속도상 유리</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Web VM에 개별 공인 IP 부여 후 DNS 라운드로빈으로 분산 — 특정 서버 장애 시 DNS 캐시로 인해 사용자가 죽은 IP로 계속 접속 시도하는 문제, 각 서버마다 SSL 인증서 개별 관리 필요</a:t>
            </a:r>
          </a:p>
          <a:p>
            <a:pPr>
              <a:lnSpc>
                <a:spcPct val="118000"/>
              </a:lnSpc>
              <a:spcAft>
                <a:spcPts val="700"/>
              </a:spcAft>
            </a:pPr>
            <a:r>
              <a:rPr sz="1180" b="0">
                <a:solidFill>
                  <a:srgbClr val="44585A"/>
                </a:solidFill>
                <a:latin typeface="Malgun Gothic"/>
              </a:rPr>
              <a:t>▸ 리전(Regional) 외부 LB — 병원이 국내에만 있다는 이유로 검토했으나, 전역 LB와 비용 차이가 미미하고 향후 해외 접속(반려동물 동반 해외 이주 고객 등) 대응력도 더 좋아 전역을 채택</a:t>
            </a:r>
          </a:p>
          <a:p>
            <a:pPr>
              <a:lnSpc>
                <a:spcPct val="118000"/>
              </a:lnSpc>
              <a:spcAft>
                <a:spcPts val="700"/>
              </a:spcAft>
            </a:pPr>
            <a:r>
              <a:rPr sz="1180" b="0">
                <a:solidFill>
                  <a:srgbClr val="44585A"/>
                </a:solidFill>
                <a:latin typeface="Malgun Gothic"/>
              </a:rPr>
              <a:t>▸ 자체 구매/설치 SSL 인증서 — 매년 수동 갱신이 필요해 담당자가 놓치면 바로 서비스 장애로 이어지는 리스크, 관리형 인증서 대비 얻는 이점이 없음</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142232"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11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External LB 생성 — 화면 클릭 가이드</a:t>
            </a:r>
          </a:p>
        </p:txBody>
      </p:sp>
      <p:sp>
        <p:nvSpPr>
          <p:cNvPr id="4" name="Rectangle 3"/>
          <p:cNvSpPr/>
          <p:nvPr/>
        </p:nvSpPr>
        <p:spPr>
          <a:xfrm>
            <a:off x="502920" y="1205103"/>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11</a:t>
            </a:r>
          </a:p>
        </p:txBody>
      </p:sp>
      <p:sp>
        <p:nvSpPr>
          <p:cNvPr id="6" name="Rectangle 5"/>
          <p:cNvSpPr/>
          <p:nvPr/>
        </p:nvSpPr>
        <p:spPr>
          <a:xfrm>
            <a:off x="502920" y="1415415"/>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5415"/>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415415"/>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442847"/>
            <a:ext cx="10424160" cy="566928"/>
          </a:xfrm>
          <a:prstGeom prst="rect">
            <a:avLst/>
          </a:prstGeom>
          <a:noFill/>
        </p:spPr>
        <p:txBody>
          <a:bodyPr wrap="square" anchor="ctr">
            <a:spAutoFit/>
          </a:bodyPr>
          <a:lstStyle/>
          <a:p>
            <a:r>
              <a:rPr sz="1200">
                <a:solidFill>
                  <a:srgbClr val="132422"/>
                </a:solidFill>
                <a:latin typeface="Malgun Gothic"/>
              </a:rPr>
              <a:t>네트워크 서비스 ▸ 로드 밸런싱 ▸ '로드 밸런서 만들기' ▸ '애플리케이션 로드 밸런서(HTTP/S)' 선택 ▸ 공개(외부) ▸ 전역 워크로드 선택</a:t>
            </a:r>
          </a:p>
        </p:txBody>
      </p:sp>
      <p:sp>
        <p:nvSpPr>
          <p:cNvPr id="10" name="Rectangle 9"/>
          <p:cNvSpPr/>
          <p:nvPr/>
        </p:nvSpPr>
        <p:spPr>
          <a:xfrm>
            <a:off x="502920" y="2110359"/>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110359"/>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110359"/>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137791"/>
            <a:ext cx="10424160" cy="566928"/>
          </a:xfrm>
          <a:prstGeom prst="rect">
            <a:avLst/>
          </a:prstGeom>
          <a:noFill/>
        </p:spPr>
        <p:txBody>
          <a:bodyPr wrap="square" anchor="ctr">
            <a:spAutoFit/>
          </a:bodyPr>
          <a:lstStyle/>
          <a:p>
            <a:r>
              <a:rPr sz="1200">
                <a:solidFill>
                  <a:srgbClr val="132422"/>
                </a:solidFill>
                <a:latin typeface="Malgun Gothic"/>
              </a:rPr>
              <a:t>프런트엔드 구성 ▸ 프로토콜 HTTPS 선택 ▸ IP 주소 '새 고정 IP 예약'(이름 external-web-ip)</a:t>
            </a:r>
          </a:p>
        </p:txBody>
      </p:sp>
      <p:sp>
        <p:nvSpPr>
          <p:cNvPr id="14" name="Rectangle 13"/>
          <p:cNvSpPr/>
          <p:nvPr/>
        </p:nvSpPr>
        <p:spPr>
          <a:xfrm>
            <a:off x="502920" y="2805303"/>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2805303"/>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2805303"/>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2832735"/>
            <a:ext cx="10424160" cy="566928"/>
          </a:xfrm>
          <a:prstGeom prst="rect">
            <a:avLst/>
          </a:prstGeom>
          <a:noFill/>
        </p:spPr>
        <p:txBody>
          <a:bodyPr wrap="square" anchor="ctr">
            <a:spAutoFit/>
          </a:bodyPr>
          <a:lstStyle/>
          <a:p>
            <a:r>
              <a:rPr sz="1200">
                <a:solidFill>
                  <a:srgbClr val="132422"/>
                </a:solidFill>
                <a:latin typeface="Malgun Gothic"/>
              </a:rPr>
              <a:t>인증서 '새 인증서 만들기' ▸ 관리 방식 'Google 관리' 선택 ▸ 도메인 이름 입력(예: reservation.onnuri-vet.co.kr) ▸ 만들기</a:t>
            </a:r>
          </a:p>
        </p:txBody>
      </p:sp>
      <p:sp>
        <p:nvSpPr>
          <p:cNvPr id="18" name="Rectangle 17"/>
          <p:cNvSpPr/>
          <p:nvPr/>
        </p:nvSpPr>
        <p:spPr>
          <a:xfrm>
            <a:off x="502920" y="3500247"/>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500247"/>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500247"/>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527679"/>
            <a:ext cx="10424160" cy="566928"/>
          </a:xfrm>
          <a:prstGeom prst="rect">
            <a:avLst/>
          </a:prstGeom>
          <a:noFill/>
        </p:spPr>
        <p:txBody>
          <a:bodyPr wrap="square" anchor="ctr">
            <a:spAutoFit/>
          </a:bodyPr>
          <a:lstStyle/>
          <a:p>
            <a:r>
              <a:rPr sz="1200">
                <a:solidFill>
                  <a:srgbClr val="132422"/>
                </a:solidFill>
                <a:latin typeface="Malgun Gothic"/>
              </a:rPr>
              <a:t>백엔드 구성 ▸ '백엔드 서비스 만들기' ▸ 백엔드 유형 '인스턴스 그룹' ▸ web-mig 선택, 포트 80</a:t>
            </a:r>
          </a:p>
        </p:txBody>
      </p:sp>
      <p:sp>
        <p:nvSpPr>
          <p:cNvPr id="22" name="Rectangle 21"/>
          <p:cNvSpPr/>
          <p:nvPr/>
        </p:nvSpPr>
        <p:spPr>
          <a:xfrm>
            <a:off x="502920" y="4195191"/>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195191"/>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195191"/>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222623"/>
            <a:ext cx="10424160" cy="566928"/>
          </a:xfrm>
          <a:prstGeom prst="rect">
            <a:avLst/>
          </a:prstGeom>
          <a:noFill/>
        </p:spPr>
        <p:txBody>
          <a:bodyPr wrap="square" anchor="ctr">
            <a:spAutoFit/>
          </a:bodyPr>
          <a:lstStyle/>
          <a:p>
            <a:r>
              <a:rPr sz="1200">
                <a:solidFill>
                  <a:srgbClr val="132422"/>
                </a:solidFill>
                <a:latin typeface="Malgun Gothic"/>
              </a:rPr>
              <a:t>상태 확인: 8~9번에서 만든 Web용 상태 확인(포트 80) 선택</a:t>
            </a:r>
          </a:p>
        </p:txBody>
      </p:sp>
      <p:sp>
        <p:nvSpPr>
          <p:cNvPr id="26" name="Rectangle 25"/>
          <p:cNvSpPr/>
          <p:nvPr/>
        </p:nvSpPr>
        <p:spPr>
          <a:xfrm>
            <a:off x="502920" y="4890135"/>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4890135"/>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4890135"/>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4917567"/>
            <a:ext cx="10424160" cy="566928"/>
          </a:xfrm>
          <a:prstGeom prst="rect">
            <a:avLst/>
          </a:prstGeom>
          <a:noFill/>
        </p:spPr>
        <p:txBody>
          <a:bodyPr wrap="square" anchor="ctr">
            <a:spAutoFit/>
          </a:bodyPr>
          <a:lstStyle/>
          <a:p>
            <a:r>
              <a:rPr sz="1200">
                <a:solidFill>
                  <a:srgbClr val="132422"/>
                </a:solidFill>
                <a:latin typeface="Malgun Gothic"/>
              </a:rPr>
              <a:t>라우팅 규칙: 기본값 유지(모든 경로 요청을 위에서 만든 백엔드 서비스로 전달)</a:t>
            </a:r>
          </a:p>
        </p:txBody>
      </p:sp>
      <p:sp>
        <p:nvSpPr>
          <p:cNvPr id="30" name="Rectangle 29"/>
          <p:cNvSpPr/>
          <p:nvPr/>
        </p:nvSpPr>
        <p:spPr>
          <a:xfrm>
            <a:off x="502920" y="5585079"/>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5585079"/>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7</a:t>
            </a:r>
          </a:p>
        </p:txBody>
      </p:sp>
      <p:sp>
        <p:nvSpPr>
          <p:cNvPr id="32" name="Rectangle 31"/>
          <p:cNvSpPr/>
          <p:nvPr/>
        </p:nvSpPr>
        <p:spPr>
          <a:xfrm>
            <a:off x="1005840" y="5585079"/>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70432" y="5612511"/>
            <a:ext cx="10424160" cy="566928"/>
          </a:xfrm>
          <a:prstGeom prst="rect">
            <a:avLst/>
          </a:prstGeom>
          <a:noFill/>
        </p:spPr>
        <p:txBody>
          <a:bodyPr wrap="square" anchor="ctr">
            <a:spAutoFit/>
          </a:bodyPr>
          <a:lstStyle/>
          <a:p>
            <a:r>
              <a:rPr sz="1200">
                <a:solidFill>
                  <a:srgbClr val="132422"/>
                </a:solidFill>
                <a:latin typeface="Malgun Gothic"/>
              </a:rPr>
              <a:t>검토 및 완료 ▸ '만들기' 클릭 (전역 전파에 수 분 소요될 수 있음, 즉시 접속 안 돼도 정상)</a:t>
            </a:r>
          </a:p>
        </p:txBody>
      </p:sp>
      <p:sp>
        <p:nvSpPr>
          <p:cNvPr id="34" name="Rectangle 33"/>
          <p:cNvSpPr/>
          <p:nvPr/>
        </p:nvSpPr>
        <p:spPr>
          <a:xfrm>
            <a:off x="502920" y="6325743"/>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6353175"/>
            <a:ext cx="10789920" cy="457200"/>
          </a:xfrm>
          <a:prstGeom prst="rect">
            <a:avLst/>
          </a:prstGeom>
          <a:noFill/>
        </p:spPr>
        <p:txBody>
          <a:bodyPr wrap="square" anchor="ctr">
            <a:spAutoFit/>
          </a:bodyPr>
          <a:lstStyle/>
          <a:p>
            <a:r>
              <a:rPr sz="1100" b="1">
                <a:solidFill>
                  <a:srgbClr val="B4791F"/>
                </a:solidFill>
                <a:latin typeface="Malgun Gothic"/>
              </a:rPr>
              <a:t>💡 실수 방지 팁: 인증서 상태가 '프로비저닝 중'에서 '활성'으로 바뀌려면 DNS(13번 서비스)가 먼저 이 LB의 고정 IP를 가리키고 있어야 합니다. LB를 먼저 만들고 DNS를 나중에 연결하는 순서를 지키세요.</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83464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12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Armor (WAF / DDoS·속도 제한)</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12</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External LB 바로 앞단에 붙는 웹 애플리케이션 방화벽(WAF)이자 속도 제한(Rate Limiting) 정책입니다. 방화벽(VPC Firewall)이 IP/포트만 보는 것과 달리, 요청의 '내용'까지 검사합니다.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병원 예약 사이트는 인터넷에 완전히 공개되어 있어 자동화 봇의 무작위 예약폼 제출, SQL Injection 시도 등에 상시 노출 — VPC 방화벽은 이런 애플리케이션 레벨 공격을 막을 수 없어 별도 계층 필요</a:t>
            </a:r>
          </a:p>
          <a:p>
            <a:pPr>
              <a:lnSpc>
                <a:spcPct val="118000"/>
              </a:lnSpc>
              <a:spcAft>
                <a:spcPts val="700"/>
              </a:spcAft>
            </a:pPr>
            <a:r>
              <a:rPr sz="1230" b="0">
                <a:solidFill>
                  <a:srgbClr val="44585A"/>
                </a:solidFill>
                <a:latin typeface="Malgun Gothic"/>
              </a:rPr>
              <a:t>▸ OWASP 상위 위협 사전 구성 규칙 세트 적용(SQL Injection, XSS 등) — 직접 규칙을 하나하나 작성하지 않아도 널리 알려진 공격 패턴을 즉시 차단</a:t>
            </a:r>
          </a:p>
          <a:p>
            <a:pPr>
              <a:lnSpc>
                <a:spcPct val="118000"/>
              </a:lnSpc>
              <a:spcAft>
                <a:spcPts val="700"/>
              </a:spcAft>
            </a:pPr>
            <a:r>
              <a:rPr sz="1230" b="0">
                <a:solidFill>
                  <a:srgbClr val="44585A"/>
                </a:solidFill>
                <a:latin typeface="Malgun Gothic"/>
              </a:rPr>
              <a:t>▸ 속도 제한(Rate Limiting) 분당 100회/IP 설정 — 예약 폼에 대한 자동화 스팸 제출이나 무차별 대입 공격을 완화. 일반 사용자의 정상적인 사용 패턴(분당 수회 수준)에는 영향이 거의 없는 관대한 값</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방화벽 규칙만으로 대응 — IP/포트 단위 필터링만 가능해 애플리케이션 레벨 공격(SQL Injection 등)은 애초에 탐지·차단 대상이 아님</a:t>
            </a:r>
          </a:p>
          <a:p>
            <a:pPr>
              <a:lnSpc>
                <a:spcPct val="118000"/>
              </a:lnSpc>
              <a:spcAft>
                <a:spcPts val="700"/>
              </a:spcAft>
            </a:pPr>
            <a:r>
              <a:rPr sz="1180" b="0">
                <a:solidFill>
                  <a:srgbClr val="44585A"/>
                </a:solidFill>
                <a:latin typeface="Malgun Gothic"/>
              </a:rPr>
              <a:t>▸ 서드파티 WAF 어플라이언스(별도 VM/서비스) 도입 — External LB와 네이티브로 연동되는 Cloud Armor 대비 구성이 복잡하고 별도 관리·비용 부담 발생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142232"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12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Armor 정책 생성 — 화면 클릭 가이드</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12</a:t>
            </a:r>
          </a:p>
        </p:txBody>
      </p:sp>
      <p:sp>
        <p:nvSpPr>
          <p:cNvPr id="6" name="Rectangle 5"/>
          <p:cNvSpPr/>
          <p:nvPr/>
        </p:nvSpPr>
        <p:spPr>
          <a:xfrm>
            <a:off x="502920" y="169164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69164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69164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719072"/>
            <a:ext cx="10424160" cy="566928"/>
          </a:xfrm>
          <a:prstGeom prst="rect">
            <a:avLst/>
          </a:prstGeom>
          <a:noFill/>
        </p:spPr>
        <p:txBody>
          <a:bodyPr wrap="square" anchor="ctr">
            <a:spAutoFit/>
          </a:bodyPr>
          <a:lstStyle/>
          <a:p>
            <a:r>
              <a:rPr sz="1200">
                <a:solidFill>
                  <a:srgbClr val="132422"/>
                </a:solidFill>
                <a:latin typeface="Malgun Gothic"/>
              </a:rPr>
              <a:t>네트워크 보안 ▸ Cloud Armor ▸ '정책 만들기' ▸ 이름 petclinic-waf-policy</a:t>
            </a:r>
          </a:p>
        </p:txBody>
      </p:sp>
      <p:sp>
        <p:nvSpPr>
          <p:cNvPr id="10" name="Rectangle 9"/>
          <p:cNvSpPr/>
          <p:nvPr/>
        </p:nvSpPr>
        <p:spPr>
          <a:xfrm>
            <a:off x="502920" y="238658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38658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38658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414016"/>
            <a:ext cx="10424160" cy="566928"/>
          </a:xfrm>
          <a:prstGeom prst="rect">
            <a:avLst/>
          </a:prstGeom>
          <a:noFill/>
        </p:spPr>
        <p:txBody>
          <a:bodyPr wrap="square" anchor="ctr">
            <a:spAutoFit/>
          </a:bodyPr>
          <a:lstStyle/>
          <a:p>
            <a:r>
              <a:rPr sz="1200">
                <a:solidFill>
                  <a:srgbClr val="132422"/>
                </a:solidFill>
                <a:latin typeface="Malgun Gothic"/>
              </a:rPr>
              <a:t>규칙 추가 ▸ '사전 구성된 WAF 규칙' 선택 ▸ OWASP 상위 위협(SQLi, XSS 등) 규칙 세트 선택, 액션 '차단'</a:t>
            </a:r>
          </a:p>
        </p:txBody>
      </p:sp>
      <p:sp>
        <p:nvSpPr>
          <p:cNvPr id="14" name="Rectangle 13"/>
          <p:cNvSpPr/>
          <p:nvPr/>
        </p:nvSpPr>
        <p:spPr>
          <a:xfrm>
            <a:off x="502920" y="308152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08152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308152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3108960"/>
            <a:ext cx="10424160" cy="566928"/>
          </a:xfrm>
          <a:prstGeom prst="rect">
            <a:avLst/>
          </a:prstGeom>
          <a:noFill/>
        </p:spPr>
        <p:txBody>
          <a:bodyPr wrap="square" anchor="ctr">
            <a:spAutoFit/>
          </a:bodyPr>
          <a:lstStyle/>
          <a:p>
            <a:r>
              <a:rPr sz="1200">
                <a:solidFill>
                  <a:srgbClr val="132422"/>
                </a:solidFill>
                <a:latin typeface="Malgun Gothic"/>
              </a:rPr>
              <a:t>규칙 추가 ▸ '속도 기반 정책(Rate based ban)' 선택 ▸ 임계값 분당 100회/IP ▸ 초과 시 액션 '일시 차단(429 응답)', 차단 기간 5분</a:t>
            </a:r>
          </a:p>
        </p:txBody>
      </p:sp>
      <p:sp>
        <p:nvSpPr>
          <p:cNvPr id="18" name="Rectangle 17"/>
          <p:cNvSpPr/>
          <p:nvPr/>
        </p:nvSpPr>
        <p:spPr>
          <a:xfrm>
            <a:off x="502920" y="377647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77647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77647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803904"/>
            <a:ext cx="10424160" cy="566928"/>
          </a:xfrm>
          <a:prstGeom prst="rect">
            <a:avLst/>
          </a:prstGeom>
          <a:noFill/>
        </p:spPr>
        <p:txBody>
          <a:bodyPr wrap="square" anchor="ctr">
            <a:spAutoFit/>
          </a:bodyPr>
          <a:lstStyle/>
          <a:p>
            <a:r>
              <a:rPr sz="1200">
                <a:solidFill>
                  <a:srgbClr val="132422"/>
                </a:solidFill>
                <a:latin typeface="Malgun Gothic"/>
              </a:rPr>
              <a:t>적용 대상 ▸ 11번에서 만든 External LB의 백엔드 서비스(web-backend-service) 선택해 정책 연결</a:t>
            </a:r>
          </a:p>
        </p:txBody>
      </p:sp>
      <p:sp>
        <p:nvSpPr>
          <p:cNvPr id="22" name="Rectangle 21"/>
          <p:cNvSpPr/>
          <p:nvPr/>
        </p:nvSpPr>
        <p:spPr>
          <a:xfrm>
            <a:off x="502920" y="447141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47141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47141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498848"/>
            <a:ext cx="10424160" cy="566928"/>
          </a:xfrm>
          <a:prstGeom prst="rect">
            <a:avLst/>
          </a:prstGeom>
          <a:noFill/>
        </p:spPr>
        <p:txBody>
          <a:bodyPr wrap="square" anchor="ctr">
            <a:spAutoFit/>
          </a:bodyPr>
          <a:lstStyle/>
          <a:p>
            <a:r>
              <a:rPr sz="1200">
                <a:solidFill>
                  <a:srgbClr val="132422"/>
                </a:solidFill>
                <a:latin typeface="Malgun Gothic"/>
              </a:rPr>
              <a:t>'만들기' 클릭</a:t>
            </a:r>
          </a:p>
        </p:txBody>
      </p:sp>
      <p:sp>
        <p:nvSpPr>
          <p:cNvPr id="26" name="Rectangle 25"/>
          <p:cNvSpPr/>
          <p:nvPr/>
        </p:nvSpPr>
        <p:spPr>
          <a:xfrm>
            <a:off x="502920" y="5212080"/>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5239512"/>
            <a:ext cx="10789920" cy="457200"/>
          </a:xfrm>
          <a:prstGeom prst="rect">
            <a:avLst/>
          </a:prstGeom>
          <a:noFill/>
        </p:spPr>
        <p:txBody>
          <a:bodyPr wrap="square" anchor="ctr">
            <a:spAutoFit/>
          </a:bodyPr>
          <a:lstStyle/>
          <a:p>
            <a:r>
              <a:rPr sz="1100" b="1">
                <a:solidFill>
                  <a:srgbClr val="B4791F"/>
                </a:solidFill>
                <a:latin typeface="Malgun Gothic"/>
              </a:rPr>
              <a:t>💡 실수 방지 팁: 정책을 만드는 것과 '백엔드 서비스에 연결'하는 것은 별개 단계입니다. 정책만 만들고 연결을 빼먹으면 아무 효과가 없으니 마지막 연결 단계를 꼭 확인하세요.</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83464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13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DNS</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13</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병원 도메인 이름(예: reservation.onnuri-vet.co.kr)을 실제 서버 IP로 바꿔주는 GCP의 관리형 DNS 서비스입니다.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기존에 쓰던 도메인 등록업체(가비아 등)의 DNS를 그대로 써도 동작은 하지만, Cloud DNS로 이관하면 인프라 변경(IP 교체 등) 시 GCP 콘솔 한 곳에서 즉시 반영 가능</a:t>
            </a:r>
          </a:p>
          <a:p>
            <a:pPr>
              <a:lnSpc>
                <a:spcPct val="118000"/>
              </a:lnSpc>
              <a:spcAft>
                <a:spcPts val="700"/>
              </a:spcAft>
            </a:pPr>
            <a:r>
              <a:rPr sz="1230" b="0">
                <a:solidFill>
                  <a:srgbClr val="44585A"/>
                </a:solidFill>
                <a:latin typeface="Malgun Gothic"/>
              </a:rPr>
              <a:t>▸ IAM 권한으로 'DNS 레코드를 변경할 수 있는 사람'까지 최소 권한으로 통제 가능 — 도메인 등록업체 계정을 여러 사람이 공유하는 것보다 감사 추적이 명확</a:t>
            </a:r>
          </a:p>
          <a:p>
            <a:pPr>
              <a:lnSpc>
                <a:spcPct val="118000"/>
              </a:lnSpc>
              <a:spcAft>
                <a:spcPts val="700"/>
              </a:spcAft>
            </a:pPr>
            <a:r>
              <a:rPr sz="1230" b="0">
                <a:solidFill>
                  <a:srgbClr val="44585A"/>
                </a:solidFill>
                <a:latin typeface="Malgun Gothic"/>
              </a:rPr>
              <a:t>▸ 이번 프로젝트는 필수가 아닌 '관리 일원화' 목적의 선택 — 일정이 촉박하면 기존 DNS 업체에 A레코드만 추가해도 기능상 동일하게 동작</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기존 도메인 업체 DNS를 그대로 유지 — 기능적으로는 문제 없으나, 인프라 변경 시마다 별도 콘솔에 로그인해야 하는 번거로움과 접근 권한 관리가 GCP IAM 밖에서 이뤄지는 한계</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142232"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13 · 콘솔 작업 순서 · 담당: NET</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DNS 설정 — 화면 클릭 가이드</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13</a:t>
            </a:r>
          </a:p>
        </p:txBody>
      </p:sp>
      <p:sp>
        <p:nvSpPr>
          <p:cNvPr id="6" name="Rectangle 5"/>
          <p:cNvSpPr/>
          <p:nvPr/>
        </p:nvSpPr>
        <p:spPr>
          <a:xfrm>
            <a:off x="502920" y="169164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69164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69164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719072"/>
            <a:ext cx="10424160" cy="566928"/>
          </a:xfrm>
          <a:prstGeom prst="rect">
            <a:avLst/>
          </a:prstGeom>
          <a:noFill/>
        </p:spPr>
        <p:txBody>
          <a:bodyPr wrap="square" anchor="ctr">
            <a:spAutoFit/>
          </a:bodyPr>
          <a:lstStyle/>
          <a:p>
            <a:r>
              <a:rPr sz="1200">
                <a:solidFill>
                  <a:srgbClr val="132422"/>
                </a:solidFill>
                <a:latin typeface="Malgun Gothic"/>
              </a:rPr>
              <a:t>네트워크 서비스 ▸ Cloud DNS ▸ '영역 만들기' ▸ 영역 유형 '공개' 선택</a:t>
            </a:r>
          </a:p>
        </p:txBody>
      </p:sp>
      <p:sp>
        <p:nvSpPr>
          <p:cNvPr id="10" name="Rectangle 9"/>
          <p:cNvSpPr/>
          <p:nvPr/>
        </p:nvSpPr>
        <p:spPr>
          <a:xfrm>
            <a:off x="502920" y="238658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38658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38658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414016"/>
            <a:ext cx="10424160" cy="566928"/>
          </a:xfrm>
          <a:prstGeom prst="rect">
            <a:avLst/>
          </a:prstGeom>
          <a:noFill/>
        </p:spPr>
        <p:txBody>
          <a:bodyPr wrap="square" anchor="ctr">
            <a:spAutoFit/>
          </a:bodyPr>
          <a:lstStyle/>
          <a:p>
            <a:r>
              <a:rPr sz="1200">
                <a:solidFill>
                  <a:srgbClr val="132422"/>
                </a:solidFill>
                <a:latin typeface="Malgun Gothic"/>
              </a:rPr>
              <a:t>영역 이름: petclinic-zone, DNS 이름: onnuri-vet.co.kr 입력 후 만들기</a:t>
            </a:r>
          </a:p>
        </p:txBody>
      </p:sp>
      <p:sp>
        <p:nvSpPr>
          <p:cNvPr id="14" name="Rectangle 13"/>
          <p:cNvSpPr/>
          <p:nvPr/>
        </p:nvSpPr>
        <p:spPr>
          <a:xfrm>
            <a:off x="502920" y="308152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08152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308152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3108960"/>
            <a:ext cx="10424160" cy="566928"/>
          </a:xfrm>
          <a:prstGeom prst="rect">
            <a:avLst/>
          </a:prstGeom>
          <a:noFill/>
        </p:spPr>
        <p:txBody>
          <a:bodyPr wrap="square" anchor="ctr">
            <a:spAutoFit/>
          </a:bodyPr>
          <a:lstStyle/>
          <a:p>
            <a:r>
              <a:rPr sz="1200">
                <a:solidFill>
                  <a:srgbClr val="132422"/>
                </a:solidFill>
                <a:latin typeface="Malgun Gothic"/>
              </a:rPr>
              <a:t>생성된 영역 상세 화면에서 네임서버 4개 목록 확인(예: ns-cloud-a1.googledomains.com 등) 복사</a:t>
            </a:r>
          </a:p>
        </p:txBody>
      </p:sp>
      <p:sp>
        <p:nvSpPr>
          <p:cNvPr id="18" name="Rectangle 17"/>
          <p:cNvSpPr/>
          <p:nvPr/>
        </p:nvSpPr>
        <p:spPr>
          <a:xfrm>
            <a:off x="502920" y="377647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77647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77647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803904"/>
            <a:ext cx="10424160" cy="566928"/>
          </a:xfrm>
          <a:prstGeom prst="rect">
            <a:avLst/>
          </a:prstGeom>
          <a:noFill/>
        </p:spPr>
        <p:txBody>
          <a:bodyPr wrap="square" anchor="ctr">
            <a:spAutoFit/>
          </a:bodyPr>
          <a:lstStyle/>
          <a:p>
            <a:r>
              <a:rPr sz="1200">
                <a:solidFill>
                  <a:srgbClr val="132422"/>
                </a:solidFill>
                <a:latin typeface="Malgun Gothic"/>
              </a:rPr>
              <a:t>기존 도메인 등록업체(가비아 등) 관리 콘솔에 접속 ▸ 네임서버 설정을 3단계에서 복사한 값 4개로 교체(전파까지 최대 48시간 소요될 수 있으므로 D-day 전 미리 처리)</a:t>
            </a:r>
          </a:p>
        </p:txBody>
      </p:sp>
      <p:sp>
        <p:nvSpPr>
          <p:cNvPr id="22" name="Rectangle 21"/>
          <p:cNvSpPr/>
          <p:nvPr/>
        </p:nvSpPr>
        <p:spPr>
          <a:xfrm>
            <a:off x="502920" y="447141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47141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47141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498848"/>
            <a:ext cx="10424160" cy="566928"/>
          </a:xfrm>
          <a:prstGeom prst="rect">
            <a:avLst/>
          </a:prstGeom>
          <a:noFill/>
        </p:spPr>
        <p:txBody>
          <a:bodyPr wrap="square" anchor="ctr">
            <a:spAutoFit/>
          </a:bodyPr>
          <a:lstStyle/>
          <a:p>
            <a:r>
              <a:rPr sz="1200">
                <a:solidFill>
                  <a:srgbClr val="132422"/>
                </a:solidFill>
                <a:latin typeface="Malgun Gothic"/>
              </a:rPr>
              <a:t>Cloud DNS 영역으로 돌아와 '레코드 세트 추가' ▸ 유형 A ▸ 이름 reservation ▸ TTL 300 ▸ IPv4 주소에 11번 External LB의 고정 IP 입력 ▸ 만들기</a:t>
            </a:r>
          </a:p>
        </p:txBody>
      </p:sp>
      <p:sp>
        <p:nvSpPr>
          <p:cNvPr id="26" name="Rectangle 25"/>
          <p:cNvSpPr/>
          <p:nvPr/>
        </p:nvSpPr>
        <p:spPr>
          <a:xfrm>
            <a:off x="502920" y="5212080"/>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5800" y="5239512"/>
            <a:ext cx="10789920" cy="457200"/>
          </a:xfrm>
          <a:prstGeom prst="rect">
            <a:avLst/>
          </a:prstGeom>
          <a:noFill/>
        </p:spPr>
        <p:txBody>
          <a:bodyPr wrap="square" anchor="ctr">
            <a:spAutoFit/>
          </a:bodyPr>
          <a:lstStyle/>
          <a:p>
            <a:r>
              <a:rPr sz="1100" b="1">
                <a:solidFill>
                  <a:srgbClr val="B4791F"/>
                </a:solidFill>
                <a:latin typeface="Malgun Gothic"/>
              </a:rPr>
              <a:t>💡 실수 방지 팁: 네임서버를 바꾸는 순간 바로 반영되지 않을 수 있습니다. 초조해하지 말고 nslookup이나 온라인 DNS 전파 확인 도구로 상태를 지켜보며 기다리세요.</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4E47"/>
        </a:solidFill>
        <a:effectLst/>
      </p:bgPr>
    </p:bg>
    <p:spTree>
      <p:nvGrpSpPr>
        <p:cNvPr id="1" name=""/>
        <p:cNvGrpSpPr/>
        <p:nvPr/>
      </p:nvGrpSpPr>
      <p:grpSpPr>
        <a:xfrm>
          <a:off x="0" y="0"/>
          <a:ext cx="0" cy="0"/>
          <a:chOff x="0" y="0"/>
          <a:chExt cx="0" cy="0"/>
        </a:xfrm>
      </p:grpSpPr>
      <p:sp>
        <p:nvSpPr>
          <p:cNvPr id="2" name="TextBox 1"/>
          <p:cNvSpPr txBox="1"/>
          <p:nvPr/>
        </p:nvSpPr>
        <p:spPr>
          <a:xfrm>
            <a:off x="731520" y="2377440"/>
            <a:ext cx="2743200" cy="1280160"/>
          </a:xfrm>
          <a:prstGeom prst="rect">
            <a:avLst/>
          </a:prstGeom>
          <a:noFill/>
        </p:spPr>
        <p:txBody>
          <a:bodyPr wrap="square">
            <a:spAutoFit/>
          </a:bodyPr>
          <a:lstStyle/>
          <a:p>
            <a:pPr algn="l">
              <a:lnSpc>
                <a:spcPct val="115000"/>
              </a:lnSpc>
            </a:pPr>
            <a:r>
              <a:rPr sz="7200" b="1">
                <a:solidFill>
                  <a:srgbClr val="3F9A88"/>
                </a:solidFill>
                <a:latin typeface="Malgun Gothic"/>
              </a:rPr>
              <a:t>05</a:t>
            </a:r>
          </a:p>
        </p:txBody>
      </p:sp>
      <p:sp>
        <p:nvSpPr>
          <p:cNvPr id="3" name="TextBox 2"/>
          <p:cNvSpPr txBox="1"/>
          <p:nvPr/>
        </p:nvSpPr>
        <p:spPr>
          <a:xfrm>
            <a:off x="777240" y="3566160"/>
            <a:ext cx="10058400" cy="914400"/>
          </a:xfrm>
          <a:prstGeom prst="rect">
            <a:avLst/>
          </a:prstGeom>
          <a:noFill/>
        </p:spPr>
        <p:txBody>
          <a:bodyPr wrap="square">
            <a:spAutoFit/>
          </a:bodyPr>
          <a:lstStyle/>
          <a:p>
            <a:pPr algn="l">
              <a:lnSpc>
                <a:spcPct val="115000"/>
              </a:lnSpc>
            </a:pPr>
            <a:r>
              <a:rPr sz="3400" b="1">
                <a:solidFill>
                  <a:srgbClr val="FFFFFF"/>
                </a:solidFill>
                <a:latin typeface="Malgun Gothic"/>
              </a:rPr>
              <a:t>관측성</a:t>
            </a:r>
          </a:p>
        </p:txBody>
      </p:sp>
      <p:sp>
        <p:nvSpPr>
          <p:cNvPr id="4" name="TextBox 3"/>
          <p:cNvSpPr txBox="1"/>
          <p:nvPr/>
        </p:nvSpPr>
        <p:spPr>
          <a:xfrm>
            <a:off x="804672" y="4343400"/>
            <a:ext cx="9601200" cy="914400"/>
          </a:xfrm>
          <a:prstGeom prst="rect">
            <a:avLst/>
          </a:prstGeom>
          <a:noFill/>
        </p:spPr>
        <p:txBody>
          <a:bodyPr wrap="square">
            <a:spAutoFit/>
          </a:bodyPr>
          <a:lstStyle/>
          <a:p>
            <a:pPr algn="l">
              <a:lnSpc>
                <a:spcPct val="115000"/>
              </a:lnSpc>
            </a:pPr>
            <a:r>
              <a:rPr sz="1500" b="0">
                <a:solidFill>
                  <a:srgbClr val="DCF3EE"/>
                </a:solidFill>
                <a:latin typeface="Malgun Gothic"/>
              </a:rPr>
              <a:t>장애는 '감지'가 되어야 '대응'도 가능합니다. 10가지 장애 시나리오 대응 체계의 전제 조건입니다.</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283464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14 · 담당: DBM</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Cloud Monitoring + 알림 정책</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14</a:t>
            </a:r>
          </a:p>
        </p:txBody>
      </p:sp>
      <p:sp>
        <p:nvSpPr>
          <p:cNvPr id="6" name="Rectangle 5"/>
          <p:cNvSpPr/>
          <p:nvPr/>
        </p:nvSpPr>
        <p:spPr>
          <a:xfrm>
            <a:off x="502920" y="1691640"/>
            <a:ext cx="11201400" cy="96012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64792"/>
            <a:ext cx="1463040" cy="274320"/>
          </a:xfrm>
          <a:prstGeom prst="rect">
            <a:avLst/>
          </a:prstGeom>
          <a:noFill/>
        </p:spPr>
        <p:txBody>
          <a:bodyPr wrap="square">
            <a:spAutoFit/>
          </a:bodyPr>
          <a:lstStyle/>
          <a:p>
            <a:pPr algn="l">
              <a:lnSpc>
                <a:spcPct val="115000"/>
              </a:lnSpc>
            </a:pPr>
            <a:r>
              <a:rPr sz="1100" b="1">
                <a:solidFill>
                  <a:srgbClr val="0A4E47"/>
                </a:solidFill>
                <a:latin typeface="Malgun Gothic"/>
              </a:rPr>
              <a:t>정의</a:t>
            </a:r>
          </a:p>
        </p:txBody>
      </p:sp>
      <p:sp>
        <p:nvSpPr>
          <p:cNvPr id="8" name="TextBox 7"/>
          <p:cNvSpPr txBox="1"/>
          <p:nvPr/>
        </p:nvSpPr>
        <p:spPr>
          <a:xfrm>
            <a:off x="685800" y="2011680"/>
            <a:ext cx="10789920" cy="594360"/>
          </a:xfrm>
          <a:prstGeom prst="rect">
            <a:avLst/>
          </a:prstGeom>
          <a:noFill/>
        </p:spPr>
        <p:txBody>
          <a:bodyPr wrap="square">
            <a:spAutoFit/>
          </a:bodyPr>
          <a:lstStyle/>
          <a:p>
            <a:pPr algn="l">
              <a:lnSpc>
                <a:spcPct val="115000"/>
              </a:lnSpc>
            </a:pPr>
            <a:r>
              <a:rPr sz="1250" b="0">
                <a:solidFill>
                  <a:srgbClr val="44585A"/>
                </a:solidFill>
                <a:latin typeface="Malgun Gothic"/>
              </a:rPr>
              <a:t>VM, 로드밸런서, Cloud SQL 등 모든 리소스의 지표(CPU, 응답률, 디스크 사용량 등)를 한곳에 모아 보여주고, 임계치를 넘으면 담당자에게 자동으로 알려주는 관측 도구입니다.</a:t>
            </a:r>
          </a:p>
        </p:txBody>
      </p:sp>
      <p:sp>
        <p:nvSpPr>
          <p:cNvPr id="9" name="Rectangle 8"/>
          <p:cNvSpPr/>
          <p:nvPr/>
        </p:nvSpPr>
        <p:spPr>
          <a:xfrm>
            <a:off x="502920" y="2788920"/>
            <a:ext cx="6720840" cy="3520440"/>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898648"/>
            <a:ext cx="3657600" cy="274320"/>
          </a:xfrm>
          <a:prstGeom prst="rect">
            <a:avLst/>
          </a:prstGeom>
          <a:noFill/>
        </p:spPr>
        <p:txBody>
          <a:bodyPr wrap="square">
            <a:spAutoFit/>
          </a:bodyPr>
          <a:lstStyle/>
          <a:p>
            <a:pPr algn="l">
              <a:lnSpc>
                <a:spcPct val="115000"/>
              </a:lnSpc>
            </a:pPr>
            <a:r>
              <a:rPr sz="1200" b="1">
                <a:solidFill>
                  <a:srgbClr val="0A4E47"/>
                </a:solidFill>
                <a:latin typeface="Malgun Gothic"/>
              </a:rPr>
              <a:t>왜 이 서비스·설정을 선택했는가</a:t>
            </a:r>
          </a:p>
        </p:txBody>
      </p:sp>
      <p:sp>
        <p:nvSpPr>
          <p:cNvPr id="11" name="TextBox 10"/>
          <p:cNvSpPr txBox="1"/>
          <p:nvPr/>
        </p:nvSpPr>
        <p:spPr>
          <a:xfrm>
            <a:off x="685800" y="3246120"/>
            <a:ext cx="6309360" cy="2926080"/>
          </a:xfrm>
          <a:prstGeom prst="rect">
            <a:avLst/>
          </a:prstGeom>
          <a:noFill/>
        </p:spPr>
        <p:txBody>
          <a:bodyPr wrap="square">
            <a:spAutoFit/>
          </a:bodyPr>
          <a:lstStyle/>
          <a:p>
            <a:pPr>
              <a:lnSpc>
                <a:spcPct val="118000"/>
              </a:lnSpc>
              <a:spcAft>
                <a:spcPts val="700"/>
              </a:spcAft>
            </a:pPr>
            <a:r>
              <a:rPr sz="1230" b="0">
                <a:solidFill>
                  <a:srgbClr val="44585A"/>
                </a:solidFill>
                <a:latin typeface="Malgun Gothic"/>
              </a:rPr>
              <a:t>▸ 장애 시나리오 10건 중 다수(과부하, 디스크 포화 등)는 '누군가 계속 화면을 들여다보고 있어야' 알 수 있는 유형 — 사람이 24시간 모니터링할 수 없으므로 자동 감지+알림이 대응 체계 전체의 전제 조건</a:t>
            </a:r>
          </a:p>
          <a:p>
            <a:pPr>
              <a:lnSpc>
                <a:spcPct val="118000"/>
              </a:lnSpc>
              <a:spcAft>
                <a:spcPts val="700"/>
              </a:spcAft>
            </a:pPr>
            <a:r>
              <a:rPr sz="1230" b="0">
                <a:solidFill>
                  <a:srgbClr val="44585A"/>
                </a:solidFill>
                <a:latin typeface="Malgun Gothic"/>
              </a:rPr>
              <a:t>▸ 3대 핵심 알림 정책: VM CPU 80% 이상 5분 지속, External LB 5xx 응답률 5% 초과, Cloud SQL 디스크 사용률 80% 이상 — 각각 장애 시나리오 2번, 여러 장애 상황, 7번에 직접 대응</a:t>
            </a:r>
          </a:p>
          <a:p>
            <a:pPr>
              <a:lnSpc>
                <a:spcPct val="118000"/>
              </a:lnSpc>
              <a:spcAft>
                <a:spcPts val="700"/>
              </a:spcAft>
            </a:pPr>
            <a:r>
              <a:rPr sz="1230" b="0">
                <a:solidFill>
                  <a:srgbClr val="44585A"/>
                </a:solidFill>
                <a:latin typeface="Malgun Gothic"/>
              </a:rPr>
              <a:t>▸ 대시보드로 지표를 한 화면에 시각화 — 장애 발생 시 '어디서부터 봐야 하는지' 빠르게 파악 가능</a:t>
            </a:r>
          </a:p>
        </p:txBody>
      </p:sp>
      <p:sp>
        <p:nvSpPr>
          <p:cNvPr id="12" name="Rectangle 11"/>
          <p:cNvSpPr/>
          <p:nvPr/>
        </p:nvSpPr>
        <p:spPr>
          <a:xfrm>
            <a:off x="7360920" y="2788920"/>
            <a:ext cx="4343400" cy="3520440"/>
          </a:xfrm>
          <a:prstGeom prst="rect">
            <a:avLst/>
          </a:prstGeom>
          <a:solidFill>
            <a:srgbClr val="F6E1E1"/>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43800" y="2898648"/>
            <a:ext cx="3931920" cy="274320"/>
          </a:xfrm>
          <a:prstGeom prst="rect">
            <a:avLst/>
          </a:prstGeom>
          <a:noFill/>
        </p:spPr>
        <p:txBody>
          <a:bodyPr wrap="square">
            <a:spAutoFit/>
          </a:bodyPr>
          <a:lstStyle/>
          <a:p>
            <a:pPr algn="l">
              <a:lnSpc>
                <a:spcPct val="115000"/>
              </a:lnSpc>
            </a:pPr>
            <a:r>
              <a:rPr sz="1200" b="1">
                <a:solidFill>
                  <a:srgbClr val="AE3B3B"/>
                </a:solidFill>
                <a:latin typeface="Malgun Gothic"/>
              </a:rPr>
              <a:t>검토했지만 기각한 대안</a:t>
            </a:r>
          </a:p>
        </p:txBody>
      </p:sp>
      <p:sp>
        <p:nvSpPr>
          <p:cNvPr id="14" name="TextBox 13"/>
          <p:cNvSpPr txBox="1"/>
          <p:nvPr/>
        </p:nvSpPr>
        <p:spPr>
          <a:xfrm>
            <a:off x="7543800" y="3246120"/>
            <a:ext cx="4023360" cy="2926080"/>
          </a:xfrm>
          <a:prstGeom prst="rect">
            <a:avLst/>
          </a:prstGeom>
          <a:noFill/>
        </p:spPr>
        <p:txBody>
          <a:bodyPr wrap="square">
            <a:spAutoFit/>
          </a:bodyPr>
          <a:lstStyle/>
          <a:p>
            <a:pPr>
              <a:lnSpc>
                <a:spcPct val="118000"/>
              </a:lnSpc>
              <a:spcAft>
                <a:spcPts val="700"/>
              </a:spcAft>
            </a:pPr>
            <a:r>
              <a:rPr sz="1180" b="0">
                <a:solidFill>
                  <a:srgbClr val="44585A"/>
                </a:solidFill>
                <a:latin typeface="Malgun Gothic"/>
              </a:rPr>
              <a:t>▸ 로그만 남기고 알림은 설정하지 않음 — 문제가 실제 서비스 장애로 커진 뒤에야 사후 확인 가능, 선제 대응이 불가능</a:t>
            </a:r>
          </a:p>
          <a:p>
            <a:pPr>
              <a:lnSpc>
                <a:spcPct val="118000"/>
              </a:lnSpc>
              <a:spcAft>
                <a:spcPts val="700"/>
              </a:spcAft>
            </a:pPr>
            <a:r>
              <a:rPr sz="1180" b="0">
                <a:solidFill>
                  <a:srgbClr val="44585A"/>
                </a:solidFill>
                <a:latin typeface="Malgun Gothic"/>
              </a:rPr>
              <a:t>▸ 각 팀원이 수시로 콘솔에 들어가 수동 확인 — 사람이 놓칠 수밖에 없는 구조, 특히 야간·주말 장애에 취약</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4142232"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SERVICE 14 · 콘솔 작업 순서 · 담당: DBM</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알림 정책 + 대시보드 생성 — 화면 클릭 가이드</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55680" y="292608"/>
            <a:ext cx="822960" cy="365760"/>
          </a:xfrm>
          <a:prstGeom prst="rect">
            <a:avLst/>
          </a:prstGeom>
          <a:noFill/>
        </p:spPr>
        <p:txBody>
          <a:bodyPr wrap="square">
            <a:spAutoFit/>
          </a:bodyPr>
          <a:lstStyle/>
          <a:p>
            <a:pPr algn="r">
              <a:lnSpc>
                <a:spcPct val="115000"/>
              </a:lnSpc>
            </a:pPr>
            <a:r>
              <a:rPr sz="1100" b="0">
                <a:solidFill>
                  <a:srgbClr val="44585A"/>
                </a:solidFill>
                <a:latin typeface="Malgun Gothic"/>
              </a:rPr>
              <a:t>14</a:t>
            </a:r>
          </a:p>
        </p:txBody>
      </p:sp>
      <p:sp>
        <p:nvSpPr>
          <p:cNvPr id="6" name="Rectangle 5"/>
          <p:cNvSpPr/>
          <p:nvPr/>
        </p:nvSpPr>
        <p:spPr>
          <a:xfrm>
            <a:off x="502920" y="169164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69164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1</a:t>
            </a:r>
          </a:p>
        </p:txBody>
      </p:sp>
      <p:sp>
        <p:nvSpPr>
          <p:cNvPr id="8" name="Rectangle 7"/>
          <p:cNvSpPr/>
          <p:nvPr/>
        </p:nvSpPr>
        <p:spPr>
          <a:xfrm>
            <a:off x="1005840" y="169164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1719072"/>
            <a:ext cx="10424160" cy="566928"/>
          </a:xfrm>
          <a:prstGeom prst="rect">
            <a:avLst/>
          </a:prstGeom>
          <a:noFill/>
        </p:spPr>
        <p:txBody>
          <a:bodyPr wrap="square" anchor="ctr">
            <a:spAutoFit/>
          </a:bodyPr>
          <a:lstStyle/>
          <a:p>
            <a:r>
              <a:rPr sz="1200">
                <a:solidFill>
                  <a:srgbClr val="132422"/>
                </a:solidFill>
                <a:latin typeface="Malgun Gothic"/>
              </a:rPr>
              <a:t>모니터링 ▸ 알림 ▸ '알림 정책 만들기'</a:t>
            </a:r>
          </a:p>
        </p:txBody>
      </p:sp>
      <p:sp>
        <p:nvSpPr>
          <p:cNvPr id="10" name="Rectangle 9"/>
          <p:cNvSpPr/>
          <p:nvPr/>
        </p:nvSpPr>
        <p:spPr>
          <a:xfrm>
            <a:off x="502920" y="2386584"/>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2386584"/>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2</a:t>
            </a:r>
          </a:p>
        </p:txBody>
      </p:sp>
      <p:sp>
        <p:nvSpPr>
          <p:cNvPr id="12" name="Rectangle 11"/>
          <p:cNvSpPr/>
          <p:nvPr/>
        </p:nvSpPr>
        <p:spPr>
          <a:xfrm>
            <a:off x="1005840" y="2386584"/>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70432" y="2414016"/>
            <a:ext cx="10424160" cy="566928"/>
          </a:xfrm>
          <a:prstGeom prst="rect">
            <a:avLst/>
          </a:prstGeom>
          <a:noFill/>
        </p:spPr>
        <p:txBody>
          <a:bodyPr wrap="square" anchor="ctr">
            <a:spAutoFit/>
          </a:bodyPr>
          <a:lstStyle/>
          <a:p>
            <a:r>
              <a:rPr sz="1200">
                <a:solidFill>
                  <a:srgbClr val="132422"/>
                </a:solidFill>
                <a:latin typeface="Malgun Gothic"/>
              </a:rPr>
              <a:t>측정 항목 선택 ▸ 'VM Instance' ▸ 'CPU 사용률' ▸ 리소스로 web-mig, was-mig 선택 ▸ 조건 '5분 평균이 80% 초과'</a:t>
            </a:r>
          </a:p>
        </p:txBody>
      </p:sp>
      <p:sp>
        <p:nvSpPr>
          <p:cNvPr id="14" name="Rectangle 13"/>
          <p:cNvSpPr/>
          <p:nvPr/>
        </p:nvSpPr>
        <p:spPr>
          <a:xfrm>
            <a:off x="502920" y="3081528"/>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3081528"/>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3</a:t>
            </a:r>
          </a:p>
        </p:txBody>
      </p:sp>
      <p:sp>
        <p:nvSpPr>
          <p:cNvPr id="16" name="Rectangle 15"/>
          <p:cNvSpPr/>
          <p:nvPr/>
        </p:nvSpPr>
        <p:spPr>
          <a:xfrm>
            <a:off x="1005840" y="3081528"/>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70432" y="3108960"/>
            <a:ext cx="10424160" cy="566928"/>
          </a:xfrm>
          <a:prstGeom prst="rect">
            <a:avLst/>
          </a:prstGeom>
          <a:noFill/>
        </p:spPr>
        <p:txBody>
          <a:bodyPr wrap="square" anchor="ctr">
            <a:spAutoFit/>
          </a:bodyPr>
          <a:lstStyle/>
          <a:p>
            <a:r>
              <a:rPr sz="1200">
                <a:solidFill>
                  <a:srgbClr val="132422"/>
                </a:solidFill>
                <a:latin typeface="Malgun Gothic"/>
              </a:rPr>
              <a:t>알림 채널 추가 ▸ '이메일 채널 만들기' ▸ 담당자 이메일 입력(팀원 전원 등록 권장)</a:t>
            </a:r>
          </a:p>
        </p:txBody>
      </p:sp>
      <p:sp>
        <p:nvSpPr>
          <p:cNvPr id="18" name="Rectangle 17"/>
          <p:cNvSpPr/>
          <p:nvPr/>
        </p:nvSpPr>
        <p:spPr>
          <a:xfrm>
            <a:off x="502920" y="3776472"/>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3776472"/>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4</a:t>
            </a:r>
          </a:p>
        </p:txBody>
      </p:sp>
      <p:sp>
        <p:nvSpPr>
          <p:cNvPr id="20" name="Rectangle 19"/>
          <p:cNvSpPr/>
          <p:nvPr/>
        </p:nvSpPr>
        <p:spPr>
          <a:xfrm>
            <a:off x="1005840" y="3776472"/>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170432" y="3803904"/>
            <a:ext cx="10424160" cy="566928"/>
          </a:xfrm>
          <a:prstGeom prst="rect">
            <a:avLst/>
          </a:prstGeom>
          <a:noFill/>
        </p:spPr>
        <p:txBody>
          <a:bodyPr wrap="square" anchor="ctr">
            <a:spAutoFit/>
          </a:bodyPr>
          <a:lstStyle/>
          <a:p>
            <a:r>
              <a:rPr sz="1200">
                <a:solidFill>
                  <a:srgbClr val="132422"/>
                </a:solidFill>
                <a:latin typeface="Malgun Gothic"/>
              </a:rPr>
              <a:t>알림 발생 시 안내 문구(어떤 조치를 취해야 하는지) 작성 후 저장</a:t>
            </a:r>
          </a:p>
        </p:txBody>
      </p:sp>
      <p:sp>
        <p:nvSpPr>
          <p:cNvPr id="22" name="Rectangle 21"/>
          <p:cNvSpPr/>
          <p:nvPr/>
        </p:nvSpPr>
        <p:spPr>
          <a:xfrm>
            <a:off x="502920" y="4471416"/>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 y="4471416"/>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5</a:t>
            </a:r>
          </a:p>
        </p:txBody>
      </p:sp>
      <p:sp>
        <p:nvSpPr>
          <p:cNvPr id="24" name="Rectangle 23"/>
          <p:cNvSpPr/>
          <p:nvPr/>
        </p:nvSpPr>
        <p:spPr>
          <a:xfrm>
            <a:off x="1005840" y="4471416"/>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70432" y="4498848"/>
            <a:ext cx="10424160" cy="566928"/>
          </a:xfrm>
          <a:prstGeom prst="rect">
            <a:avLst/>
          </a:prstGeom>
          <a:noFill/>
        </p:spPr>
        <p:txBody>
          <a:bodyPr wrap="square" anchor="ctr">
            <a:spAutoFit/>
          </a:bodyPr>
          <a:lstStyle/>
          <a:p>
            <a:r>
              <a:rPr sz="1200">
                <a:solidFill>
                  <a:srgbClr val="132422"/>
                </a:solidFill>
                <a:latin typeface="Malgun Gothic"/>
              </a:rPr>
              <a:t>같은 방식으로 'External LB 5xx 비율 5% 초과', 'Cloud SQL 디스크 사용률 80% 초과' 알림 정책 2개 추가 생성</a:t>
            </a:r>
          </a:p>
        </p:txBody>
      </p:sp>
      <p:sp>
        <p:nvSpPr>
          <p:cNvPr id="26" name="Rectangle 25"/>
          <p:cNvSpPr/>
          <p:nvPr/>
        </p:nvSpPr>
        <p:spPr>
          <a:xfrm>
            <a:off x="502920" y="5166360"/>
            <a:ext cx="457200" cy="621792"/>
          </a:xfrm>
          <a:prstGeom prst="rect">
            <a:avLst/>
          </a:prstGeom>
          <a:solidFill>
            <a:srgbClr val="0F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5166360"/>
            <a:ext cx="457200" cy="621792"/>
          </a:xfrm>
          <a:prstGeom prst="rect">
            <a:avLst/>
          </a:prstGeom>
          <a:noFill/>
        </p:spPr>
        <p:txBody>
          <a:bodyPr wrap="square" anchor="ctr">
            <a:spAutoFit/>
          </a:bodyPr>
          <a:lstStyle/>
          <a:p>
            <a:pPr algn="ctr">
              <a:lnSpc>
                <a:spcPct val="115000"/>
              </a:lnSpc>
            </a:pPr>
            <a:r>
              <a:rPr sz="1600" b="1">
                <a:solidFill>
                  <a:srgbClr val="FFFFFF"/>
                </a:solidFill>
                <a:latin typeface="Malgun Gothic"/>
              </a:rPr>
              <a:t>6</a:t>
            </a:r>
          </a:p>
        </p:txBody>
      </p:sp>
      <p:sp>
        <p:nvSpPr>
          <p:cNvPr id="28" name="Rectangle 27"/>
          <p:cNvSpPr/>
          <p:nvPr/>
        </p:nvSpPr>
        <p:spPr>
          <a:xfrm>
            <a:off x="1005840" y="5166360"/>
            <a:ext cx="10698480" cy="621792"/>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70432" y="5193792"/>
            <a:ext cx="10424160" cy="566928"/>
          </a:xfrm>
          <a:prstGeom prst="rect">
            <a:avLst/>
          </a:prstGeom>
          <a:noFill/>
        </p:spPr>
        <p:txBody>
          <a:bodyPr wrap="square" anchor="ctr">
            <a:spAutoFit/>
          </a:bodyPr>
          <a:lstStyle/>
          <a:p>
            <a:r>
              <a:rPr sz="1200">
                <a:solidFill>
                  <a:srgbClr val="132422"/>
                </a:solidFill>
                <a:latin typeface="Malgun Gothic"/>
              </a:rPr>
              <a:t>모니터링 ▸ 대시보드 ▸ '대시보드 만들기' ▸ 위젯 추가로 위 3개 지표를 한 화면에 배치</a:t>
            </a:r>
          </a:p>
        </p:txBody>
      </p:sp>
      <p:sp>
        <p:nvSpPr>
          <p:cNvPr id="30" name="Rectangle 29"/>
          <p:cNvSpPr/>
          <p:nvPr/>
        </p:nvSpPr>
        <p:spPr>
          <a:xfrm>
            <a:off x="502920" y="5907024"/>
            <a:ext cx="11201400" cy="502920"/>
          </a:xfrm>
          <a:prstGeom prst="rect">
            <a:avLst/>
          </a:prstGeom>
          <a:solidFill>
            <a:srgbClr val="FBE6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5800" y="5934456"/>
            <a:ext cx="10789920" cy="457200"/>
          </a:xfrm>
          <a:prstGeom prst="rect">
            <a:avLst/>
          </a:prstGeom>
          <a:noFill/>
        </p:spPr>
        <p:txBody>
          <a:bodyPr wrap="square" anchor="ctr">
            <a:spAutoFit/>
          </a:bodyPr>
          <a:lstStyle/>
          <a:p>
            <a:r>
              <a:rPr sz="1100" b="1">
                <a:solidFill>
                  <a:srgbClr val="B4791F"/>
                </a:solidFill>
                <a:latin typeface="Malgun Gothic"/>
              </a:rPr>
              <a:t>💡 실수 방지 팁: 알림 정책을 만든 후 반드시 '테스트 알림 전송' 기능으로 실제 이메일이 오는지 확인하세요. 채널 설정 실수로 알림이 소리 없이 실패하는 경우가 의외로 흔합니다.</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F6F5"/>
        </a:solidFill>
        <a:effectLst/>
      </p:bgPr>
    </p:bg>
    <p:spTree>
      <p:nvGrpSpPr>
        <p:cNvPr id="1" name=""/>
        <p:cNvGrpSpPr/>
        <p:nvPr/>
      </p:nvGrpSpPr>
      <p:grpSpPr>
        <a:xfrm>
          <a:off x="0" y="0"/>
          <a:ext cx="0" cy="0"/>
          <a:chOff x="0" y="0"/>
          <a:chExt cx="0" cy="0"/>
        </a:xfrm>
      </p:grpSpPr>
      <p:sp>
        <p:nvSpPr>
          <p:cNvPr id="2" name="Rectangle 1"/>
          <p:cNvSpPr/>
          <p:nvPr/>
        </p:nvSpPr>
        <p:spPr>
          <a:xfrm>
            <a:off x="502920" y="320040"/>
            <a:ext cx="1051560" cy="329184"/>
          </a:xfrm>
          <a:prstGeom prst="rect">
            <a:avLst/>
          </a:prstGeom>
          <a:solidFill>
            <a:srgbClr val="DCEEEA"/>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0F6E64"/>
                </a:solidFill>
                <a:latin typeface="Malgun Gothic"/>
              </a:rPr>
              <a:t>전체 일정</a:t>
            </a:r>
          </a:p>
        </p:txBody>
      </p:sp>
      <p:sp>
        <p:nvSpPr>
          <p:cNvPr id="3" name="TextBox 2"/>
          <p:cNvSpPr txBox="1"/>
          <p:nvPr/>
        </p:nvSpPr>
        <p:spPr>
          <a:xfrm>
            <a:off x="457200" y="658368"/>
            <a:ext cx="10515600" cy="777240"/>
          </a:xfrm>
          <a:prstGeom prst="rect">
            <a:avLst/>
          </a:prstGeom>
          <a:noFill/>
        </p:spPr>
        <p:txBody>
          <a:bodyPr wrap="square">
            <a:spAutoFit/>
          </a:bodyPr>
          <a:lstStyle/>
          <a:p>
            <a:pPr algn="l">
              <a:lnSpc>
                <a:spcPct val="115000"/>
              </a:lnSpc>
            </a:pPr>
            <a:r>
              <a:rPr sz="2600" b="1">
                <a:solidFill>
                  <a:srgbClr val="132422"/>
                </a:solidFill>
                <a:latin typeface="Malgun Gothic"/>
              </a:rPr>
              <a:t>Day 1~7 작업 순서 요약 (서비스 번호 기준)</a:t>
            </a:r>
          </a:p>
        </p:txBody>
      </p:sp>
      <p:sp>
        <p:nvSpPr>
          <p:cNvPr id="4" name="Rectangle 3"/>
          <p:cNvSpPr/>
          <p:nvPr/>
        </p:nvSpPr>
        <p:spPr>
          <a:xfrm>
            <a:off x="502920" y="1481328"/>
            <a:ext cx="11155680" cy="15240"/>
          </a:xfrm>
          <a:prstGeom prst="rect">
            <a:avLst/>
          </a:prstGeom>
          <a:solidFill>
            <a:srgbClr val="D7D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737360"/>
            <a:ext cx="1828800" cy="658368"/>
          </a:xfrm>
          <a:prstGeom prst="rect">
            <a:avLst/>
          </a:prstGeom>
          <a:solidFill>
            <a:srgbClr val="0A4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737360"/>
            <a:ext cx="1828800" cy="658368"/>
          </a:xfrm>
          <a:prstGeom prst="rect">
            <a:avLst/>
          </a:prstGeom>
          <a:noFill/>
        </p:spPr>
        <p:txBody>
          <a:bodyPr wrap="square" anchor="ctr">
            <a:spAutoFit/>
          </a:bodyPr>
          <a:lstStyle/>
          <a:p>
            <a:pPr algn="ctr">
              <a:lnSpc>
                <a:spcPct val="115000"/>
              </a:lnSpc>
            </a:pPr>
            <a:r>
              <a:rPr sz="1300" b="1">
                <a:solidFill>
                  <a:srgbClr val="FFFFFF"/>
                </a:solidFill>
                <a:latin typeface="Malgun Gothic"/>
              </a:rPr>
              <a:t>Day 1 (9/14)</a:t>
            </a:r>
          </a:p>
        </p:txBody>
      </p:sp>
      <p:sp>
        <p:nvSpPr>
          <p:cNvPr id="7" name="Rectangle 6"/>
          <p:cNvSpPr/>
          <p:nvPr/>
        </p:nvSpPr>
        <p:spPr>
          <a:xfrm>
            <a:off x="2423160" y="1737360"/>
            <a:ext cx="9281160" cy="65836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06040" y="1737360"/>
            <a:ext cx="8961120" cy="658368"/>
          </a:xfrm>
          <a:prstGeom prst="rect">
            <a:avLst/>
          </a:prstGeom>
          <a:noFill/>
        </p:spPr>
        <p:txBody>
          <a:bodyPr wrap="square" anchor="ctr">
            <a:spAutoFit/>
          </a:bodyPr>
          <a:lstStyle/>
          <a:p>
            <a:r>
              <a:rPr sz="1200">
                <a:solidFill>
                  <a:srgbClr val="132422"/>
                </a:solidFill>
                <a:latin typeface="Malgun Gothic"/>
              </a:rPr>
              <a:t>PM: 프로젝트·API·IAM 초기 세팅 → NET: ①VPC/서브넷 ②방화벽 ③Cloud NAT</a:t>
            </a:r>
          </a:p>
        </p:txBody>
      </p:sp>
      <p:sp>
        <p:nvSpPr>
          <p:cNvPr id="9" name="Rectangle 8"/>
          <p:cNvSpPr/>
          <p:nvPr/>
        </p:nvSpPr>
        <p:spPr>
          <a:xfrm>
            <a:off x="502920" y="2450592"/>
            <a:ext cx="1828800" cy="658368"/>
          </a:xfrm>
          <a:prstGeom prst="rect">
            <a:avLst/>
          </a:prstGeom>
          <a:solidFill>
            <a:srgbClr val="0A4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450592"/>
            <a:ext cx="1828800" cy="658368"/>
          </a:xfrm>
          <a:prstGeom prst="rect">
            <a:avLst/>
          </a:prstGeom>
          <a:noFill/>
        </p:spPr>
        <p:txBody>
          <a:bodyPr wrap="square" anchor="ctr">
            <a:spAutoFit/>
          </a:bodyPr>
          <a:lstStyle/>
          <a:p>
            <a:pPr algn="ctr">
              <a:lnSpc>
                <a:spcPct val="115000"/>
              </a:lnSpc>
            </a:pPr>
            <a:r>
              <a:rPr sz="1300" b="1">
                <a:solidFill>
                  <a:srgbClr val="FFFFFF"/>
                </a:solidFill>
                <a:latin typeface="Malgun Gothic"/>
              </a:rPr>
              <a:t>Day 2 (9/15)</a:t>
            </a:r>
          </a:p>
        </p:txBody>
      </p:sp>
      <p:sp>
        <p:nvSpPr>
          <p:cNvPr id="11" name="Rectangle 10"/>
          <p:cNvSpPr/>
          <p:nvPr/>
        </p:nvSpPr>
        <p:spPr>
          <a:xfrm>
            <a:off x="2423160" y="2450592"/>
            <a:ext cx="9281160" cy="65836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06040" y="2450592"/>
            <a:ext cx="8961120" cy="658368"/>
          </a:xfrm>
          <a:prstGeom prst="rect">
            <a:avLst/>
          </a:prstGeom>
          <a:noFill/>
        </p:spPr>
        <p:txBody>
          <a:bodyPr wrap="square" anchor="ctr">
            <a:spAutoFit/>
          </a:bodyPr>
          <a:lstStyle/>
          <a:p>
            <a:r>
              <a:rPr sz="1200">
                <a:solidFill>
                  <a:srgbClr val="132422"/>
                </a:solidFill>
                <a:latin typeface="Malgun Gothic"/>
              </a:rPr>
              <a:t>NET: ④서비스 계정 ⑤Secret Manager(값은 임시) → DBM: ⑦Cloud SQL 생성·스키마 적용</a:t>
            </a:r>
          </a:p>
        </p:txBody>
      </p:sp>
      <p:sp>
        <p:nvSpPr>
          <p:cNvPr id="13" name="Rectangle 12"/>
          <p:cNvSpPr/>
          <p:nvPr/>
        </p:nvSpPr>
        <p:spPr>
          <a:xfrm>
            <a:off x="502920" y="3163824"/>
            <a:ext cx="1828800" cy="658368"/>
          </a:xfrm>
          <a:prstGeom prst="rect">
            <a:avLst/>
          </a:prstGeom>
          <a:solidFill>
            <a:srgbClr val="0A4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3163824"/>
            <a:ext cx="1828800" cy="658368"/>
          </a:xfrm>
          <a:prstGeom prst="rect">
            <a:avLst/>
          </a:prstGeom>
          <a:noFill/>
        </p:spPr>
        <p:txBody>
          <a:bodyPr wrap="square" anchor="ctr">
            <a:spAutoFit/>
          </a:bodyPr>
          <a:lstStyle/>
          <a:p>
            <a:pPr algn="ctr">
              <a:lnSpc>
                <a:spcPct val="115000"/>
              </a:lnSpc>
            </a:pPr>
            <a:r>
              <a:rPr sz="1300" b="1">
                <a:solidFill>
                  <a:srgbClr val="FFFFFF"/>
                </a:solidFill>
                <a:latin typeface="Malgun Gothic"/>
              </a:rPr>
              <a:t>Day 3 (9/16)</a:t>
            </a:r>
          </a:p>
        </p:txBody>
      </p:sp>
      <p:sp>
        <p:nvSpPr>
          <p:cNvPr id="15" name="Rectangle 14"/>
          <p:cNvSpPr/>
          <p:nvPr/>
        </p:nvSpPr>
        <p:spPr>
          <a:xfrm>
            <a:off x="2423160" y="3163824"/>
            <a:ext cx="9281160" cy="65836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06040" y="3163824"/>
            <a:ext cx="8961120" cy="658368"/>
          </a:xfrm>
          <a:prstGeom prst="rect">
            <a:avLst/>
          </a:prstGeom>
          <a:noFill/>
        </p:spPr>
        <p:txBody>
          <a:bodyPr wrap="square" anchor="ctr">
            <a:spAutoFit/>
          </a:bodyPr>
          <a:lstStyle/>
          <a:p>
            <a:r>
              <a:rPr sz="1200">
                <a:solidFill>
                  <a:srgbClr val="132422"/>
                </a:solidFill>
                <a:latin typeface="Malgun Gothic"/>
              </a:rPr>
              <a:t>CMP: Rocky Linux 셋업 검증(mvnw dos2unix 포함) → ⑧Web/WAS 인스턴스 템플릿 → WAR 빌드/업로드</a:t>
            </a:r>
          </a:p>
        </p:txBody>
      </p:sp>
      <p:sp>
        <p:nvSpPr>
          <p:cNvPr id="17" name="Rectangle 16"/>
          <p:cNvSpPr/>
          <p:nvPr/>
        </p:nvSpPr>
        <p:spPr>
          <a:xfrm>
            <a:off x="502920" y="3877056"/>
            <a:ext cx="1828800" cy="658368"/>
          </a:xfrm>
          <a:prstGeom prst="rect">
            <a:avLst/>
          </a:prstGeom>
          <a:solidFill>
            <a:srgbClr val="0A4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3877056"/>
            <a:ext cx="1828800" cy="658368"/>
          </a:xfrm>
          <a:prstGeom prst="rect">
            <a:avLst/>
          </a:prstGeom>
          <a:noFill/>
        </p:spPr>
        <p:txBody>
          <a:bodyPr wrap="square" anchor="ctr">
            <a:spAutoFit/>
          </a:bodyPr>
          <a:lstStyle/>
          <a:p>
            <a:pPr algn="ctr">
              <a:lnSpc>
                <a:spcPct val="115000"/>
              </a:lnSpc>
            </a:pPr>
            <a:r>
              <a:rPr sz="1300" b="1">
                <a:solidFill>
                  <a:srgbClr val="FFFFFF"/>
                </a:solidFill>
                <a:latin typeface="Malgun Gothic"/>
              </a:rPr>
              <a:t>Day 4 (9/17)</a:t>
            </a:r>
          </a:p>
        </p:txBody>
      </p:sp>
      <p:sp>
        <p:nvSpPr>
          <p:cNvPr id="19" name="Rectangle 18"/>
          <p:cNvSpPr/>
          <p:nvPr/>
        </p:nvSpPr>
        <p:spPr>
          <a:xfrm>
            <a:off x="2423160" y="3877056"/>
            <a:ext cx="9281160" cy="65836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06040" y="3877056"/>
            <a:ext cx="8961120" cy="658368"/>
          </a:xfrm>
          <a:prstGeom prst="rect">
            <a:avLst/>
          </a:prstGeom>
          <a:noFill/>
        </p:spPr>
        <p:txBody>
          <a:bodyPr wrap="square" anchor="ctr">
            <a:spAutoFit/>
          </a:bodyPr>
          <a:lstStyle/>
          <a:p>
            <a:r>
              <a:rPr sz="1200">
                <a:solidFill>
                  <a:srgbClr val="132422"/>
                </a:solidFill>
                <a:latin typeface="Malgun Gothic"/>
              </a:rPr>
              <a:t>CMP: ⑨MIG+오토스케일러 → NET: ⑩Internal LB → ⑪External LB+SSL → ⑫Cloud Armor → ⑬Cloud DNS</a:t>
            </a:r>
          </a:p>
        </p:txBody>
      </p:sp>
      <p:sp>
        <p:nvSpPr>
          <p:cNvPr id="21" name="Rectangle 20"/>
          <p:cNvSpPr/>
          <p:nvPr/>
        </p:nvSpPr>
        <p:spPr>
          <a:xfrm>
            <a:off x="502920" y="4590288"/>
            <a:ext cx="1828800" cy="658368"/>
          </a:xfrm>
          <a:prstGeom prst="rect">
            <a:avLst/>
          </a:prstGeom>
          <a:solidFill>
            <a:srgbClr val="0A4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2920" y="4590288"/>
            <a:ext cx="1828800" cy="658368"/>
          </a:xfrm>
          <a:prstGeom prst="rect">
            <a:avLst/>
          </a:prstGeom>
          <a:noFill/>
        </p:spPr>
        <p:txBody>
          <a:bodyPr wrap="square" anchor="ctr">
            <a:spAutoFit/>
          </a:bodyPr>
          <a:lstStyle/>
          <a:p>
            <a:pPr algn="ctr">
              <a:lnSpc>
                <a:spcPct val="115000"/>
              </a:lnSpc>
            </a:pPr>
            <a:r>
              <a:rPr sz="1300" b="1">
                <a:solidFill>
                  <a:srgbClr val="FFFFFF"/>
                </a:solidFill>
                <a:latin typeface="Malgun Gothic"/>
              </a:rPr>
              <a:t>Day 5 (9/18)</a:t>
            </a:r>
          </a:p>
        </p:txBody>
      </p:sp>
      <p:sp>
        <p:nvSpPr>
          <p:cNvPr id="23" name="Rectangle 22"/>
          <p:cNvSpPr/>
          <p:nvPr/>
        </p:nvSpPr>
        <p:spPr>
          <a:xfrm>
            <a:off x="2423160" y="4590288"/>
            <a:ext cx="9281160" cy="65836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06040" y="4590288"/>
            <a:ext cx="8961120" cy="658368"/>
          </a:xfrm>
          <a:prstGeom prst="rect">
            <a:avLst/>
          </a:prstGeom>
          <a:noFill/>
        </p:spPr>
        <p:txBody>
          <a:bodyPr wrap="square" anchor="ctr">
            <a:spAutoFit/>
          </a:bodyPr>
          <a:lstStyle/>
          <a:p>
            <a:r>
              <a:rPr sz="1200">
                <a:solidFill>
                  <a:srgbClr val="132422"/>
                </a:solidFill>
                <a:latin typeface="Malgun Gothic"/>
              </a:rPr>
              <a:t>CMP+DBM: End-to-End 배포 검증, 예약 기능 동작 테스트, DB 반영 확인, 장애 리허설(인스턴스 강제 종료)</a:t>
            </a:r>
          </a:p>
        </p:txBody>
      </p:sp>
      <p:sp>
        <p:nvSpPr>
          <p:cNvPr id="25" name="Rectangle 24"/>
          <p:cNvSpPr/>
          <p:nvPr/>
        </p:nvSpPr>
        <p:spPr>
          <a:xfrm>
            <a:off x="502920" y="5303520"/>
            <a:ext cx="1828800" cy="658368"/>
          </a:xfrm>
          <a:prstGeom prst="rect">
            <a:avLst/>
          </a:prstGeom>
          <a:solidFill>
            <a:srgbClr val="0A4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5303520"/>
            <a:ext cx="1828800" cy="658368"/>
          </a:xfrm>
          <a:prstGeom prst="rect">
            <a:avLst/>
          </a:prstGeom>
          <a:noFill/>
        </p:spPr>
        <p:txBody>
          <a:bodyPr wrap="square" anchor="ctr">
            <a:spAutoFit/>
          </a:bodyPr>
          <a:lstStyle/>
          <a:p>
            <a:pPr algn="ctr">
              <a:lnSpc>
                <a:spcPct val="115000"/>
              </a:lnSpc>
            </a:pPr>
            <a:r>
              <a:rPr sz="1300" b="1">
                <a:solidFill>
                  <a:srgbClr val="FFFFFF"/>
                </a:solidFill>
                <a:latin typeface="Malgun Gothic"/>
              </a:rPr>
              <a:t>Day 6 (9/19)</a:t>
            </a:r>
          </a:p>
        </p:txBody>
      </p:sp>
      <p:sp>
        <p:nvSpPr>
          <p:cNvPr id="27" name="Rectangle 26"/>
          <p:cNvSpPr/>
          <p:nvPr/>
        </p:nvSpPr>
        <p:spPr>
          <a:xfrm>
            <a:off x="2423160" y="5303520"/>
            <a:ext cx="9281160" cy="65836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606040" y="5303520"/>
            <a:ext cx="8961120" cy="658368"/>
          </a:xfrm>
          <a:prstGeom prst="rect">
            <a:avLst/>
          </a:prstGeom>
          <a:noFill/>
        </p:spPr>
        <p:txBody>
          <a:bodyPr wrap="square" anchor="ctr">
            <a:spAutoFit/>
          </a:bodyPr>
          <a:lstStyle/>
          <a:p>
            <a:r>
              <a:rPr sz="1200">
                <a:solidFill>
                  <a:srgbClr val="132422"/>
                </a:solidFill>
                <a:latin typeface="Malgun Gothic"/>
              </a:rPr>
              <a:t>DBM: ⑭모니터링/알림/대시보드 → NET+PM: IAM·방화벽 최소권한 최종 축소 → PM: 보고서·발표자료 정리</a:t>
            </a:r>
          </a:p>
        </p:txBody>
      </p:sp>
      <p:sp>
        <p:nvSpPr>
          <p:cNvPr id="29" name="Rectangle 28"/>
          <p:cNvSpPr/>
          <p:nvPr/>
        </p:nvSpPr>
        <p:spPr>
          <a:xfrm>
            <a:off x="502920" y="6016752"/>
            <a:ext cx="1828800" cy="658368"/>
          </a:xfrm>
          <a:prstGeom prst="rect">
            <a:avLst/>
          </a:prstGeom>
          <a:solidFill>
            <a:srgbClr val="0A4E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920" y="6016752"/>
            <a:ext cx="1828800" cy="658368"/>
          </a:xfrm>
          <a:prstGeom prst="rect">
            <a:avLst/>
          </a:prstGeom>
          <a:noFill/>
        </p:spPr>
        <p:txBody>
          <a:bodyPr wrap="square" anchor="ctr">
            <a:spAutoFit/>
          </a:bodyPr>
          <a:lstStyle/>
          <a:p>
            <a:pPr algn="ctr">
              <a:lnSpc>
                <a:spcPct val="115000"/>
              </a:lnSpc>
            </a:pPr>
            <a:r>
              <a:rPr sz="1300" b="1">
                <a:solidFill>
                  <a:srgbClr val="FFFFFF"/>
                </a:solidFill>
                <a:latin typeface="Malgun Gothic"/>
              </a:rPr>
              <a:t>Day 7 (9/20)</a:t>
            </a:r>
          </a:p>
        </p:txBody>
      </p:sp>
      <p:sp>
        <p:nvSpPr>
          <p:cNvPr id="31" name="Rectangle 30"/>
          <p:cNvSpPr/>
          <p:nvPr/>
        </p:nvSpPr>
        <p:spPr>
          <a:xfrm>
            <a:off x="2423160" y="6016752"/>
            <a:ext cx="9281160" cy="658368"/>
          </a:xfrm>
          <a:prstGeom prst="rect">
            <a:avLst/>
          </a:prstGeom>
          <a:solidFill>
            <a:srgbClr val="FFFFFF"/>
          </a:solidFill>
          <a:ln w="9525">
            <a:solidFill>
              <a:srgbClr val="D7DF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606040" y="6016752"/>
            <a:ext cx="8961120" cy="658368"/>
          </a:xfrm>
          <a:prstGeom prst="rect">
            <a:avLst/>
          </a:prstGeom>
          <a:noFill/>
        </p:spPr>
        <p:txBody>
          <a:bodyPr wrap="square" anchor="ctr">
            <a:spAutoFit/>
          </a:bodyPr>
          <a:lstStyle/>
          <a:p>
            <a:r>
              <a:rPr sz="1200">
                <a:solidFill>
                  <a:srgbClr val="132422"/>
                </a:solidFill>
                <a:latin typeface="Malgun Gothic"/>
              </a:rPr>
              <a:t>전원: 동물병원 대상 구축 완료 발표 및 Q&amp;A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A4E47"/>
        </a:solidFill>
        <a:effectLst/>
      </p:bgPr>
    </p:bg>
    <p:spTree>
      <p:nvGrpSpPr>
        <p:cNvPr id="1" name=""/>
        <p:cNvGrpSpPr/>
        <p:nvPr/>
      </p:nvGrpSpPr>
      <p:grpSpPr>
        <a:xfrm>
          <a:off x="0" y="0"/>
          <a:ext cx="0" cy="0"/>
          <a:chOff x="0" y="0"/>
          <a:chExt cx="0" cy="0"/>
        </a:xfrm>
      </p:grpSpPr>
      <p:sp>
        <p:nvSpPr>
          <p:cNvPr id="2" name="Rectangle 1"/>
          <p:cNvSpPr/>
          <p:nvPr/>
        </p:nvSpPr>
        <p:spPr>
          <a:xfrm>
            <a:off x="640080" y="640080"/>
            <a:ext cx="2002536" cy="329184"/>
          </a:xfrm>
          <a:prstGeom prst="rect">
            <a:avLst/>
          </a:prstGeom>
          <a:solidFill>
            <a:srgbClr val="1C5C52"/>
          </a:solidFill>
          <a:ln>
            <a:noFill/>
          </a:ln>
          <a:effectLst/>
        </p:spPr>
        <p:style>
          <a:lnRef idx="1">
            <a:schemeClr val="accent1"/>
          </a:lnRef>
          <a:fillRef idx="3">
            <a:schemeClr val="accent1"/>
          </a:fillRef>
          <a:effectRef idx="2">
            <a:schemeClr val="accent1"/>
          </a:effectRef>
          <a:fontRef idx="minor">
            <a:schemeClr val="lt1"/>
          </a:fontRef>
        </p:style>
        <p:txBody>
          <a:bodyPr wrap="none" lIns="109728" tIns="27432" rIns="109728" bIns="27432" rtlCol="0" anchor="ctr"/>
          <a:lstStyle/>
          <a:p>
            <a:pPr algn="ctr"/>
            <a:r>
              <a:rPr sz="1100" b="1">
                <a:solidFill>
                  <a:srgbClr val="FFFFFF"/>
                </a:solidFill>
                <a:latin typeface="Malgun Gothic"/>
              </a:rPr>
              <a:t>팀 전용 발표 준비 자료</a:t>
            </a:r>
          </a:p>
        </p:txBody>
      </p:sp>
      <p:sp>
        <p:nvSpPr>
          <p:cNvPr id="3" name="TextBox 2"/>
          <p:cNvSpPr txBox="1"/>
          <p:nvPr/>
        </p:nvSpPr>
        <p:spPr>
          <a:xfrm>
            <a:off x="621792" y="1463040"/>
            <a:ext cx="10058400" cy="1280160"/>
          </a:xfrm>
          <a:prstGeom prst="rect">
            <a:avLst/>
          </a:prstGeom>
          <a:noFill/>
        </p:spPr>
        <p:txBody>
          <a:bodyPr wrap="square">
            <a:spAutoFit/>
          </a:bodyPr>
          <a:lstStyle/>
          <a:p>
            <a:pPr algn="l">
              <a:lnSpc>
                <a:spcPct val="115000"/>
              </a:lnSpc>
            </a:pPr>
            <a:r>
              <a:rPr sz="3000" b="1">
                <a:solidFill>
                  <a:srgbClr val="FFFFFF"/>
                </a:solidFill>
                <a:latin typeface="Malgun Gothic"/>
              </a:rPr>
              <a:t>발표 전, 각자 담당 서비스의</a:t>
            </a:r>
          </a:p>
          <a:p>
            <a:pPr algn="l">
              <a:lnSpc>
                <a:spcPct val="115000"/>
              </a:lnSpc>
            </a:pPr>
            <a:r>
              <a:rPr sz="3000" b="1">
                <a:solidFill>
                  <a:srgbClr val="FFFFFF"/>
                </a:solidFill>
                <a:latin typeface="Malgun Gothic"/>
              </a:rPr>
              <a:t>슬라이드 노트(Q&amp;A)를 반드시 정독하세요</a:t>
            </a:r>
          </a:p>
        </p:txBody>
      </p:sp>
      <p:sp>
        <p:nvSpPr>
          <p:cNvPr id="4" name="TextBox 3"/>
          <p:cNvSpPr txBox="1"/>
          <p:nvPr/>
        </p:nvSpPr>
        <p:spPr>
          <a:xfrm>
            <a:off x="640080" y="3017520"/>
            <a:ext cx="9601200" cy="598818"/>
          </a:xfrm>
          <a:prstGeom prst="rect">
            <a:avLst/>
          </a:prstGeom>
          <a:noFill/>
        </p:spPr>
        <p:txBody>
          <a:bodyPr wrap="square">
            <a:spAutoFit/>
          </a:bodyPr>
          <a:lstStyle/>
          <a:p>
            <a:pPr algn="l">
              <a:lnSpc>
                <a:spcPct val="115000"/>
              </a:lnSpc>
            </a:pPr>
            <a:r>
              <a:rPr sz="1500" b="0" dirty="0" err="1">
                <a:solidFill>
                  <a:srgbClr val="DCF3EE"/>
                </a:solidFill>
                <a:latin typeface="Malgun Gothic"/>
              </a:rPr>
              <a:t>동물병원</a:t>
            </a:r>
            <a:r>
              <a:rPr sz="1500" b="0" dirty="0">
                <a:solidFill>
                  <a:srgbClr val="DCF3EE"/>
                </a:solidFill>
                <a:latin typeface="Malgun Gothic"/>
              </a:rPr>
              <a:t> </a:t>
            </a:r>
            <a:r>
              <a:rPr sz="1500" b="0" dirty="0" err="1">
                <a:solidFill>
                  <a:srgbClr val="DCF3EE"/>
                </a:solidFill>
                <a:latin typeface="Malgun Gothic"/>
              </a:rPr>
              <a:t>관계자가</a:t>
            </a:r>
            <a:r>
              <a:rPr sz="1500" b="0" dirty="0">
                <a:solidFill>
                  <a:srgbClr val="DCF3EE"/>
                </a:solidFill>
                <a:latin typeface="Malgun Gothic"/>
              </a:rPr>
              <a:t> </a:t>
            </a:r>
            <a:r>
              <a:rPr sz="1500" b="0" dirty="0" err="1">
                <a:solidFill>
                  <a:srgbClr val="DCF3EE"/>
                </a:solidFill>
                <a:latin typeface="Malgun Gothic"/>
              </a:rPr>
              <a:t>우리보다</a:t>
            </a:r>
            <a:r>
              <a:rPr sz="1500" b="0" dirty="0">
                <a:solidFill>
                  <a:srgbClr val="DCF3EE"/>
                </a:solidFill>
                <a:latin typeface="Malgun Gothic"/>
              </a:rPr>
              <a:t> </a:t>
            </a:r>
            <a:r>
              <a:rPr sz="1500" b="0" dirty="0" err="1">
                <a:solidFill>
                  <a:srgbClr val="DCF3EE"/>
                </a:solidFill>
                <a:latin typeface="Malgun Gothic"/>
              </a:rPr>
              <a:t>클라우드를</a:t>
            </a:r>
            <a:r>
              <a:rPr sz="1500" b="0" dirty="0">
                <a:solidFill>
                  <a:srgbClr val="DCF3EE"/>
                </a:solidFill>
                <a:latin typeface="Malgun Gothic"/>
              </a:rPr>
              <a:t> 더 잘 알 </a:t>
            </a:r>
            <a:r>
              <a:rPr sz="1500" b="0" dirty="0" err="1">
                <a:solidFill>
                  <a:srgbClr val="DCF3EE"/>
                </a:solidFill>
                <a:latin typeface="Malgun Gothic"/>
              </a:rPr>
              <a:t>수도</a:t>
            </a:r>
            <a:r>
              <a:rPr sz="1500" b="0" dirty="0">
                <a:solidFill>
                  <a:srgbClr val="DCF3EE"/>
                </a:solidFill>
                <a:latin typeface="Malgun Gothic"/>
              </a:rPr>
              <a:t> </a:t>
            </a:r>
            <a:r>
              <a:rPr sz="1500" b="0" dirty="0" err="1">
                <a:solidFill>
                  <a:srgbClr val="DCF3EE"/>
                </a:solidFill>
                <a:latin typeface="Malgun Gothic"/>
              </a:rPr>
              <a:t>있습니다</a:t>
            </a:r>
            <a:r>
              <a:rPr sz="1500" b="0" dirty="0">
                <a:solidFill>
                  <a:srgbClr val="DCF3EE"/>
                </a:solidFill>
                <a:latin typeface="Malgun Gothic"/>
              </a:rPr>
              <a:t>. 각 </a:t>
            </a:r>
            <a:r>
              <a:rPr sz="1500" b="0" dirty="0" err="1">
                <a:solidFill>
                  <a:srgbClr val="DCF3EE"/>
                </a:solidFill>
                <a:latin typeface="Malgun Gothic"/>
              </a:rPr>
              <a:t>슬라이드</a:t>
            </a:r>
            <a:r>
              <a:rPr sz="1500" b="0" dirty="0">
                <a:solidFill>
                  <a:srgbClr val="DCF3EE"/>
                </a:solidFill>
                <a:latin typeface="Malgun Gothic"/>
              </a:rPr>
              <a:t> </a:t>
            </a:r>
            <a:r>
              <a:rPr sz="1500" b="0" dirty="0" err="1">
                <a:solidFill>
                  <a:srgbClr val="DCF3EE"/>
                </a:solidFill>
                <a:latin typeface="Malgun Gothic"/>
              </a:rPr>
              <a:t>노트의</a:t>
            </a:r>
            <a:r>
              <a:rPr sz="1500" b="0" dirty="0">
                <a:solidFill>
                  <a:srgbClr val="DCF3EE"/>
                </a:solidFill>
                <a:latin typeface="Malgun Gothic"/>
              </a:rPr>
              <a:t> </a:t>
            </a:r>
            <a:r>
              <a:rPr sz="1500" b="0" dirty="0" err="1">
                <a:solidFill>
                  <a:srgbClr val="DCF3EE"/>
                </a:solidFill>
                <a:latin typeface="Malgun Gothic"/>
              </a:rPr>
              <a:t>예상</a:t>
            </a:r>
            <a:r>
              <a:rPr sz="1500" b="0" dirty="0">
                <a:solidFill>
                  <a:srgbClr val="DCF3EE"/>
                </a:solidFill>
                <a:latin typeface="Malgun Gothic"/>
              </a:rPr>
              <a:t> </a:t>
            </a:r>
            <a:r>
              <a:rPr sz="1500" b="0" dirty="0" err="1">
                <a:solidFill>
                  <a:srgbClr val="DCF3EE"/>
                </a:solidFill>
                <a:latin typeface="Malgun Gothic"/>
              </a:rPr>
              <a:t>질문과</a:t>
            </a:r>
            <a:r>
              <a:rPr sz="1500" b="0" dirty="0">
                <a:solidFill>
                  <a:srgbClr val="DCF3EE"/>
                </a:solidFill>
                <a:latin typeface="Malgun Gothic"/>
              </a:rPr>
              <a:t> </a:t>
            </a:r>
            <a:r>
              <a:rPr sz="1500" b="0" dirty="0" err="1">
                <a:solidFill>
                  <a:srgbClr val="DCF3EE"/>
                </a:solidFill>
                <a:latin typeface="Malgun Gothic"/>
              </a:rPr>
              <a:t>답변</a:t>
            </a:r>
            <a:r>
              <a:rPr sz="1500" b="0" dirty="0">
                <a:solidFill>
                  <a:srgbClr val="DCF3EE"/>
                </a:solidFill>
                <a:latin typeface="Malgun Gothic"/>
              </a:rPr>
              <a:t>, </a:t>
            </a:r>
            <a:br>
              <a:rPr lang="en-US" sz="1500" b="0" dirty="0">
                <a:solidFill>
                  <a:srgbClr val="DCF3EE"/>
                </a:solidFill>
                <a:latin typeface="Malgun Gothic"/>
              </a:rPr>
            </a:br>
            <a:r>
              <a:rPr sz="1500" b="0" dirty="0" err="1">
                <a:solidFill>
                  <a:srgbClr val="DCF3EE"/>
                </a:solidFill>
                <a:latin typeface="Malgun Gothic"/>
              </a:rPr>
              <a:t>그리고</a:t>
            </a:r>
            <a:r>
              <a:rPr sz="1500" b="0" dirty="0">
                <a:solidFill>
                  <a:srgbClr val="DCF3EE"/>
                </a:solidFill>
                <a:latin typeface="Malgun Gothic"/>
              </a:rPr>
              <a:t> '</a:t>
            </a:r>
            <a:r>
              <a:rPr sz="1500" b="0" dirty="0" err="1">
                <a:solidFill>
                  <a:srgbClr val="DCF3EE"/>
                </a:solidFill>
                <a:latin typeface="Malgun Gothic"/>
              </a:rPr>
              <a:t>기각한</a:t>
            </a:r>
            <a:r>
              <a:rPr sz="1500" b="0" dirty="0">
                <a:solidFill>
                  <a:srgbClr val="DCF3EE"/>
                </a:solidFill>
                <a:latin typeface="Malgun Gothic"/>
              </a:rPr>
              <a:t> </a:t>
            </a:r>
            <a:r>
              <a:rPr sz="1500" b="0" dirty="0" err="1">
                <a:solidFill>
                  <a:srgbClr val="DCF3EE"/>
                </a:solidFill>
                <a:latin typeface="Malgun Gothic"/>
              </a:rPr>
              <a:t>대안</a:t>
            </a:r>
            <a:r>
              <a:rPr sz="1500" b="0" dirty="0">
                <a:solidFill>
                  <a:srgbClr val="DCF3EE"/>
                </a:solidFill>
                <a:latin typeface="Malgun Gothic"/>
              </a:rPr>
              <a:t>' </a:t>
            </a:r>
            <a:r>
              <a:rPr sz="1500" b="0" dirty="0" err="1">
                <a:solidFill>
                  <a:srgbClr val="DCF3EE"/>
                </a:solidFill>
                <a:latin typeface="Malgun Gothic"/>
              </a:rPr>
              <a:t>박스를</a:t>
            </a:r>
            <a:r>
              <a:rPr sz="1500" b="0" dirty="0">
                <a:solidFill>
                  <a:srgbClr val="DCF3EE"/>
                </a:solidFill>
                <a:latin typeface="Malgun Gothic"/>
              </a:rPr>
              <a:t> </a:t>
            </a:r>
            <a:r>
              <a:rPr sz="1500" b="0" dirty="0" err="1">
                <a:solidFill>
                  <a:srgbClr val="DCF3EE"/>
                </a:solidFill>
                <a:latin typeface="Malgun Gothic"/>
              </a:rPr>
              <a:t>근거로</a:t>
            </a:r>
            <a:r>
              <a:rPr sz="1500" b="0" dirty="0">
                <a:solidFill>
                  <a:srgbClr val="DCF3EE"/>
                </a:solidFill>
                <a:latin typeface="Malgun Gothic"/>
              </a:rPr>
              <a:t> </a:t>
            </a:r>
            <a:r>
              <a:rPr sz="1500" b="0" dirty="0" err="1">
                <a:solidFill>
                  <a:srgbClr val="DCF3EE"/>
                </a:solidFill>
                <a:latin typeface="Malgun Gothic"/>
              </a:rPr>
              <a:t>답하면</a:t>
            </a:r>
            <a:r>
              <a:rPr sz="1500" b="0" dirty="0">
                <a:solidFill>
                  <a:srgbClr val="DCF3EE"/>
                </a:solidFill>
                <a:latin typeface="Malgun Gothic"/>
              </a:rPr>
              <a:t> </a:t>
            </a:r>
            <a:r>
              <a:rPr sz="1500" b="0" dirty="0" err="1">
                <a:solidFill>
                  <a:srgbClr val="DCF3EE"/>
                </a:solidFill>
                <a:latin typeface="Malgun Gothic"/>
              </a:rPr>
              <a:t>어떤</a:t>
            </a:r>
            <a:r>
              <a:rPr sz="1500" b="0" dirty="0">
                <a:solidFill>
                  <a:srgbClr val="DCF3EE"/>
                </a:solidFill>
                <a:latin typeface="Malgun Gothic"/>
              </a:rPr>
              <a:t> </a:t>
            </a:r>
            <a:r>
              <a:rPr sz="1500" b="0" dirty="0" err="1">
                <a:solidFill>
                  <a:srgbClr val="DCF3EE"/>
                </a:solidFill>
                <a:latin typeface="Malgun Gothic"/>
              </a:rPr>
              <a:t>질문에도</a:t>
            </a:r>
            <a:r>
              <a:rPr sz="1500" b="0" dirty="0">
                <a:solidFill>
                  <a:srgbClr val="DCF3EE"/>
                </a:solidFill>
                <a:latin typeface="Malgun Gothic"/>
              </a:rPr>
              <a:t> </a:t>
            </a:r>
            <a:r>
              <a:rPr sz="1500" b="0" dirty="0" err="1">
                <a:solidFill>
                  <a:srgbClr val="DCF3EE"/>
                </a:solidFill>
                <a:latin typeface="Malgun Gothic"/>
              </a:rPr>
              <a:t>흔들리지</a:t>
            </a:r>
            <a:r>
              <a:rPr sz="1500" b="0" dirty="0">
                <a:solidFill>
                  <a:srgbClr val="DCF3EE"/>
                </a:solidFill>
                <a:latin typeface="Malgun Gothic"/>
              </a:rPr>
              <a:t> </a:t>
            </a:r>
            <a:r>
              <a:rPr sz="1500" b="0" dirty="0" err="1">
                <a:solidFill>
                  <a:srgbClr val="DCF3EE"/>
                </a:solidFill>
                <a:latin typeface="Malgun Gothic"/>
              </a:rPr>
              <a:t>않습니다</a:t>
            </a:r>
            <a:r>
              <a:rPr sz="1500" b="0" dirty="0">
                <a:solidFill>
                  <a:srgbClr val="DCF3EE"/>
                </a:solidFill>
                <a:latin typeface="Malgun Gothic"/>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9260</Words>
  <Application>Microsoft Office PowerPoint</Application>
  <PresentationFormat>와이드스크린</PresentationFormat>
  <Paragraphs>615</Paragraphs>
  <Slides>38</Slides>
  <Notes>14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38</vt:i4>
      </vt:variant>
    </vt:vector>
  </HeadingPairs>
  <TitlesOfParts>
    <vt:vector size="43" baseType="lpstr">
      <vt:lpstr>맑은 고딕</vt: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in-ah Song</cp:lastModifiedBy>
  <cp:revision>2</cp:revision>
  <dcterms:created xsi:type="dcterms:W3CDTF">2013-01-27T09:14:16Z</dcterms:created>
  <dcterms:modified xsi:type="dcterms:W3CDTF">2026-09-16T17:49:52Z</dcterms:modified>
  <cp:category/>
</cp:coreProperties>
</file>